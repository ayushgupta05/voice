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5e92d8d0bf47fa" /><Relationship Type="http://schemas.openxmlformats.org/officeDocument/2006/relationships/extended-properties" Target="/docProps/app.xml" Id="R4a2b7211baca450c" /><Relationship Type="http://schemas.openxmlformats.org/officeDocument/2006/relationships/officeDocument" Target="/ppt/presentation.xml" Id="Rcda9b98447ee40dc" /></Relationships>
</file>

<file path=ppt/presentation.xml><?xml version="1.0" encoding="utf-8"?>
<p:presentation xmlns:p="http://schemas.openxmlformats.org/presentationml/2006/main">
  <p:sldMasterIdLst>
    <p:sldMasterId xmlns:r="http://schemas.openxmlformats.org/officeDocument/2006/relationships" id="2147483648" r:id="Rada5a833a9254030"/>
  </p:sldMasterIdLst>
  <p:notesMasterIdLst>
    <p:notesMasterId xmlns:r="http://schemas.openxmlformats.org/officeDocument/2006/relationships" r:id="R1603cadb4e4149ee"/>
  </p:notesMasterIdLst>
  <p:sldIdLst>
    <p:sldId xmlns:r="http://schemas.openxmlformats.org/officeDocument/2006/relationships" id="256" r:id="Rb4f7b7987fcf4237"/>
    <p:sldId xmlns:r="http://schemas.openxmlformats.org/officeDocument/2006/relationships" id="257" r:id="R264dd614193d423b"/>
    <p:sldId xmlns:r="http://schemas.openxmlformats.org/officeDocument/2006/relationships" id="258" r:id="R6b71ff53a37e45bc"/>
    <p:sldId xmlns:r="http://schemas.openxmlformats.org/officeDocument/2006/relationships" id="259" r:id="R8a342f67892c463e"/>
    <p:sldId xmlns:r="http://schemas.openxmlformats.org/officeDocument/2006/relationships" id="260" r:id="R3a7dd84cff9244c7"/>
    <p:sldId xmlns:r="http://schemas.openxmlformats.org/officeDocument/2006/relationships" id="261" r:id="Ra4a4d3dcb84642f2"/>
    <p:sldId xmlns:r="http://schemas.openxmlformats.org/officeDocument/2006/relationships" id="262" r:id="R26e149fae8b244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fc8a4b75b64763" /><Relationship Type="http://schemas.openxmlformats.org/officeDocument/2006/relationships/slideMaster" Target="/ppt/slideMasters/slideMaster1.xml" Id="Rada5a833a9254030" /><Relationship Type="http://schemas.openxmlformats.org/officeDocument/2006/relationships/notesMaster" Target="/ppt/notesMasters/notesMaster1.xml" Id="R1603cadb4e4149ee" /><Relationship Type="http://schemas.openxmlformats.org/officeDocument/2006/relationships/presProps" Target="/ppt/presProps.xml" Id="R0c34c233116d413e" /><Relationship Type="http://schemas.openxmlformats.org/officeDocument/2006/relationships/tableStyles" Target="/ppt/tableStyles.xml" Id="Rda261a2da02a4cda" /><Relationship Type="http://schemas.openxmlformats.org/officeDocument/2006/relationships/slide" Target="/ppt/slides/slide1.xml" Id="Rb4f7b7987fcf4237" /><Relationship Type="http://schemas.openxmlformats.org/officeDocument/2006/relationships/slide" Target="/ppt/slides/slide2.xml" Id="R264dd614193d423b" /><Relationship Type="http://schemas.openxmlformats.org/officeDocument/2006/relationships/slide" Target="/ppt/slides/slide3.xml" Id="R6b71ff53a37e45bc" /><Relationship Type="http://schemas.openxmlformats.org/officeDocument/2006/relationships/slide" Target="/ppt/slides/slide4.xml" Id="R8a342f67892c463e" /><Relationship Type="http://schemas.openxmlformats.org/officeDocument/2006/relationships/slide" Target="/ppt/slides/slide5.xml" Id="R3a7dd84cff9244c7" /><Relationship Type="http://schemas.openxmlformats.org/officeDocument/2006/relationships/slide" Target="/ppt/slides/slide6.xml" Id="Ra4a4d3dcb84642f2" /><Relationship Type="http://schemas.openxmlformats.org/officeDocument/2006/relationships/slide" Target="/ppt/slides/slide7.xml" Id="R26e149fae8b244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7eabbe061d4b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0748eb2c9e462d" /><Relationship Type="http://schemas.openxmlformats.org/officeDocument/2006/relationships/notesMaster" Target="/ppt/notesMasters/notesMaster1.xml" Id="Rbb50a502845149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9b7e5aee244be5" /><Relationship Type="http://schemas.openxmlformats.org/officeDocument/2006/relationships/notesMaster" Target="/ppt/notesMasters/notesMaster1.xml" Id="R6362b0cbea4443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42e9f0335b4428" /><Relationship Type="http://schemas.openxmlformats.org/officeDocument/2006/relationships/notesMaster" Target="/ppt/notesMasters/notesMaster1.xml" Id="Rff6ade41460243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5d51fae4f64c24" /><Relationship Type="http://schemas.openxmlformats.org/officeDocument/2006/relationships/notesMaster" Target="/ppt/notesMasters/notesMaster1.xml" Id="Re795396abed1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cf4df8cbf248b9" /><Relationship Type="http://schemas.openxmlformats.org/officeDocument/2006/relationships/notesMaster" Target="/ppt/notesMasters/notesMaster1.xml" Id="R8946db32deec4d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0e727857ca4af1" /><Relationship Type="http://schemas.openxmlformats.org/officeDocument/2006/relationships/notesMaster" Target="/ppt/notesMasters/notesMaster1.xml" Id="R20b1a8be55bb46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d1200c3fb94bf8" /><Relationship Type="http://schemas.openxmlformats.org/officeDocument/2006/relationships/notesMaster" Target="/ppt/notesMasters/notesMaster1.xml" Id="R76d1a9374dd746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Luma makes the interface to established scientific applications conversational. The current prototype targets QuPath. The visual is an actual QuPath viewer capture of public OpenSlide OS-2.ndpi, not a generated scientific result. Source: https://openslide.cs.cmu.edu/download/openslide-testdata/Hamamatsu/ . Interaction reference: https://github.com/farzaa/clicky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statement comes from the project brief and hackathon scope. We have not yet measured time savings or validated usability with researchers. Source: https://luma.com/vdq0qw9u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product experience combines continuous voice with an application adapter. Current verified capabilities include semantic context, MCP, native companion, approvals, actual cell analysis and hierarchy recovery. The OpenAI realtime transport has local protocol tests. Production voice remains disabled because AWS-credit coverage is unverified. The phrases on this slide are intended demo requests, not evidence of a completed funded voice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integration fixture, 17 October 2026. OS-2.ndpi is the freely distributable Ki-67 sample used in QuPath tutorials. ROI x=50000 y=26000 width=2200 height=2200 pixels. QuPath WatershedCellDetection created 899 cells. Threshold classification used Nucleus: DAB OD mean &gt;= 0.2, yielding 49 Positive and 850 Negative. This is a test of software operation, not a validated tumor-cell Ki67 labelling index or a clinical result. Source: docs/pitch/integration-evidence.json and https://qupath.readthedocs.io/en/0.7/docs/tutorials/cell_detection.html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gateway and application adapter enforce approvals. An approval binds exact arguments and the observed image/selection/hierarchy state. Native control approvals also bind reviewed dialog state. An interrupted or rejected proposal does not automatically execute. The authorized integration test compared counts and restored the empty baseline. Hierarchy checkpoints do not undo file writes, image settings, arbitrary scripts or external plugin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repository exposes 23 MCP tools, a live menu catalog, visible JavaFX dialog inspection, an approval-gated Groovy escape hatch, a qupath://guide resource and a prompt. The current pinned local documentation corpus contains 66 authored/upstream documents. These give discoverable breadth but do not prove every command or third-party plugin works end to end. Other application adapters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Honest prototype status: native macOS companion, QuPath extension, MCP and the disposable public-slide analysis/recovery fixture are verified locally. Focused approval and protocol tests pass. Live OpenAI voice is blocked by AWS-credit-only funding. No paid inference requests or cloud resources were created. Next validation should use researcher-selected tasks and measure completion, errors and interaction latency. Repo: https://github.com/AyushGupta05/Voice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28089bd02048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e78d35e83c44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aa22ba240142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3e93762d9746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a329a0702f4a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ac6bd598e944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86FC4E-67B9-4A87-9564-3F9874D7D4A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E3F339F-64EB-4721-8DF0-34326ACDA2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74CCE3-211D-4BC0-9C43-15BF3163459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277763-87E7-4928-8181-CB4D2A9981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C82F44-7A8A-490E-95EC-9CDEE76B38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7EFC7B-532D-4F87-825C-8B1CD601ED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1ECCD7-C91B-4916-A0DA-632EA68977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CE064B-539B-4413-8F55-9A02050D024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C95680-F334-4F00-9109-82137D0D9F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6CEFD3-859D-4022-9FFE-737580A2EE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ac4fc9a9c44525" /><Relationship Type="http://schemas.openxmlformats.org/officeDocument/2006/relationships/slideLayout" Target="/ppt/slideLayouts/slideLayout1.xml" Id="R1f796e59eb694305" /><Relationship Type="http://schemas.openxmlformats.org/officeDocument/2006/relationships/slideLayout" Target="/ppt/slideLayouts/slideLayout2.xml" Id="R3de2933926284133" /><Relationship Type="http://schemas.openxmlformats.org/officeDocument/2006/relationships/slideLayout" Target="/ppt/slideLayouts/slideLayout3.xml" Id="Rf9cd112191484fb8" /><Relationship Type="http://schemas.openxmlformats.org/officeDocument/2006/relationships/slideLayout" Target="/ppt/slideLayouts/slideLayout4.xml" Id="R0578ca3659db4ac0" /><Relationship Type="http://schemas.openxmlformats.org/officeDocument/2006/relationships/slideLayout" Target="/ppt/slideLayouts/slideLayout5.xml" Id="R47a4fa44cbcb4401" /><Relationship Type="http://schemas.openxmlformats.org/officeDocument/2006/relationships/slideLayout" Target="/ppt/slideLayouts/slideLayout6.xml" Id="R9b53a20376a24b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796e59eb694305"/>
    <p:sldLayoutId xmlns:r="http://schemas.openxmlformats.org/officeDocument/2006/relationships" id="2147483650" r:id="R3de2933926284133"/>
    <p:sldLayoutId xmlns:r="http://schemas.openxmlformats.org/officeDocument/2006/relationships" id="2147483651" r:id="Rf9cd112191484fb8"/>
    <p:sldLayoutId xmlns:r="http://schemas.openxmlformats.org/officeDocument/2006/relationships" id="2147483652" r:id="R0578ca3659db4ac0"/>
    <p:sldLayoutId xmlns:r="http://schemas.openxmlformats.org/officeDocument/2006/relationships" id="2147483653" r:id="R47a4fa44cbcb4401"/>
    <p:sldLayoutId xmlns:r="http://schemas.openxmlformats.org/officeDocument/2006/relationships" id="2147483654" r:id="R9b53a20376a24b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49273ed6844d5d" /><Relationship Type="http://schemas.openxmlformats.org/officeDocument/2006/relationships/image" Target="/ppt/media/image.png" Id="Rc409a0e22eac47f5" /><Relationship Type="http://schemas.openxmlformats.org/officeDocument/2006/relationships/notesSlide" Target="/ppt/notesSlides/notesSlide1.xml" Id="R49703b8f4e0b44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36b7ed0917425d" /><Relationship Type="http://schemas.openxmlformats.org/officeDocument/2006/relationships/notesSlide" Target="/ppt/notesSlides/notesSlide2.xml" Id="R4a4bfee4733847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ff950b86f4e460e" /><Relationship Type="http://schemas.openxmlformats.org/officeDocument/2006/relationships/notesSlide" Target="/ppt/notesSlides/notesSlide3.xml" Id="R98118fbfd3c445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dadcd3ee4af4097" /><Relationship Type="http://schemas.openxmlformats.org/officeDocument/2006/relationships/image" Target="/ppt/media/image2.png" Id="Ra03c417f57cc431a" /><Relationship Type="http://schemas.openxmlformats.org/officeDocument/2006/relationships/notesSlide" Target="/ppt/notesSlides/notesSlide4.xml" Id="R6c67d114bd9d4a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2774df9388b42f7" /><Relationship Type="http://schemas.openxmlformats.org/officeDocument/2006/relationships/notesSlide" Target="/ppt/notesSlides/notesSlide5.xml" Id="Rd43115488be546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e7683f3788c4bb3" /><Relationship Type="http://schemas.openxmlformats.org/officeDocument/2006/relationships/notesSlide" Target="/ppt/notesSlides/notesSlide6.xml" Id="R89643412dc6f4a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f0316fbf8e947c8" /><Relationship Type="http://schemas.openxmlformats.org/officeDocument/2006/relationships/notesSlide" Target="/ppt/notesSlides/notesSlide7.xml" Id="R4bdd5891f9c14723" /></Relationships>
</file>

<file path=ppt/slides/slide1.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24E731-0C66-445A-AEB2-D76A9AB2E94C}"/>
              </a:ext>
            </a:extLst>
          </p:cNvPr>
          <p:cNvSpPr>
            <a:spLocks xmlns:a="http://schemas.openxmlformats.org/drawingml/2006/main" noGrp="1"/>
          </p:cNvSpPr>
          <p:nvPr/>
        </p:nvSpPr>
        <p:spPr>
          <a:xfrm xmlns:a="http://schemas.openxmlformats.org/drawingml/2006/main">
            <a:off x="609600" y="5905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A3EAC9"/>
                </a:solidFill>
                <a:latin typeface="Arial"/>
                <a:ea typeface="Arial"/>
                <a:cs typeface="Arial"/>
              </a:defRPr>
            </a:defPPr>
            <a:lvl1pPr>
              <a:defRPr sz="6600" b="1">
                <a:solidFill>
                  <a:srgbClr val="A3EAC9"/>
                </a:solidFill>
                <a:latin typeface="Arial"/>
                <a:ea typeface="Arial"/>
                <a:cs typeface="Arial"/>
              </a:defRPr>
            </a:lvl1pPr>
            <a:lvl2pPr>
              <a:defRPr sz="6600" b="1">
                <a:solidFill>
                  <a:srgbClr val="A3EAC9"/>
                </a:solidFill>
                <a:latin typeface="Arial"/>
                <a:ea typeface="Arial"/>
                <a:cs typeface="Arial"/>
              </a:defRPr>
            </a:lvl2pPr>
            <a:lvl3pPr>
              <a:defRPr sz="6600" b="1">
                <a:solidFill>
                  <a:srgbClr val="A3EAC9"/>
                </a:solidFill>
                <a:latin typeface="Arial"/>
                <a:ea typeface="Arial"/>
                <a:cs typeface="Arial"/>
              </a:defRPr>
            </a:lvl3pPr>
            <a:lvl4pPr>
              <a:defRPr sz="6600" b="1">
                <a:solidFill>
                  <a:srgbClr val="A3EAC9"/>
                </a:solidFill>
                <a:latin typeface="Arial"/>
                <a:ea typeface="Arial"/>
                <a:cs typeface="Arial"/>
              </a:defRPr>
            </a:lvl4pPr>
            <a:lvl5pPr>
              <a:defRPr sz="6600" b="1">
                <a:solidFill>
                  <a:srgbClr val="A3EAC9"/>
                </a:solidFill>
                <a:latin typeface="Arial"/>
                <a:ea typeface="Arial"/>
                <a:cs typeface="Arial"/>
              </a:defRPr>
            </a:lvl5pPr>
            <a:lvl6pPr>
              <a:defRPr sz="6600" b="1">
                <a:solidFill>
                  <a:srgbClr val="A3EAC9"/>
                </a:solidFill>
                <a:latin typeface="Arial"/>
                <a:ea typeface="Arial"/>
                <a:cs typeface="Arial"/>
              </a:defRPr>
            </a:lvl6pPr>
            <a:lvl7pPr>
              <a:defRPr sz="6600" b="1">
                <a:solidFill>
                  <a:srgbClr val="A3EAC9"/>
                </a:solidFill>
                <a:latin typeface="Arial"/>
                <a:ea typeface="Arial"/>
                <a:cs typeface="Arial"/>
              </a:defRPr>
            </a:lvl7pPr>
            <a:lvl8pPr>
              <a:defRPr sz="6600" b="1">
                <a:solidFill>
                  <a:srgbClr val="A3EAC9"/>
                </a:solidFill>
                <a:latin typeface="Arial"/>
                <a:ea typeface="Arial"/>
                <a:cs typeface="Arial"/>
              </a:defRPr>
            </a:lvl8pPr>
            <a:lvl9pPr>
              <a:defRPr sz="6600" b="1">
                <a:solidFill>
                  <a:srgbClr val="A3EAC9"/>
                </a:solidFill>
                <a:latin typeface="Arial"/>
                <a:ea typeface="Arial"/>
                <a:cs typeface="Arial"/>
              </a:defRPr>
            </a:lvl9pPr>
          </a:lstStyle>
          <a:p xmlns:a="http://schemas.openxmlformats.org/drawingml/2006/main">
            <a:pPr>
              <a:defRPr sz="6600" b="1">
                <a:solidFill>
                  <a:srgbClr val="A3EAC9"/>
                </a:solidFill>
                <a:latin typeface="Arial"/>
                <a:ea typeface="Arial"/>
                <a:cs typeface="Arial"/>
              </a:defRPr>
            </a:pPr>
            <a:r>
              <a:rPr sz="6600" b="1">
                <a:solidFill>
                  <a:srgbClr val="A3EAC9"/>
                </a:solidFill>
                <a:latin typeface="Arial"/>
                <a:ea typeface="Arial"/>
                <a:cs typeface="Arial"/>
              </a:rPr>
              <a:t>luma</a:t>
            </a:r>
          </a:p>
        </p:txBody>
      </p:sp>
      <p:sp>
        <p:nvSpPr>
          <p:cNvPr id="2" name="">
            <a:extLst xmlns:a="http://schemas.openxmlformats.org/drawingml/2006/main">
              <a:ext uri="{FF2B5EF4-FFF2-40B4-BE49-F238E27FC236}">
                <a16:creationId xmlns:a16="http://schemas.microsoft.com/office/drawing/2014/main" id="{D5289820-3F93-41B1-A2CF-66BCBCABDEB0}"/>
              </a:ext>
            </a:extLst>
          </p:cNvPr>
          <p:cNvSpPr>
            <a:spLocks xmlns:a="http://schemas.openxmlformats.org/drawingml/2006/main" noGrp="1"/>
          </p:cNvSpPr>
          <p:nvPr/>
        </p:nvSpPr>
        <p:spPr>
          <a:xfrm xmlns:a="http://schemas.openxmlformats.org/drawingml/2006/main">
            <a:off x="647700" y="22669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5F4"/>
                </a:solidFill>
                <a:latin typeface="Arial"/>
                <a:ea typeface="Arial"/>
                <a:cs typeface="Arial"/>
              </a:defRPr>
            </a:defPPr>
            <a:lvl1pPr>
              <a:defRPr sz="3900" b="0">
                <a:solidFill>
                  <a:srgbClr val="F4F5F4"/>
                </a:solidFill>
                <a:latin typeface="Arial"/>
                <a:ea typeface="Arial"/>
                <a:cs typeface="Arial"/>
              </a:defRPr>
            </a:lvl1pPr>
            <a:lvl2pPr>
              <a:defRPr sz="3900" b="0">
                <a:solidFill>
                  <a:srgbClr val="F4F5F4"/>
                </a:solidFill>
                <a:latin typeface="Arial"/>
                <a:ea typeface="Arial"/>
                <a:cs typeface="Arial"/>
              </a:defRPr>
            </a:lvl2pPr>
            <a:lvl3pPr>
              <a:defRPr sz="3900" b="0">
                <a:solidFill>
                  <a:srgbClr val="F4F5F4"/>
                </a:solidFill>
                <a:latin typeface="Arial"/>
                <a:ea typeface="Arial"/>
                <a:cs typeface="Arial"/>
              </a:defRPr>
            </a:lvl3pPr>
            <a:lvl4pPr>
              <a:defRPr sz="3900" b="0">
                <a:solidFill>
                  <a:srgbClr val="F4F5F4"/>
                </a:solidFill>
                <a:latin typeface="Arial"/>
                <a:ea typeface="Arial"/>
                <a:cs typeface="Arial"/>
              </a:defRPr>
            </a:lvl4pPr>
            <a:lvl5pPr>
              <a:defRPr sz="3900" b="0">
                <a:solidFill>
                  <a:srgbClr val="F4F5F4"/>
                </a:solidFill>
                <a:latin typeface="Arial"/>
                <a:ea typeface="Arial"/>
                <a:cs typeface="Arial"/>
              </a:defRPr>
            </a:lvl5pPr>
            <a:lvl6pPr>
              <a:defRPr sz="3900" b="0">
                <a:solidFill>
                  <a:srgbClr val="F4F5F4"/>
                </a:solidFill>
                <a:latin typeface="Arial"/>
                <a:ea typeface="Arial"/>
                <a:cs typeface="Arial"/>
              </a:defRPr>
            </a:lvl6pPr>
            <a:lvl7pPr>
              <a:defRPr sz="3900" b="0">
                <a:solidFill>
                  <a:srgbClr val="F4F5F4"/>
                </a:solidFill>
                <a:latin typeface="Arial"/>
                <a:ea typeface="Arial"/>
                <a:cs typeface="Arial"/>
              </a:defRPr>
            </a:lvl7pPr>
            <a:lvl8pPr>
              <a:defRPr sz="3900" b="0">
                <a:solidFill>
                  <a:srgbClr val="F4F5F4"/>
                </a:solidFill>
                <a:latin typeface="Arial"/>
                <a:ea typeface="Arial"/>
                <a:cs typeface="Arial"/>
              </a:defRPr>
            </a:lvl8pPr>
            <a:lvl9pPr>
              <a:defRPr sz="3900" b="0">
                <a:solidFill>
                  <a:srgbClr val="F4F5F4"/>
                </a:solidFill>
                <a:latin typeface="Arial"/>
                <a:ea typeface="Arial"/>
                <a:cs typeface="Arial"/>
              </a:defRPr>
            </a:lvl9pPr>
          </a:lstStyle>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Scientific software,</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in conversation</a:t>
            </a:r>
          </a:p>
        </p:txBody>
      </p:sp>
      <p:sp>
        <p:nvSpPr>
          <p:cNvPr id="3" name="">
            <a:extLst xmlns:a="http://schemas.openxmlformats.org/drawingml/2006/main">
              <a:ext uri="{FF2B5EF4-FFF2-40B4-BE49-F238E27FC236}">
                <a16:creationId xmlns:a16="http://schemas.microsoft.com/office/drawing/2014/main" id="{0C948889-06BB-48E6-B1BE-829D5499A908}"/>
              </a:ext>
            </a:extLst>
          </p:cNvPr>
          <p:cNvSpPr>
            <a:spLocks xmlns:a="http://schemas.openxmlformats.org/drawingml/2006/main" noGrp="1"/>
          </p:cNvSpPr>
          <p:nvPr/>
        </p:nvSpPr>
        <p:spPr>
          <a:xfrm xmlns:a="http://schemas.openxmlformats.org/drawingml/2006/main">
            <a:off x="666750" y="53340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1AFAB"/>
                </a:solidFill>
                <a:latin typeface="Arial"/>
                <a:ea typeface="Arial"/>
                <a:cs typeface="Arial"/>
              </a:defRPr>
            </a:defPPr>
            <a:lvl1pPr>
              <a:defRPr sz="1800" b="0">
                <a:solidFill>
                  <a:srgbClr val="A1AFAB"/>
                </a:solidFill>
                <a:latin typeface="Arial"/>
                <a:ea typeface="Arial"/>
                <a:cs typeface="Arial"/>
              </a:defRPr>
            </a:lvl1pPr>
            <a:lvl2pPr>
              <a:defRPr sz="1800" b="0">
                <a:solidFill>
                  <a:srgbClr val="A1AFAB"/>
                </a:solidFill>
                <a:latin typeface="Arial"/>
                <a:ea typeface="Arial"/>
                <a:cs typeface="Arial"/>
              </a:defRPr>
            </a:lvl2pPr>
            <a:lvl3pPr>
              <a:defRPr sz="1800" b="0">
                <a:solidFill>
                  <a:srgbClr val="A1AFAB"/>
                </a:solidFill>
                <a:latin typeface="Arial"/>
                <a:ea typeface="Arial"/>
                <a:cs typeface="Arial"/>
              </a:defRPr>
            </a:lvl3pPr>
            <a:lvl4pPr>
              <a:defRPr sz="1800" b="0">
                <a:solidFill>
                  <a:srgbClr val="A1AFAB"/>
                </a:solidFill>
                <a:latin typeface="Arial"/>
                <a:ea typeface="Arial"/>
                <a:cs typeface="Arial"/>
              </a:defRPr>
            </a:lvl4pPr>
            <a:lvl5pPr>
              <a:defRPr sz="1800" b="0">
                <a:solidFill>
                  <a:srgbClr val="A1AFAB"/>
                </a:solidFill>
                <a:latin typeface="Arial"/>
                <a:ea typeface="Arial"/>
                <a:cs typeface="Arial"/>
              </a:defRPr>
            </a:lvl5pPr>
            <a:lvl6pPr>
              <a:defRPr sz="1800" b="0">
                <a:solidFill>
                  <a:srgbClr val="A1AFAB"/>
                </a:solidFill>
                <a:latin typeface="Arial"/>
                <a:ea typeface="Arial"/>
                <a:cs typeface="Arial"/>
              </a:defRPr>
            </a:lvl6pPr>
            <a:lvl7pPr>
              <a:defRPr sz="1800" b="0">
                <a:solidFill>
                  <a:srgbClr val="A1AFAB"/>
                </a:solidFill>
                <a:latin typeface="Arial"/>
                <a:ea typeface="Arial"/>
                <a:cs typeface="Arial"/>
              </a:defRPr>
            </a:lvl7pPr>
            <a:lvl8pPr>
              <a:defRPr sz="1800" b="0">
                <a:solidFill>
                  <a:srgbClr val="A1AFAB"/>
                </a:solidFill>
                <a:latin typeface="Arial"/>
                <a:ea typeface="Arial"/>
                <a:cs typeface="Arial"/>
              </a:defRPr>
            </a:lvl8pPr>
            <a:lvl9pPr>
              <a:defRPr sz="1800" b="0">
                <a:solidFill>
                  <a:srgbClr val="A1AFAB"/>
                </a:solidFill>
                <a:latin typeface="Arial"/>
                <a:ea typeface="Arial"/>
                <a:cs typeface="Arial"/>
              </a:defRPr>
            </a:lvl9pPr>
          </a:lstStyle>
          <a:p xmlns:a="http://schemas.openxmlformats.org/drawingml/2006/main">
            <a:pPr>
              <a:defRPr sz="1800" b="0">
                <a:solidFill>
                  <a:srgbClr val="A1AFAB"/>
                </a:solidFill>
                <a:latin typeface="Arial"/>
                <a:ea typeface="Arial"/>
                <a:cs typeface="Arial"/>
              </a:defRPr>
            </a:pPr>
            <a:r>
              <a:rPr sz="1800" b="0">
                <a:solidFill>
                  <a:srgbClr val="A1AFAB"/>
                </a:solidFill>
                <a:latin typeface="Arial"/>
                <a:ea typeface="Arial"/>
                <a:cs typeface="Arial"/>
              </a:rPr>
              <a:t>A voice-native companion for QuPath</a:t>
            </a:r>
          </a:p>
        </p:txBody>
      </p:sp>
      <p:pic>
        <p:nvPicPr>
          <p:cNvPr id="4" name="">
            <a:extLst xmlns:a="http://schemas.openxmlformats.org/drawingml/2006/main">
              <a:ext uri="{FF2B5EF4-FFF2-40B4-BE49-F238E27FC236}">
                <a16:creationId xmlns:a16="http://schemas.microsoft.com/office/drawing/2014/main" id="{DE2FE83E-045F-4CF4-A821-9FB8B233D316}"/>
              </a:ext>
            </a:extLst>
          </p:cNvPr>
          <p:cNvPicPr>
            <a:picLocks xmlns:a="http://schemas.openxmlformats.org/drawingml/2006/main" noChangeAspect="1"/>
          </p:cNvPicPr>
          <p:nvPr/>
        </p:nvPicPr>
        <p:blipFill>
          <a:blip xmlns:r="http://schemas.openxmlformats.org/officeDocument/2006/relationships" xmlns:a="http://schemas.openxmlformats.org/drawingml/2006/main" r:embed="Rc409a0e22eac47f5"/>
          <a:stretch xmlns:a="http://schemas.openxmlformats.org/drawingml/2006/main"/>
        </p:blipFill>
        <p:spPr>
          <a:xfrm xmlns:a="http://schemas.openxmlformats.org/drawingml/2006/main">
            <a:off x="6286500" y="1092113"/>
            <a:ext cx="5429250" cy="4388024"/>
          </a:xfrm>
          <a:prstGeom xmlns:a="http://schemas.openxmlformats.org/drawingml/2006/main" prst="rect">
            <a:avLst/>
          </a:prstGeom>
        </p:spPr>
      </p:pic>
    </p:spTree>
    <p:extLst>
      <p:ext uri="{BB962C8B-B14F-4D97-AF65-F5344CB8AC3E}">
        <p14:creationId xmlns:p14="http://schemas.microsoft.com/office/powerpoint/2010/main" val="1311813366"/>
      </p:ext>
    </p:extLst>
  </p:cSld>
</p:sld>
</file>

<file path=ppt/slides/slide2.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445253F-DD8E-4431-BC66-BF4C8DDCA94D}"/>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learning gap</a:t>
            </a:r>
          </a:p>
        </p:txBody>
      </p:sp>
      <p:sp>
        <p:nvSpPr>
          <p:cNvPr id="2" name="">
            <a:extLst xmlns:a="http://schemas.openxmlformats.org/drawingml/2006/main">
              <a:ext uri="{FF2B5EF4-FFF2-40B4-BE49-F238E27FC236}">
                <a16:creationId xmlns:a16="http://schemas.microsoft.com/office/drawing/2014/main" id="{51DA60DB-6F78-4A84-930C-4A8206D3B697}"/>
              </a:ext>
            </a:extLst>
          </p:cNvPr>
          <p:cNvSpPr>
            <a:spLocks xmlns:a="http://schemas.openxmlformats.org/drawingml/2006/main" noGrp="1"/>
          </p:cNvSpPr>
          <p:nvPr/>
        </p:nvSpPr>
        <p:spPr>
          <a:xfrm xmlns:a="http://schemas.openxmlformats.org/drawingml/2006/main">
            <a:off x="647700" y="1809750"/>
            <a:ext cx="10477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5F4"/>
                </a:solidFill>
                <a:latin typeface="Arial"/>
                <a:ea typeface="Arial"/>
                <a:cs typeface="Arial"/>
              </a:defRPr>
            </a:defPPr>
            <a:lvl1pPr>
              <a:defRPr sz="3900" b="0">
                <a:solidFill>
                  <a:srgbClr val="F4F5F4"/>
                </a:solidFill>
                <a:latin typeface="Arial"/>
                <a:ea typeface="Arial"/>
                <a:cs typeface="Arial"/>
              </a:defRPr>
            </a:lvl1pPr>
            <a:lvl2pPr>
              <a:defRPr sz="3900" b="0">
                <a:solidFill>
                  <a:srgbClr val="F4F5F4"/>
                </a:solidFill>
                <a:latin typeface="Arial"/>
                <a:ea typeface="Arial"/>
                <a:cs typeface="Arial"/>
              </a:defRPr>
            </a:lvl2pPr>
            <a:lvl3pPr>
              <a:defRPr sz="3900" b="0">
                <a:solidFill>
                  <a:srgbClr val="F4F5F4"/>
                </a:solidFill>
                <a:latin typeface="Arial"/>
                <a:ea typeface="Arial"/>
                <a:cs typeface="Arial"/>
              </a:defRPr>
            </a:lvl3pPr>
            <a:lvl4pPr>
              <a:defRPr sz="3900" b="0">
                <a:solidFill>
                  <a:srgbClr val="F4F5F4"/>
                </a:solidFill>
                <a:latin typeface="Arial"/>
                <a:ea typeface="Arial"/>
                <a:cs typeface="Arial"/>
              </a:defRPr>
            </a:lvl4pPr>
            <a:lvl5pPr>
              <a:defRPr sz="3900" b="0">
                <a:solidFill>
                  <a:srgbClr val="F4F5F4"/>
                </a:solidFill>
                <a:latin typeface="Arial"/>
                <a:ea typeface="Arial"/>
                <a:cs typeface="Arial"/>
              </a:defRPr>
            </a:lvl5pPr>
            <a:lvl6pPr>
              <a:defRPr sz="3900" b="0">
                <a:solidFill>
                  <a:srgbClr val="F4F5F4"/>
                </a:solidFill>
                <a:latin typeface="Arial"/>
                <a:ea typeface="Arial"/>
                <a:cs typeface="Arial"/>
              </a:defRPr>
            </a:lvl6pPr>
            <a:lvl7pPr>
              <a:defRPr sz="3900" b="0">
                <a:solidFill>
                  <a:srgbClr val="F4F5F4"/>
                </a:solidFill>
                <a:latin typeface="Arial"/>
                <a:ea typeface="Arial"/>
                <a:cs typeface="Arial"/>
              </a:defRPr>
            </a:lvl7pPr>
            <a:lvl8pPr>
              <a:defRPr sz="3900" b="0">
                <a:solidFill>
                  <a:srgbClr val="F4F5F4"/>
                </a:solidFill>
                <a:latin typeface="Arial"/>
                <a:ea typeface="Arial"/>
                <a:cs typeface="Arial"/>
              </a:defRPr>
            </a:lvl8pPr>
            <a:lvl9pPr>
              <a:defRPr sz="3900" b="0">
                <a:solidFill>
                  <a:srgbClr val="F4F5F4"/>
                </a:solidFill>
                <a:latin typeface="Arial"/>
                <a:ea typeface="Arial"/>
                <a:cs typeface="Arial"/>
              </a:defRPr>
            </a:lvl9pPr>
          </a:lstStyle>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Researchers know the question.</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The software still demands</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its own language.</a:t>
            </a:r>
          </a:p>
        </p:txBody>
      </p:sp>
      <p:sp>
        <p:nvSpPr>
          <p:cNvPr id="3" name="">
            <a:extLst xmlns:a="http://schemas.openxmlformats.org/drawingml/2006/main">
              <a:ext uri="{FF2B5EF4-FFF2-40B4-BE49-F238E27FC236}">
                <a16:creationId xmlns:a16="http://schemas.microsoft.com/office/drawing/2014/main" id="{79D382EC-277D-4A62-8D41-B161E577AD58}"/>
              </a:ext>
            </a:extLst>
          </p:cNvPr>
          <p:cNvSpPr>
            <a:spLocks xmlns:a="http://schemas.openxmlformats.org/drawingml/2006/main" noGrp="1"/>
          </p:cNvSpPr>
          <p:nvPr/>
        </p:nvSpPr>
        <p:spPr>
          <a:xfrm xmlns:a="http://schemas.openxmlformats.org/drawingml/2006/main">
            <a:off x="666750" y="5143500"/>
            <a:ext cx="981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Menus, parameters and scripts stand between a scientific question and an action.</a:t>
            </a:r>
          </a:p>
        </p:txBody>
      </p:sp>
    </p:spTree>
    <p:extLst>
      <p:ext uri="{BB962C8B-B14F-4D97-AF65-F5344CB8AC3E}">
        <p14:creationId xmlns:p14="http://schemas.microsoft.com/office/powerpoint/2010/main" val="263651401"/>
      </p:ext>
    </p:extLst>
  </p:cSld>
</p:sld>
</file>

<file path=ppt/slides/slide3.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2461B5-262F-4736-A8F8-9A5EF478707C}"/>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interaction</a:t>
            </a:r>
          </a:p>
        </p:txBody>
      </p:sp>
      <p:sp>
        <p:nvSpPr>
          <p:cNvPr id="2" name="">
            <a:extLst xmlns:a="http://schemas.openxmlformats.org/drawingml/2006/main">
              <a:ext uri="{FF2B5EF4-FFF2-40B4-BE49-F238E27FC236}">
                <a16:creationId xmlns:a16="http://schemas.microsoft.com/office/drawing/2014/main" id="{5F250F21-09E3-4090-ACD0-A2EED9DFE88B}"/>
              </a:ext>
            </a:extLst>
          </p:cNvPr>
          <p:cNvSpPr>
            <a:spLocks xmlns:a="http://schemas.openxmlformats.org/drawingml/2006/main" noGrp="1"/>
          </p:cNvSpPr>
          <p:nvPr/>
        </p:nvSpPr>
        <p:spPr>
          <a:xfrm xmlns:a="http://schemas.openxmlformats.org/drawingml/2006/main">
            <a:off x="666750" y="1952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“Find the cells in this region.”</a:t>
            </a:r>
          </a:p>
        </p:txBody>
      </p:sp>
      <p:sp>
        <p:nvSpPr>
          <p:cNvPr id="3" name="">
            <a:extLst xmlns:a="http://schemas.openxmlformats.org/drawingml/2006/main">
              <a:ext uri="{FF2B5EF4-FFF2-40B4-BE49-F238E27FC236}">
                <a16:creationId xmlns:a16="http://schemas.microsoft.com/office/drawing/2014/main" id="{97B96C33-36D4-4F42-8E37-0286FC993CC7}"/>
              </a:ext>
            </a:extLst>
          </p:cNvPr>
          <p:cNvSpPr>
            <a:spLocks xmlns:a="http://schemas.openxmlformats.org/drawingml/2006/main" noGrp="1"/>
          </p:cNvSpPr>
          <p:nvPr/>
        </p:nvSpPr>
        <p:spPr>
          <a:xfrm xmlns:a="http://schemas.openxmlformats.org/drawingml/2006/main">
            <a:off x="666750" y="3095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“Only highlight the positive ones.”</a:t>
            </a:r>
          </a:p>
        </p:txBody>
      </p:sp>
      <p:sp>
        <p:nvSpPr>
          <p:cNvPr id="4" name="">
            <a:extLst xmlns:a="http://schemas.openxmlformats.org/drawingml/2006/main">
              <a:ext uri="{FF2B5EF4-FFF2-40B4-BE49-F238E27FC236}">
                <a16:creationId xmlns:a16="http://schemas.microsoft.com/office/drawing/2014/main" id="{A75E2EB3-7DFC-40A5-891B-EB71268A68BD}"/>
              </a:ext>
            </a:extLst>
          </p:cNvPr>
          <p:cNvSpPr>
            <a:spLocks xmlns:a="http://schemas.openxmlformats.org/drawingml/2006/main" noGrp="1"/>
          </p:cNvSpPr>
          <p:nvPr/>
        </p:nvSpPr>
        <p:spPr>
          <a:xfrm xmlns:a="http://schemas.openxmlformats.org/drawingml/2006/main">
            <a:off x="666750" y="4238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“Compare that with the earlier result.”</a:t>
            </a:r>
          </a:p>
        </p:txBody>
      </p:sp>
      <p:sp>
        <p:nvSpPr>
          <p:cNvPr id="5" name="">
            <a:extLst xmlns:a="http://schemas.openxmlformats.org/drawingml/2006/main">
              <a:ext uri="{FF2B5EF4-FFF2-40B4-BE49-F238E27FC236}">
                <a16:creationId xmlns:a16="http://schemas.microsoft.com/office/drawing/2014/main" id="{640539BF-A4CA-464E-8C84-D3D622FF3C15}"/>
              </a:ext>
            </a:extLst>
          </p:cNvPr>
          <p:cNvSpPr>
            <a:spLocks xmlns:a="http://schemas.openxmlformats.org/drawingml/2006/main" noGrp="1"/>
          </p:cNvSpPr>
          <p:nvPr/>
        </p:nvSpPr>
        <p:spPr>
          <a:xfrm xmlns:a="http://schemas.openxmlformats.org/drawingml/2006/main">
            <a:off x="66675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1AFAB"/>
                </a:solidFill>
                <a:latin typeface="Arial"/>
                <a:ea typeface="Arial"/>
                <a:cs typeface="Arial"/>
              </a:defRPr>
            </a:defPPr>
            <a:lvl1pPr>
              <a:defRPr sz="1800" b="0">
                <a:solidFill>
                  <a:srgbClr val="A1AFAB"/>
                </a:solidFill>
                <a:latin typeface="Arial"/>
                <a:ea typeface="Arial"/>
                <a:cs typeface="Arial"/>
              </a:defRPr>
            </a:lvl1pPr>
            <a:lvl2pPr>
              <a:defRPr sz="1800" b="0">
                <a:solidFill>
                  <a:srgbClr val="A1AFAB"/>
                </a:solidFill>
                <a:latin typeface="Arial"/>
                <a:ea typeface="Arial"/>
                <a:cs typeface="Arial"/>
              </a:defRPr>
            </a:lvl2pPr>
            <a:lvl3pPr>
              <a:defRPr sz="1800" b="0">
                <a:solidFill>
                  <a:srgbClr val="A1AFAB"/>
                </a:solidFill>
                <a:latin typeface="Arial"/>
                <a:ea typeface="Arial"/>
                <a:cs typeface="Arial"/>
              </a:defRPr>
            </a:lvl3pPr>
            <a:lvl4pPr>
              <a:defRPr sz="1800" b="0">
                <a:solidFill>
                  <a:srgbClr val="A1AFAB"/>
                </a:solidFill>
                <a:latin typeface="Arial"/>
                <a:ea typeface="Arial"/>
                <a:cs typeface="Arial"/>
              </a:defRPr>
            </a:lvl4pPr>
            <a:lvl5pPr>
              <a:defRPr sz="1800" b="0">
                <a:solidFill>
                  <a:srgbClr val="A1AFAB"/>
                </a:solidFill>
                <a:latin typeface="Arial"/>
                <a:ea typeface="Arial"/>
                <a:cs typeface="Arial"/>
              </a:defRPr>
            </a:lvl5pPr>
            <a:lvl6pPr>
              <a:defRPr sz="1800" b="0">
                <a:solidFill>
                  <a:srgbClr val="A1AFAB"/>
                </a:solidFill>
                <a:latin typeface="Arial"/>
                <a:ea typeface="Arial"/>
                <a:cs typeface="Arial"/>
              </a:defRPr>
            </a:lvl6pPr>
            <a:lvl7pPr>
              <a:defRPr sz="1800" b="0">
                <a:solidFill>
                  <a:srgbClr val="A1AFAB"/>
                </a:solidFill>
                <a:latin typeface="Arial"/>
                <a:ea typeface="Arial"/>
                <a:cs typeface="Arial"/>
              </a:defRPr>
            </a:lvl7pPr>
            <a:lvl8pPr>
              <a:defRPr sz="1800" b="0">
                <a:solidFill>
                  <a:srgbClr val="A1AFAB"/>
                </a:solidFill>
                <a:latin typeface="Arial"/>
                <a:ea typeface="Arial"/>
                <a:cs typeface="Arial"/>
              </a:defRPr>
            </a:lvl8pPr>
            <a:lvl9pPr>
              <a:defRPr sz="1800" b="0">
                <a:solidFill>
                  <a:srgbClr val="A1AFAB"/>
                </a:solidFill>
                <a:latin typeface="Arial"/>
                <a:ea typeface="Arial"/>
                <a:cs typeface="Arial"/>
              </a:defRPr>
            </a:lvl9pPr>
          </a:lstStyle>
          <a:p xmlns:a="http://schemas.openxmlformats.org/drawingml/2006/main">
            <a:pPr>
              <a:defRPr sz="1800" b="0">
                <a:solidFill>
                  <a:srgbClr val="A1AFAB"/>
                </a:solidFill>
                <a:latin typeface="Arial"/>
                <a:ea typeface="Arial"/>
                <a:cs typeface="Arial"/>
              </a:defRPr>
            </a:pPr>
            <a:r>
              <a:rPr sz="1800" b="0">
                <a:solidFill>
                  <a:srgbClr val="A1AFAB"/>
                </a:solidFill>
                <a:latin typeface="Arial"/>
                <a:ea typeface="Arial"/>
                <a:cs typeface="Arial"/>
              </a:rPr>
              <a:t>The researcher keeps working in the original application.</a:t>
            </a:r>
          </a:p>
        </p:txBody>
      </p:sp>
    </p:spTree>
    <p:extLst>
      <p:ext uri="{BB962C8B-B14F-4D97-AF65-F5344CB8AC3E}">
        <p14:creationId xmlns:p14="http://schemas.microsoft.com/office/powerpoint/2010/main" val="1447340078"/>
      </p:ext>
    </p:extLst>
  </p:cSld>
</p:sld>
</file>

<file path=ppt/slides/slide4.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B160FD-2897-4CB7-ADCD-6B039D162F2B}"/>
              </a:ext>
            </a:extLst>
          </p:cNvPr>
          <p:cNvSpPr>
            <a:spLocks xmlns:a="http://schemas.openxmlformats.org/drawingml/2006/main" noGrp="1"/>
          </p:cNvSpPr>
          <p:nvPr/>
        </p:nvSpPr>
        <p:spPr>
          <a:xfrm xmlns:a="http://schemas.openxmlformats.org/drawingml/2006/main">
            <a:off x="609600" y="4953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Real operations in QuPath</a:t>
            </a:r>
          </a:p>
        </p:txBody>
      </p:sp>
      <p:pic>
        <p:nvPicPr>
          <p:cNvPr id="2" name="">
            <a:extLst xmlns:a="http://schemas.openxmlformats.org/drawingml/2006/main">
              <a:ext uri="{FF2B5EF4-FFF2-40B4-BE49-F238E27FC236}">
                <a16:creationId xmlns:a16="http://schemas.microsoft.com/office/drawing/2014/main" id="{8B7C6F8E-231D-4735-AB53-1493E8E0AE2D}"/>
              </a:ext>
            </a:extLst>
          </p:cNvPr>
          <p:cNvPicPr>
            <a:picLocks xmlns:a="http://schemas.openxmlformats.org/drawingml/2006/main" noChangeAspect="1"/>
          </p:cNvPicPr>
          <p:nvPr/>
        </p:nvPicPr>
        <p:blipFill>
          <a:blip xmlns:r="http://schemas.openxmlformats.org/officeDocument/2006/relationships" xmlns:a="http://schemas.openxmlformats.org/drawingml/2006/main" r:embed="Ra03c417f57cc431a"/>
          <a:stretch xmlns:a="http://schemas.openxmlformats.org/drawingml/2006/main"/>
        </p:blipFill>
        <p:spPr>
          <a:xfrm xmlns:a="http://schemas.openxmlformats.org/drawingml/2006/main">
            <a:off x="1054208" y="1524000"/>
            <a:ext cx="5892585" cy="4762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B20F1C-0EF9-4ED8-B23F-825664C10506}"/>
              </a:ext>
            </a:extLst>
          </p:cNvPr>
          <p:cNvSpPr>
            <a:spLocks xmlns:a="http://schemas.openxmlformats.org/drawingml/2006/main" noGrp="1"/>
          </p:cNvSpPr>
          <p:nvPr/>
        </p:nvSpPr>
        <p:spPr>
          <a:xfrm xmlns:a="http://schemas.openxmlformats.org/drawingml/2006/main">
            <a:off x="8096250" y="20002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4F5F4"/>
                </a:solidFill>
                <a:latin typeface="Arial"/>
                <a:ea typeface="Arial"/>
                <a:cs typeface="Arial"/>
              </a:defRPr>
            </a:defPPr>
            <a:lvl1pPr>
              <a:defRPr sz="6300" b="1">
                <a:solidFill>
                  <a:srgbClr val="F4F5F4"/>
                </a:solidFill>
                <a:latin typeface="Arial"/>
                <a:ea typeface="Arial"/>
                <a:cs typeface="Arial"/>
              </a:defRPr>
            </a:lvl1pPr>
            <a:lvl2pPr>
              <a:defRPr sz="6300" b="1">
                <a:solidFill>
                  <a:srgbClr val="F4F5F4"/>
                </a:solidFill>
                <a:latin typeface="Arial"/>
                <a:ea typeface="Arial"/>
                <a:cs typeface="Arial"/>
              </a:defRPr>
            </a:lvl2pPr>
            <a:lvl3pPr>
              <a:defRPr sz="6300" b="1">
                <a:solidFill>
                  <a:srgbClr val="F4F5F4"/>
                </a:solidFill>
                <a:latin typeface="Arial"/>
                <a:ea typeface="Arial"/>
                <a:cs typeface="Arial"/>
              </a:defRPr>
            </a:lvl3pPr>
            <a:lvl4pPr>
              <a:defRPr sz="6300" b="1">
                <a:solidFill>
                  <a:srgbClr val="F4F5F4"/>
                </a:solidFill>
                <a:latin typeface="Arial"/>
                <a:ea typeface="Arial"/>
                <a:cs typeface="Arial"/>
              </a:defRPr>
            </a:lvl4pPr>
            <a:lvl5pPr>
              <a:defRPr sz="6300" b="1">
                <a:solidFill>
                  <a:srgbClr val="F4F5F4"/>
                </a:solidFill>
                <a:latin typeface="Arial"/>
                <a:ea typeface="Arial"/>
                <a:cs typeface="Arial"/>
              </a:defRPr>
            </a:lvl5pPr>
            <a:lvl6pPr>
              <a:defRPr sz="6300" b="1">
                <a:solidFill>
                  <a:srgbClr val="F4F5F4"/>
                </a:solidFill>
                <a:latin typeface="Arial"/>
                <a:ea typeface="Arial"/>
                <a:cs typeface="Arial"/>
              </a:defRPr>
            </a:lvl6pPr>
            <a:lvl7pPr>
              <a:defRPr sz="6300" b="1">
                <a:solidFill>
                  <a:srgbClr val="F4F5F4"/>
                </a:solidFill>
                <a:latin typeface="Arial"/>
                <a:ea typeface="Arial"/>
                <a:cs typeface="Arial"/>
              </a:defRPr>
            </a:lvl7pPr>
            <a:lvl8pPr>
              <a:defRPr sz="6300" b="1">
                <a:solidFill>
                  <a:srgbClr val="F4F5F4"/>
                </a:solidFill>
                <a:latin typeface="Arial"/>
                <a:ea typeface="Arial"/>
                <a:cs typeface="Arial"/>
              </a:defRPr>
            </a:lvl8pPr>
            <a:lvl9pPr>
              <a:defRPr sz="6300" b="1">
                <a:solidFill>
                  <a:srgbClr val="F4F5F4"/>
                </a:solidFill>
                <a:latin typeface="Arial"/>
                <a:ea typeface="Arial"/>
                <a:cs typeface="Arial"/>
              </a:defRPr>
            </a:lvl9pPr>
          </a:lstStyle>
          <a:p xmlns:a="http://schemas.openxmlformats.org/drawingml/2006/main">
            <a:pPr>
              <a:defRPr sz="6300" b="1">
                <a:solidFill>
                  <a:srgbClr val="F4F5F4"/>
                </a:solidFill>
                <a:latin typeface="Arial"/>
                <a:ea typeface="Arial"/>
                <a:cs typeface="Arial"/>
              </a:defRPr>
            </a:pPr>
            <a:r>
              <a:rPr sz="6300" b="1">
                <a:solidFill>
                  <a:srgbClr val="F4F5F4"/>
                </a:solidFill>
                <a:latin typeface="Arial"/>
                <a:ea typeface="Arial"/>
                <a:cs typeface="Arial"/>
              </a:rPr>
              <a:t>899</a:t>
            </a:r>
          </a:p>
        </p:txBody>
      </p:sp>
      <p:sp>
        <p:nvSpPr>
          <p:cNvPr id="4" name="">
            <a:extLst xmlns:a="http://schemas.openxmlformats.org/drawingml/2006/main">
              <a:ext uri="{FF2B5EF4-FFF2-40B4-BE49-F238E27FC236}">
                <a16:creationId xmlns:a16="http://schemas.microsoft.com/office/drawing/2014/main" id="{CF09AB16-0B6B-4261-A026-BDE1FC5CAFD0}"/>
              </a:ext>
            </a:extLst>
          </p:cNvPr>
          <p:cNvSpPr>
            <a:spLocks xmlns:a="http://schemas.openxmlformats.org/drawingml/2006/main" noGrp="1"/>
          </p:cNvSpPr>
          <p:nvPr/>
        </p:nvSpPr>
        <p:spPr>
          <a:xfrm xmlns:a="http://schemas.openxmlformats.org/drawingml/2006/main">
            <a:off x="8143875" y="30003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1AFAB"/>
                </a:solidFill>
                <a:latin typeface="Arial"/>
                <a:ea typeface="Arial"/>
                <a:cs typeface="Arial"/>
              </a:defRPr>
            </a:defPPr>
            <a:lvl1pPr>
              <a:defRPr sz="1950" b="0">
                <a:solidFill>
                  <a:srgbClr val="A1AFAB"/>
                </a:solidFill>
                <a:latin typeface="Arial"/>
                <a:ea typeface="Arial"/>
                <a:cs typeface="Arial"/>
              </a:defRPr>
            </a:lvl1pPr>
            <a:lvl2pPr>
              <a:defRPr sz="1950" b="0">
                <a:solidFill>
                  <a:srgbClr val="A1AFAB"/>
                </a:solidFill>
                <a:latin typeface="Arial"/>
                <a:ea typeface="Arial"/>
                <a:cs typeface="Arial"/>
              </a:defRPr>
            </a:lvl2pPr>
            <a:lvl3pPr>
              <a:defRPr sz="1950" b="0">
                <a:solidFill>
                  <a:srgbClr val="A1AFAB"/>
                </a:solidFill>
                <a:latin typeface="Arial"/>
                <a:ea typeface="Arial"/>
                <a:cs typeface="Arial"/>
              </a:defRPr>
            </a:lvl3pPr>
            <a:lvl4pPr>
              <a:defRPr sz="1950" b="0">
                <a:solidFill>
                  <a:srgbClr val="A1AFAB"/>
                </a:solidFill>
                <a:latin typeface="Arial"/>
                <a:ea typeface="Arial"/>
                <a:cs typeface="Arial"/>
              </a:defRPr>
            </a:lvl4pPr>
            <a:lvl5pPr>
              <a:defRPr sz="1950" b="0">
                <a:solidFill>
                  <a:srgbClr val="A1AFAB"/>
                </a:solidFill>
                <a:latin typeface="Arial"/>
                <a:ea typeface="Arial"/>
                <a:cs typeface="Arial"/>
              </a:defRPr>
            </a:lvl5pPr>
            <a:lvl6pPr>
              <a:defRPr sz="1950" b="0">
                <a:solidFill>
                  <a:srgbClr val="A1AFAB"/>
                </a:solidFill>
                <a:latin typeface="Arial"/>
                <a:ea typeface="Arial"/>
                <a:cs typeface="Arial"/>
              </a:defRPr>
            </a:lvl6pPr>
            <a:lvl7pPr>
              <a:defRPr sz="1950" b="0">
                <a:solidFill>
                  <a:srgbClr val="A1AFAB"/>
                </a:solidFill>
                <a:latin typeface="Arial"/>
                <a:ea typeface="Arial"/>
                <a:cs typeface="Arial"/>
              </a:defRPr>
            </a:lvl7pPr>
            <a:lvl8pPr>
              <a:defRPr sz="1950" b="0">
                <a:solidFill>
                  <a:srgbClr val="A1AFAB"/>
                </a:solidFill>
                <a:latin typeface="Arial"/>
                <a:ea typeface="Arial"/>
                <a:cs typeface="Arial"/>
              </a:defRPr>
            </a:lvl8pPr>
            <a:lvl9pPr>
              <a:defRPr sz="1950" b="0">
                <a:solidFill>
                  <a:srgbClr val="A1AFAB"/>
                </a:solidFill>
                <a:latin typeface="Arial"/>
                <a:ea typeface="Arial"/>
                <a:cs typeface="Arial"/>
              </a:defRPr>
            </a:lvl9pPr>
          </a:lstStyle>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detected cells</a:t>
            </a:r>
          </a:p>
        </p:txBody>
      </p:sp>
      <p:sp>
        <p:nvSpPr>
          <p:cNvPr id="5" name="">
            <a:extLst xmlns:a="http://schemas.openxmlformats.org/drawingml/2006/main">
              <a:ext uri="{FF2B5EF4-FFF2-40B4-BE49-F238E27FC236}">
                <a16:creationId xmlns:a16="http://schemas.microsoft.com/office/drawing/2014/main" id="{BCD184D0-8492-4712-9226-65A3FA80E66C}"/>
              </a:ext>
            </a:extLst>
          </p:cNvPr>
          <p:cNvSpPr>
            <a:spLocks xmlns:a="http://schemas.openxmlformats.org/drawingml/2006/main" noGrp="1"/>
          </p:cNvSpPr>
          <p:nvPr/>
        </p:nvSpPr>
        <p:spPr>
          <a:xfrm xmlns:a="http://schemas.openxmlformats.org/drawingml/2006/main">
            <a:off x="8096250" y="40005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A3EAC9"/>
                </a:solidFill>
                <a:latin typeface="Arial"/>
                <a:ea typeface="Arial"/>
                <a:cs typeface="Arial"/>
              </a:defRPr>
            </a:defPPr>
            <a:lvl1pPr>
              <a:defRPr sz="5400" b="1">
                <a:solidFill>
                  <a:srgbClr val="A3EAC9"/>
                </a:solidFill>
                <a:latin typeface="Arial"/>
                <a:ea typeface="Arial"/>
                <a:cs typeface="Arial"/>
              </a:defRPr>
            </a:lvl1pPr>
            <a:lvl2pPr>
              <a:defRPr sz="5400" b="1">
                <a:solidFill>
                  <a:srgbClr val="A3EAC9"/>
                </a:solidFill>
                <a:latin typeface="Arial"/>
                <a:ea typeface="Arial"/>
                <a:cs typeface="Arial"/>
              </a:defRPr>
            </a:lvl2pPr>
            <a:lvl3pPr>
              <a:defRPr sz="5400" b="1">
                <a:solidFill>
                  <a:srgbClr val="A3EAC9"/>
                </a:solidFill>
                <a:latin typeface="Arial"/>
                <a:ea typeface="Arial"/>
                <a:cs typeface="Arial"/>
              </a:defRPr>
            </a:lvl3pPr>
            <a:lvl4pPr>
              <a:defRPr sz="5400" b="1">
                <a:solidFill>
                  <a:srgbClr val="A3EAC9"/>
                </a:solidFill>
                <a:latin typeface="Arial"/>
                <a:ea typeface="Arial"/>
                <a:cs typeface="Arial"/>
              </a:defRPr>
            </a:lvl4pPr>
            <a:lvl5pPr>
              <a:defRPr sz="5400" b="1">
                <a:solidFill>
                  <a:srgbClr val="A3EAC9"/>
                </a:solidFill>
                <a:latin typeface="Arial"/>
                <a:ea typeface="Arial"/>
                <a:cs typeface="Arial"/>
              </a:defRPr>
            </a:lvl5pPr>
            <a:lvl6pPr>
              <a:defRPr sz="5400" b="1">
                <a:solidFill>
                  <a:srgbClr val="A3EAC9"/>
                </a:solidFill>
                <a:latin typeface="Arial"/>
                <a:ea typeface="Arial"/>
                <a:cs typeface="Arial"/>
              </a:defRPr>
            </a:lvl6pPr>
            <a:lvl7pPr>
              <a:defRPr sz="5400" b="1">
                <a:solidFill>
                  <a:srgbClr val="A3EAC9"/>
                </a:solidFill>
                <a:latin typeface="Arial"/>
                <a:ea typeface="Arial"/>
                <a:cs typeface="Arial"/>
              </a:defRPr>
            </a:lvl7pPr>
            <a:lvl8pPr>
              <a:defRPr sz="5400" b="1">
                <a:solidFill>
                  <a:srgbClr val="A3EAC9"/>
                </a:solidFill>
                <a:latin typeface="Arial"/>
                <a:ea typeface="Arial"/>
                <a:cs typeface="Arial"/>
              </a:defRPr>
            </a:lvl8pPr>
            <a:lvl9pPr>
              <a:defRPr sz="5400" b="1">
                <a:solidFill>
                  <a:srgbClr val="A3EAC9"/>
                </a:solidFill>
                <a:latin typeface="Arial"/>
                <a:ea typeface="Arial"/>
                <a:cs typeface="Arial"/>
              </a:defRPr>
            </a:lvl9pPr>
          </a:lstStyle>
          <a:p xmlns:a="http://schemas.openxmlformats.org/drawingml/2006/main">
            <a:pPr>
              <a:defRPr sz="5400" b="1">
                <a:solidFill>
                  <a:srgbClr val="A3EAC9"/>
                </a:solidFill>
                <a:latin typeface="Arial"/>
                <a:ea typeface="Arial"/>
                <a:cs typeface="Arial"/>
              </a:defRPr>
            </a:pPr>
            <a:r>
              <a:rPr sz="5400" b="1">
                <a:solidFill>
                  <a:srgbClr val="A3EAC9"/>
                </a:solidFill>
                <a:latin typeface="Arial"/>
                <a:ea typeface="Arial"/>
                <a:cs typeface="Arial"/>
              </a:rPr>
              <a:t>49</a:t>
            </a:r>
          </a:p>
        </p:txBody>
      </p:sp>
      <p:sp>
        <p:nvSpPr>
          <p:cNvPr id="6" name="">
            <a:extLst xmlns:a="http://schemas.openxmlformats.org/drawingml/2006/main">
              <a:ext uri="{FF2B5EF4-FFF2-40B4-BE49-F238E27FC236}">
                <a16:creationId xmlns:a16="http://schemas.microsoft.com/office/drawing/2014/main" id="{3C8AC323-7BC3-4486-8969-D79DBD78E428}"/>
              </a:ext>
            </a:extLst>
          </p:cNvPr>
          <p:cNvSpPr>
            <a:spLocks xmlns:a="http://schemas.openxmlformats.org/drawingml/2006/main" noGrp="1"/>
          </p:cNvSpPr>
          <p:nvPr/>
        </p:nvSpPr>
        <p:spPr>
          <a:xfrm xmlns:a="http://schemas.openxmlformats.org/drawingml/2006/main">
            <a:off x="8143875" y="49053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1AFAB"/>
                </a:solidFill>
                <a:latin typeface="Arial"/>
                <a:ea typeface="Arial"/>
                <a:cs typeface="Arial"/>
              </a:defRPr>
            </a:defPPr>
            <a:lvl1pPr>
              <a:defRPr sz="1950" b="0">
                <a:solidFill>
                  <a:srgbClr val="A1AFAB"/>
                </a:solidFill>
                <a:latin typeface="Arial"/>
                <a:ea typeface="Arial"/>
                <a:cs typeface="Arial"/>
              </a:defRPr>
            </a:lvl1pPr>
            <a:lvl2pPr>
              <a:defRPr sz="1950" b="0">
                <a:solidFill>
                  <a:srgbClr val="A1AFAB"/>
                </a:solidFill>
                <a:latin typeface="Arial"/>
                <a:ea typeface="Arial"/>
                <a:cs typeface="Arial"/>
              </a:defRPr>
            </a:lvl2pPr>
            <a:lvl3pPr>
              <a:defRPr sz="1950" b="0">
                <a:solidFill>
                  <a:srgbClr val="A1AFAB"/>
                </a:solidFill>
                <a:latin typeface="Arial"/>
                <a:ea typeface="Arial"/>
                <a:cs typeface="Arial"/>
              </a:defRPr>
            </a:lvl3pPr>
            <a:lvl4pPr>
              <a:defRPr sz="1950" b="0">
                <a:solidFill>
                  <a:srgbClr val="A1AFAB"/>
                </a:solidFill>
                <a:latin typeface="Arial"/>
                <a:ea typeface="Arial"/>
                <a:cs typeface="Arial"/>
              </a:defRPr>
            </a:lvl4pPr>
            <a:lvl5pPr>
              <a:defRPr sz="1950" b="0">
                <a:solidFill>
                  <a:srgbClr val="A1AFAB"/>
                </a:solidFill>
                <a:latin typeface="Arial"/>
                <a:ea typeface="Arial"/>
                <a:cs typeface="Arial"/>
              </a:defRPr>
            </a:lvl5pPr>
            <a:lvl6pPr>
              <a:defRPr sz="1950" b="0">
                <a:solidFill>
                  <a:srgbClr val="A1AFAB"/>
                </a:solidFill>
                <a:latin typeface="Arial"/>
                <a:ea typeface="Arial"/>
                <a:cs typeface="Arial"/>
              </a:defRPr>
            </a:lvl6pPr>
            <a:lvl7pPr>
              <a:defRPr sz="1950" b="0">
                <a:solidFill>
                  <a:srgbClr val="A1AFAB"/>
                </a:solidFill>
                <a:latin typeface="Arial"/>
                <a:ea typeface="Arial"/>
                <a:cs typeface="Arial"/>
              </a:defRPr>
            </a:lvl7pPr>
            <a:lvl8pPr>
              <a:defRPr sz="1950" b="0">
                <a:solidFill>
                  <a:srgbClr val="A1AFAB"/>
                </a:solidFill>
                <a:latin typeface="Arial"/>
                <a:ea typeface="Arial"/>
                <a:cs typeface="Arial"/>
              </a:defRPr>
            </a:lvl8pPr>
            <a:lvl9pPr>
              <a:defRPr sz="1950" b="0">
                <a:solidFill>
                  <a:srgbClr val="A1AFAB"/>
                </a:solidFill>
                <a:latin typeface="Arial"/>
                <a:ea typeface="Arial"/>
                <a:cs typeface="Arial"/>
              </a:defRPr>
            </a:lvl9pPr>
          </a:lstStyle>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above the chosen</a:t>
            </a:r>
          </a:p>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DAB threshold</a:t>
            </a:r>
          </a:p>
        </p:txBody>
      </p:sp>
    </p:spTree>
    <p:extLst>
      <p:ext uri="{BB962C8B-B14F-4D97-AF65-F5344CB8AC3E}">
        <p14:creationId xmlns:p14="http://schemas.microsoft.com/office/powerpoint/2010/main" val="2008871003"/>
      </p:ext>
    </p:extLst>
  </p:cSld>
</p:sld>
</file>

<file path=ppt/slides/slide5.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FE1B86-D7A1-4DA6-BF92-BE50EE56F10B}"/>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Researcher control</a:t>
            </a:r>
          </a:p>
        </p:txBody>
      </p:sp>
      <p:sp>
        <p:nvSpPr>
          <p:cNvPr id="2" name="">
            <a:extLst xmlns:a="http://schemas.openxmlformats.org/drawingml/2006/main">
              <a:ext uri="{FF2B5EF4-FFF2-40B4-BE49-F238E27FC236}">
                <a16:creationId xmlns:a16="http://schemas.microsoft.com/office/drawing/2014/main" id="{DED913DF-866E-4BDC-96CB-5C72BDC559E2}"/>
              </a:ext>
            </a:extLst>
          </p:cNvPr>
          <p:cNvSpPr>
            <a:spLocks xmlns:a="http://schemas.openxmlformats.org/drawingml/2006/main" noGrp="1"/>
          </p:cNvSpPr>
          <p:nvPr/>
        </p:nvSpPr>
        <p:spPr>
          <a:xfrm xmlns:a="http://schemas.openxmlformats.org/drawingml/2006/main">
            <a:off x="666750" y="1809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4F5F4"/>
                </a:solidFill>
                <a:latin typeface="Arial"/>
                <a:ea typeface="Arial"/>
                <a:cs typeface="Arial"/>
              </a:defRPr>
            </a:defPPr>
            <a:lvl1pPr>
              <a:defRPr sz="3000" b="0">
                <a:solidFill>
                  <a:srgbClr val="F4F5F4"/>
                </a:solidFill>
                <a:latin typeface="Arial"/>
                <a:ea typeface="Arial"/>
                <a:cs typeface="Arial"/>
              </a:defRPr>
            </a:lvl1pPr>
            <a:lvl2pPr>
              <a:defRPr sz="3000" b="0">
                <a:solidFill>
                  <a:srgbClr val="F4F5F4"/>
                </a:solidFill>
                <a:latin typeface="Arial"/>
                <a:ea typeface="Arial"/>
                <a:cs typeface="Arial"/>
              </a:defRPr>
            </a:lvl2pPr>
            <a:lvl3pPr>
              <a:defRPr sz="3000" b="0">
                <a:solidFill>
                  <a:srgbClr val="F4F5F4"/>
                </a:solidFill>
                <a:latin typeface="Arial"/>
                <a:ea typeface="Arial"/>
                <a:cs typeface="Arial"/>
              </a:defRPr>
            </a:lvl3pPr>
            <a:lvl4pPr>
              <a:defRPr sz="3000" b="0">
                <a:solidFill>
                  <a:srgbClr val="F4F5F4"/>
                </a:solidFill>
                <a:latin typeface="Arial"/>
                <a:ea typeface="Arial"/>
                <a:cs typeface="Arial"/>
              </a:defRPr>
            </a:lvl4pPr>
            <a:lvl5pPr>
              <a:defRPr sz="3000" b="0">
                <a:solidFill>
                  <a:srgbClr val="F4F5F4"/>
                </a:solidFill>
                <a:latin typeface="Arial"/>
                <a:ea typeface="Arial"/>
                <a:cs typeface="Arial"/>
              </a:defRPr>
            </a:lvl5pPr>
            <a:lvl6pPr>
              <a:defRPr sz="3000" b="0">
                <a:solidFill>
                  <a:srgbClr val="F4F5F4"/>
                </a:solidFill>
                <a:latin typeface="Arial"/>
                <a:ea typeface="Arial"/>
                <a:cs typeface="Arial"/>
              </a:defRPr>
            </a:lvl6pPr>
            <a:lvl7pPr>
              <a:defRPr sz="3000" b="0">
                <a:solidFill>
                  <a:srgbClr val="F4F5F4"/>
                </a:solidFill>
                <a:latin typeface="Arial"/>
                <a:ea typeface="Arial"/>
                <a:cs typeface="Arial"/>
              </a:defRPr>
            </a:lvl7pPr>
            <a:lvl8pPr>
              <a:defRPr sz="3000" b="0">
                <a:solidFill>
                  <a:srgbClr val="F4F5F4"/>
                </a:solidFill>
                <a:latin typeface="Arial"/>
                <a:ea typeface="Arial"/>
                <a:cs typeface="Arial"/>
              </a:defRPr>
            </a:lvl8pPr>
            <a:lvl9pPr>
              <a:defRPr sz="3000" b="0">
                <a:solidFill>
                  <a:srgbClr val="F4F5F4"/>
                </a:solidFill>
                <a:latin typeface="Arial"/>
                <a:ea typeface="Arial"/>
                <a:cs typeface="Arial"/>
              </a:defRPr>
            </a:lvl9pPr>
          </a:lstStyle>
          <a:p xmlns:a="http://schemas.openxmlformats.org/drawingml/2006/main">
            <a:pPr>
              <a:defRPr sz="3000" b="0">
                <a:solidFill>
                  <a:srgbClr val="F4F5F4"/>
                </a:solidFill>
                <a:latin typeface="Arial"/>
                <a:ea typeface="Arial"/>
                <a:cs typeface="Arial"/>
              </a:defRPr>
            </a:pPr>
            <a:r>
              <a:rPr sz="3000" b="0">
                <a:solidFill>
                  <a:srgbClr val="F4F5F4"/>
                </a:solidFill>
                <a:latin typeface="Arial"/>
                <a:ea typeface="Arial"/>
                <a:cs typeface="Arial"/>
              </a:rPr>
              <a:t>Exact actions for review</a:t>
            </a:r>
          </a:p>
        </p:txBody>
      </p:sp>
      <p:sp>
        <p:nvSpPr>
          <p:cNvPr id="3" name="">
            <a:extLst xmlns:a="http://schemas.openxmlformats.org/drawingml/2006/main">
              <a:ext uri="{FF2B5EF4-FFF2-40B4-BE49-F238E27FC236}">
                <a16:creationId xmlns:a16="http://schemas.microsoft.com/office/drawing/2014/main" id="{1286868B-8634-4068-A48D-5535543F3324}"/>
              </a:ext>
            </a:extLst>
          </p:cNvPr>
          <p:cNvSpPr>
            <a:spLocks xmlns:a="http://schemas.openxmlformats.org/drawingml/2006/main" noGrp="1"/>
          </p:cNvSpPr>
          <p:nvPr/>
        </p:nvSpPr>
        <p:spPr>
          <a:xfrm xmlns:a="http://schemas.openxmlformats.org/drawingml/2006/main">
            <a:off x="666750" y="2600325"/>
            <a:ext cx="1019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Changes to the image or selection invalidate stale approval.</a:t>
            </a:r>
          </a:p>
        </p:txBody>
      </p:sp>
      <p:sp>
        <p:nvSpPr>
          <p:cNvPr id="4" name="">
            <a:extLst xmlns:a="http://schemas.openxmlformats.org/drawingml/2006/main">
              <a:ext uri="{FF2B5EF4-FFF2-40B4-BE49-F238E27FC236}">
                <a16:creationId xmlns:a16="http://schemas.microsoft.com/office/drawing/2014/main" id="{E87CE1BA-F239-493F-B6B3-FE1B124746E2}"/>
              </a:ext>
            </a:extLst>
          </p:cNvPr>
          <p:cNvSpPr>
            <a:spLocks xmlns:a="http://schemas.openxmlformats.org/drawingml/2006/main" noGrp="1"/>
          </p:cNvSpPr>
          <p:nvPr/>
        </p:nvSpPr>
        <p:spPr>
          <a:xfrm xmlns:a="http://schemas.openxmlformats.org/drawingml/2006/main">
            <a:off x="666750" y="3810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4F5F4"/>
                </a:solidFill>
                <a:latin typeface="Arial"/>
                <a:ea typeface="Arial"/>
                <a:cs typeface="Arial"/>
              </a:defRPr>
            </a:defPPr>
            <a:lvl1pPr>
              <a:defRPr sz="3000" b="0">
                <a:solidFill>
                  <a:srgbClr val="F4F5F4"/>
                </a:solidFill>
                <a:latin typeface="Arial"/>
                <a:ea typeface="Arial"/>
                <a:cs typeface="Arial"/>
              </a:defRPr>
            </a:lvl1pPr>
            <a:lvl2pPr>
              <a:defRPr sz="3000" b="0">
                <a:solidFill>
                  <a:srgbClr val="F4F5F4"/>
                </a:solidFill>
                <a:latin typeface="Arial"/>
                <a:ea typeface="Arial"/>
                <a:cs typeface="Arial"/>
              </a:defRPr>
            </a:lvl2pPr>
            <a:lvl3pPr>
              <a:defRPr sz="3000" b="0">
                <a:solidFill>
                  <a:srgbClr val="F4F5F4"/>
                </a:solidFill>
                <a:latin typeface="Arial"/>
                <a:ea typeface="Arial"/>
                <a:cs typeface="Arial"/>
              </a:defRPr>
            </a:lvl3pPr>
            <a:lvl4pPr>
              <a:defRPr sz="3000" b="0">
                <a:solidFill>
                  <a:srgbClr val="F4F5F4"/>
                </a:solidFill>
                <a:latin typeface="Arial"/>
                <a:ea typeface="Arial"/>
                <a:cs typeface="Arial"/>
              </a:defRPr>
            </a:lvl4pPr>
            <a:lvl5pPr>
              <a:defRPr sz="3000" b="0">
                <a:solidFill>
                  <a:srgbClr val="F4F5F4"/>
                </a:solidFill>
                <a:latin typeface="Arial"/>
                <a:ea typeface="Arial"/>
                <a:cs typeface="Arial"/>
              </a:defRPr>
            </a:lvl5pPr>
            <a:lvl6pPr>
              <a:defRPr sz="3000" b="0">
                <a:solidFill>
                  <a:srgbClr val="F4F5F4"/>
                </a:solidFill>
                <a:latin typeface="Arial"/>
                <a:ea typeface="Arial"/>
                <a:cs typeface="Arial"/>
              </a:defRPr>
            </a:lvl6pPr>
            <a:lvl7pPr>
              <a:defRPr sz="3000" b="0">
                <a:solidFill>
                  <a:srgbClr val="F4F5F4"/>
                </a:solidFill>
                <a:latin typeface="Arial"/>
                <a:ea typeface="Arial"/>
                <a:cs typeface="Arial"/>
              </a:defRPr>
            </a:lvl7pPr>
            <a:lvl8pPr>
              <a:defRPr sz="3000" b="0">
                <a:solidFill>
                  <a:srgbClr val="F4F5F4"/>
                </a:solidFill>
                <a:latin typeface="Arial"/>
                <a:ea typeface="Arial"/>
                <a:cs typeface="Arial"/>
              </a:defRPr>
            </a:lvl8pPr>
            <a:lvl9pPr>
              <a:defRPr sz="3000" b="0">
                <a:solidFill>
                  <a:srgbClr val="F4F5F4"/>
                </a:solidFill>
                <a:latin typeface="Arial"/>
                <a:ea typeface="Arial"/>
                <a:cs typeface="Arial"/>
              </a:defRPr>
            </a:lvl9pPr>
          </a:lstStyle>
          <a:p xmlns:a="http://schemas.openxmlformats.org/drawingml/2006/main">
            <a:pPr>
              <a:defRPr sz="3000" b="0">
                <a:solidFill>
                  <a:srgbClr val="F4F5F4"/>
                </a:solidFill>
                <a:latin typeface="Arial"/>
                <a:ea typeface="Arial"/>
                <a:cs typeface="Arial"/>
              </a:defRPr>
            </a:pPr>
            <a:r>
              <a:rPr sz="3000" b="0">
                <a:solidFill>
                  <a:srgbClr val="F4F5F4"/>
                </a:solidFill>
                <a:latin typeface="Arial"/>
                <a:ea typeface="Arial"/>
                <a:cs typeface="Arial"/>
              </a:rPr>
              <a:t>Measured results and recoverable object state</a:t>
            </a:r>
          </a:p>
        </p:txBody>
      </p:sp>
      <p:sp>
        <p:nvSpPr>
          <p:cNvPr id="5" name="">
            <a:extLst xmlns:a="http://schemas.openxmlformats.org/drawingml/2006/main">
              <a:ext uri="{FF2B5EF4-FFF2-40B4-BE49-F238E27FC236}">
                <a16:creationId xmlns:a16="http://schemas.microsoft.com/office/drawing/2014/main" id="{8B3A21CC-15B9-4F78-97C4-38BF60CD4E83}"/>
              </a:ext>
            </a:extLst>
          </p:cNvPr>
          <p:cNvSpPr>
            <a:spLocks xmlns:a="http://schemas.openxmlformats.org/drawingml/2006/main" noGrp="1"/>
          </p:cNvSpPr>
          <p:nvPr/>
        </p:nvSpPr>
        <p:spPr>
          <a:xfrm xmlns:a="http://schemas.openxmlformats.org/drawingml/2006/main">
            <a:off x="666750" y="4600575"/>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The test restored the original empty hierarchy.</a:t>
            </a:r>
          </a:p>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File and external effects remain outside that recovery boundary.</a:t>
            </a:r>
          </a:p>
        </p:txBody>
      </p:sp>
    </p:spTree>
    <p:extLst>
      <p:ext uri="{BB962C8B-B14F-4D97-AF65-F5344CB8AC3E}">
        <p14:creationId xmlns:p14="http://schemas.microsoft.com/office/powerpoint/2010/main" val="1962926249"/>
      </p:ext>
    </p:extLst>
  </p:cSld>
</p:sld>
</file>

<file path=ppt/slides/slide6.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1CA43E-680D-4CDF-B359-0CC0F2C416F1}"/>
              </a:ext>
            </a:extLst>
          </p:cNvPr>
          <p:cNvSpPr>
            <a:spLocks xmlns:a="http://schemas.openxmlformats.org/drawingml/2006/main" noGrp="1"/>
          </p:cNvSpPr>
          <p:nvPr/>
        </p:nvSpPr>
        <p:spPr>
          <a:xfrm xmlns:a="http://schemas.openxmlformats.org/drawingml/2006/main">
            <a:off x="609600" y="5524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A reusable application layer</a:t>
            </a:r>
          </a:p>
        </p:txBody>
      </p:sp>
      <p:sp>
        <p:nvSpPr>
          <p:cNvPr id="2" name="">
            <a:extLst xmlns:a="http://schemas.openxmlformats.org/drawingml/2006/main">
              <a:ext uri="{FF2B5EF4-FFF2-40B4-BE49-F238E27FC236}">
                <a16:creationId xmlns:a16="http://schemas.microsoft.com/office/drawing/2014/main" id="{D5169B06-8EBC-41ED-93BC-B8299B024BC3}"/>
              </a:ext>
            </a:extLst>
          </p:cNvPr>
          <p:cNvSpPr>
            <a:spLocks xmlns:a="http://schemas.openxmlformats.org/drawingml/2006/main" noGrp="1"/>
          </p:cNvSpPr>
          <p:nvPr/>
        </p:nvSpPr>
        <p:spPr>
          <a:xfrm xmlns:a="http://schemas.openxmlformats.org/drawingml/2006/main">
            <a:off x="666750" y="1857375"/>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400" b="1">
                <a:solidFill>
                  <a:srgbClr val="F4F5F4"/>
                </a:solidFill>
                <a:latin typeface="Arial"/>
                <a:ea typeface="Arial"/>
                <a:cs typeface="Arial"/>
              </a:defRPr>
            </a:defPPr>
            <a:lvl1pPr>
              <a:defRPr sz="8400" b="1">
                <a:solidFill>
                  <a:srgbClr val="F4F5F4"/>
                </a:solidFill>
                <a:latin typeface="Arial"/>
                <a:ea typeface="Arial"/>
                <a:cs typeface="Arial"/>
              </a:defRPr>
            </a:lvl1pPr>
            <a:lvl2pPr>
              <a:defRPr sz="8400" b="1">
                <a:solidFill>
                  <a:srgbClr val="F4F5F4"/>
                </a:solidFill>
                <a:latin typeface="Arial"/>
                <a:ea typeface="Arial"/>
                <a:cs typeface="Arial"/>
              </a:defRPr>
            </a:lvl2pPr>
            <a:lvl3pPr>
              <a:defRPr sz="8400" b="1">
                <a:solidFill>
                  <a:srgbClr val="F4F5F4"/>
                </a:solidFill>
                <a:latin typeface="Arial"/>
                <a:ea typeface="Arial"/>
                <a:cs typeface="Arial"/>
              </a:defRPr>
            </a:lvl3pPr>
            <a:lvl4pPr>
              <a:defRPr sz="8400" b="1">
                <a:solidFill>
                  <a:srgbClr val="F4F5F4"/>
                </a:solidFill>
                <a:latin typeface="Arial"/>
                <a:ea typeface="Arial"/>
                <a:cs typeface="Arial"/>
              </a:defRPr>
            </a:lvl4pPr>
            <a:lvl5pPr>
              <a:defRPr sz="8400" b="1">
                <a:solidFill>
                  <a:srgbClr val="F4F5F4"/>
                </a:solidFill>
                <a:latin typeface="Arial"/>
                <a:ea typeface="Arial"/>
                <a:cs typeface="Arial"/>
              </a:defRPr>
            </a:lvl5pPr>
            <a:lvl6pPr>
              <a:defRPr sz="8400" b="1">
                <a:solidFill>
                  <a:srgbClr val="F4F5F4"/>
                </a:solidFill>
                <a:latin typeface="Arial"/>
                <a:ea typeface="Arial"/>
                <a:cs typeface="Arial"/>
              </a:defRPr>
            </a:lvl6pPr>
            <a:lvl7pPr>
              <a:defRPr sz="8400" b="1">
                <a:solidFill>
                  <a:srgbClr val="F4F5F4"/>
                </a:solidFill>
                <a:latin typeface="Arial"/>
                <a:ea typeface="Arial"/>
                <a:cs typeface="Arial"/>
              </a:defRPr>
            </a:lvl7pPr>
            <a:lvl8pPr>
              <a:defRPr sz="8400" b="1">
                <a:solidFill>
                  <a:srgbClr val="F4F5F4"/>
                </a:solidFill>
                <a:latin typeface="Arial"/>
                <a:ea typeface="Arial"/>
                <a:cs typeface="Arial"/>
              </a:defRPr>
            </a:lvl8pPr>
            <a:lvl9pPr>
              <a:defRPr sz="8400" b="1">
                <a:solidFill>
                  <a:srgbClr val="F4F5F4"/>
                </a:solidFill>
                <a:latin typeface="Arial"/>
                <a:ea typeface="Arial"/>
                <a:cs typeface="Arial"/>
              </a:defRPr>
            </a:lvl9pPr>
          </a:lstStyle>
          <a:p xmlns:a="http://schemas.openxmlformats.org/drawingml/2006/main">
            <a:pPr>
              <a:defRPr sz="8400" b="1">
                <a:solidFill>
                  <a:srgbClr val="F4F5F4"/>
                </a:solidFill>
                <a:latin typeface="Arial"/>
                <a:ea typeface="Arial"/>
                <a:cs typeface="Arial"/>
              </a:defRPr>
            </a:pPr>
            <a:r>
              <a:rPr sz="8400" b="1">
                <a:solidFill>
                  <a:srgbClr val="F4F5F4"/>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7CE5780F-54BA-451F-9838-E99E3EB32898}"/>
              </a:ext>
            </a:extLst>
          </p:cNvPr>
          <p:cNvSpPr>
            <a:spLocks xmlns:a="http://schemas.openxmlformats.org/drawingml/2006/main" noGrp="1"/>
          </p:cNvSpPr>
          <p:nvPr/>
        </p:nvSpPr>
        <p:spPr>
          <a:xfrm xmlns:a="http://schemas.openxmlformats.org/drawingml/2006/main">
            <a:off x="742950" y="35242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4F5F4"/>
                </a:solidFill>
                <a:latin typeface="Arial"/>
                <a:ea typeface="Arial"/>
                <a:cs typeface="Arial"/>
              </a:defRPr>
            </a:defPPr>
            <a:lvl1pPr>
              <a:defRPr sz="2400" b="0">
                <a:solidFill>
                  <a:srgbClr val="F4F5F4"/>
                </a:solidFill>
                <a:latin typeface="Arial"/>
                <a:ea typeface="Arial"/>
                <a:cs typeface="Arial"/>
              </a:defRPr>
            </a:lvl1pPr>
            <a:lvl2pPr>
              <a:defRPr sz="2400" b="0">
                <a:solidFill>
                  <a:srgbClr val="F4F5F4"/>
                </a:solidFill>
                <a:latin typeface="Arial"/>
                <a:ea typeface="Arial"/>
                <a:cs typeface="Arial"/>
              </a:defRPr>
            </a:lvl2pPr>
            <a:lvl3pPr>
              <a:defRPr sz="2400" b="0">
                <a:solidFill>
                  <a:srgbClr val="F4F5F4"/>
                </a:solidFill>
                <a:latin typeface="Arial"/>
                <a:ea typeface="Arial"/>
                <a:cs typeface="Arial"/>
              </a:defRPr>
            </a:lvl3pPr>
            <a:lvl4pPr>
              <a:defRPr sz="2400" b="0">
                <a:solidFill>
                  <a:srgbClr val="F4F5F4"/>
                </a:solidFill>
                <a:latin typeface="Arial"/>
                <a:ea typeface="Arial"/>
                <a:cs typeface="Arial"/>
              </a:defRPr>
            </a:lvl4pPr>
            <a:lvl5pPr>
              <a:defRPr sz="2400" b="0">
                <a:solidFill>
                  <a:srgbClr val="F4F5F4"/>
                </a:solidFill>
                <a:latin typeface="Arial"/>
                <a:ea typeface="Arial"/>
                <a:cs typeface="Arial"/>
              </a:defRPr>
            </a:lvl5pPr>
            <a:lvl6pPr>
              <a:defRPr sz="2400" b="0">
                <a:solidFill>
                  <a:srgbClr val="F4F5F4"/>
                </a:solidFill>
                <a:latin typeface="Arial"/>
                <a:ea typeface="Arial"/>
                <a:cs typeface="Arial"/>
              </a:defRPr>
            </a:lvl6pPr>
            <a:lvl7pPr>
              <a:defRPr sz="2400" b="0">
                <a:solidFill>
                  <a:srgbClr val="F4F5F4"/>
                </a:solidFill>
                <a:latin typeface="Arial"/>
                <a:ea typeface="Arial"/>
                <a:cs typeface="Arial"/>
              </a:defRPr>
            </a:lvl7pPr>
            <a:lvl8pPr>
              <a:defRPr sz="2400" b="0">
                <a:solidFill>
                  <a:srgbClr val="F4F5F4"/>
                </a:solidFill>
                <a:latin typeface="Arial"/>
                <a:ea typeface="Arial"/>
                <a:cs typeface="Arial"/>
              </a:defRPr>
            </a:lvl8pPr>
            <a:lvl9pPr>
              <a:defRPr sz="2400" b="0">
                <a:solidFill>
                  <a:srgbClr val="F4F5F4"/>
                </a:solidFill>
                <a:latin typeface="Arial"/>
                <a:ea typeface="Arial"/>
                <a:cs typeface="Arial"/>
              </a:defRPr>
            </a:lvl9pPr>
          </a:lstStyle>
          <a:p xmlns:a="http://schemas.openxmlformats.org/drawingml/2006/main">
            <a:pPr>
              <a:defRPr sz="2400" b="0">
                <a:solidFill>
                  <a:srgbClr val="F4F5F4"/>
                </a:solidFill>
                <a:latin typeface="Arial"/>
                <a:ea typeface="Arial"/>
                <a:cs typeface="Arial"/>
              </a:defRPr>
            </a:pPr>
            <a:r>
              <a:rPr sz="2400" b="0">
                <a:solidFill>
                  <a:srgbClr val="F4F5F4"/>
                </a:solidFill>
                <a:latin typeface="Arial"/>
                <a:ea typeface="Arial"/>
                <a:cs typeface="Arial"/>
              </a:rPr>
              <a:t>MCP tools for QuPath</a:t>
            </a:r>
          </a:p>
        </p:txBody>
      </p:sp>
      <p:sp>
        <p:nvSpPr>
          <p:cNvPr id="4" name="">
            <a:extLst xmlns:a="http://schemas.openxmlformats.org/drawingml/2006/main">
              <a:ext uri="{FF2B5EF4-FFF2-40B4-BE49-F238E27FC236}">
                <a16:creationId xmlns:a16="http://schemas.microsoft.com/office/drawing/2014/main" id="{5ACA89A1-C7C3-40C3-B36D-3741D1DFA8C0}"/>
              </a:ext>
            </a:extLst>
          </p:cNvPr>
          <p:cNvSpPr>
            <a:spLocks xmlns:a="http://schemas.openxmlformats.org/drawingml/2006/main" noGrp="1"/>
          </p:cNvSpPr>
          <p:nvPr/>
        </p:nvSpPr>
        <p:spPr>
          <a:xfrm xmlns:a="http://schemas.openxmlformats.org/drawingml/2006/main">
            <a:off x="742950" y="4552950"/>
            <a:ext cx="1038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A1AFAB"/>
                </a:solidFill>
                <a:latin typeface="Arial"/>
                <a:ea typeface="Arial"/>
                <a:cs typeface="Arial"/>
              </a:defRPr>
            </a:defPPr>
            <a:lvl1pPr>
              <a:defRPr sz="2250" b="0">
                <a:solidFill>
                  <a:srgbClr val="A1AFAB"/>
                </a:solidFill>
                <a:latin typeface="Arial"/>
                <a:ea typeface="Arial"/>
                <a:cs typeface="Arial"/>
              </a:defRPr>
            </a:lvl1pPr>
            <a:lvl2pPr>
              <a:defRPr sz="2250" b="0">
                <a:solidFill>
                  <a:srgbClr val="A1AFAB"/>
                </a:solidFill>
                <a:latin typeface="Arial"/>
                <a:ea typeface="Arial"/>
                <a:cs typeface="Arial"/>
              </a:defRPr>
            </a:lvl2pPr>
            <a:lvl3pPr>
              <a:defRPr sz="2250" b="0">
                <a:solidFill>
                  <a:srgbClr val="A1AFAB"/>
                </a:solidFill>
                <a:latin typeface="Arial"/>
                <a:ea typeface="Arial"/>
                <a:cs typeface="Arial"/>
              </a:defRPr>
            </a:lvl3pPr>
            <a:lvl4pPr>
              <a:defRPr sz="2250" b="0">
                <a:solidFill>
                  <a:srgbClr val="A1AFAB"/>
                </a:solidFill>
                <a:latin typeface="Arial"/>
                <a:ea typeface="Arial"/>
                <a:cs typeface="Arial"/>
              </a:defRPr>
            </a:lvl4pPr>
            <a:lvl5pPr>
              <a:defRPr sz="2250" b="0">
                <a:solidFill>
                  <a:srgbClr val="A1AFAB"/>
                </a:solidFill>
                <a:latin typeface="Arial"/>
                <a:ea typeface="Arial"/>
                <a:cs typeface="Arial"/>
              </a:defRPr>
            </a:lvl5pPr>
            <a:lvl6pPr>
              <a:defRPr sz="2250" b="0">
                <a:solidFill>
                  <a:srgbClr val="A1AFAB"/>
                </a:solidFill>
                <a:latin typeface="Arial"/>
                <a:ea typeface="Arial"/>
                <a:cs typeface="Arial"/>
              </a:defRPr>
            </a:lvl6pPr>
            <a:lvl7pPr>
              <a:defRPr sz="2250" b="0">
                <a:solidFill>
                  <a:srgbClr val="A1AFAB"/>
                </a:solidFill>
                <a:latin typeface="Arial"/>
                <a:ea typeface="Arial"/>
                <a:cs typeface="Arial"/>
              </a:defRPr>
            </a:lvl7pPr>
            <a:lvl8pPr>
              <a:defRPr sz="2250" b="0">
                <a:solidFill>
                  <a:srgbClr val="A1AFAB"/>
                </a:solidFill>
                <a:latin typeface="Arial"/>
                <a:ea typeface="Arial"/>
                <a:cs typeface="Arial"/>
              </a:defRPr>
            </a:lvl8pPr>
            <a:lvl9pPr>
              <a:defRPr sz="2250" b="0">
                <a:solidFill>
                  <a:srgbClr val="A1AFAB"/>
                </a:solidFill>
                <a:latin typeface="Arial"/>
                <a:ea typeface="Arial"/>
                <a:cs typeface="Arial"/>
              </a:defRPr>
            </a:lvl9pPr>
          </a:lstStyle>
          <a:p xmlns:a="http://schemas.openxmlformats.org/drawingml/2006/main">
            <a:pPr>
              <a:defRPr sz="2250" b="0">
                <a:solidFill>
                  <a:srgbClr val="A1AFAB"/>
                </a:solidFill>
                <a:latin typeface="Arial"/>
                <a:ea typeface="Arial"/>
                <a:cs typeface="Arial"/>
              </a:defRPr>
            </a:pPr>
            <a:r>
              <a:rPr sz="2250" b="0">
                <a:solidFill>
                  <a:srgbClr val="A1AFAB"/>
                </a:solidFill>
                <a:latin typeface="Arial"/>
                <a:ea typeface="Arial"/>
                <a:cs typeface="Arial"/>
              </a:rPr>
              <a:t>Live application context, command discovery and task knowledge</a:t>
            </a:r>
          </a:p>
          <a:p xmlns:a="http://schemas.openxmlformats.org/drawingml/2006/main">
            <a:pPr>
              <a:defRPr sz="2250" b="0">
                <a:solidFill>
                  <a:srgbClr val="A1AFAB"/>
                </a:solidFill>
                <a:latin typeface="Arial"/>
                <a:ea typeface="Arial"/>
                <a:cs typeface="Arial"/>
              </a:defRPr>
            </a:pPr>
            <a:r>
              <a:rPr sz="2250" b="0">
                <a:solidFill>
                  <a:srgbClr val="A1AFAB"/>
                </a:solidFill>
                <a:latin typeface="Arial"/>
                <a:ea typeface="Arial"/>
                <a:cs typeface="Arial"/>
              </a:rPr>
              <a:t>share the same execution and approval path.</a:t>
            </a:r>
          </a:p>
        </p:txBody>
      </p:sp>
    </p:spTree>
    <p:extLst>
      <p:ext uri="{BB962C8B-B14F-4D97-AF65-F5344CB8AC3E}">
        <p14:creationId xmlns:p14="http://schemas.microsoft.com/office/powerpoint/2010/main" val="517997371"/>
      </p:ext>
    </p:extLst>
  </p:cSld>
</p:sld>
</file>

<file path=ppt/slides/slide7.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71ED05-B73D-4CF7-A89F-CFA83CA82652}"/>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prototype today</a:t>
            </a:r>
          </a:p>
        </p:txBody>
      </p:sp>
      <p:sp>
        <p:nvSpPr>
          <p:cNvPr id="2" name="">
            <a:extLst xmlns:a="http://schemas.openxmlformats.org/drawingml/2006/main">
              <a:ext uri="{FF2B5EF4-FFF2-40B4-BE49-F238E27FC236}">
                <a16:creationId xmlns:a16="http://schemas.microsoft.com/office/drawing/2014/main" id="{C1B6E5D0-F35E-4D6B-AD54-78A28D0C8C54}"/>
              </a:ext>
            </a:extLst>
          </p:cNvPr>
          <p:cNvSpPr>
            <a:spLocks xmlns:a="http://schemas.openxmlformats.org/drawingml/2006/main" noGrp="1"/>
          </p:cNvSpPr>
          <p:nvPr/>
        </p:nvSpPr>
        <p:spPr>
          <a:xfrm xmlns:a="http://schemas.openxmlformats.org/drawingml/2006/main">
            <a:off x="666750" y="18097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F4F5F4"/>
                </a:solidFill>
                <a:latin typeface="Arial"/>
                <a:ea typeface="Arial"/>
                <a:cs typeface="Arial"/>
              </a:defRPr>
            </a:defPPr>
            <a:lvl1pPr>
              <a:defRPr sz="3675" b="0">
                <a:solidFill>
                  <a:srgbClr val="F4F5F4"/>
                </a:solidFill>
                <a:latin typeface="Arial"/>
                <a:ea typeface="Arial"/>
                <a:cs typeface="Arial"/>
              </a:defRPr>
            </a:lvl1pPr>
            <a:lvl2pPr>
              <a:defRPr sz="3675" b="0">
                <a:solidFill>
                  <a:srgbClr val="F4F5F4"/>
                </a:solidFill>
                <a:latin typeface="Arial"/>
                <a:ea typeface="Arial"/>
                <a:cs typeface="Arial"/>
              </a:defRPr>
            </a:lvl2pPr>
            <a:lvl3pPr>
              <a:defRPr sz="3675" b="0">
                <a:solidFill>
                  <a:srgbClr val="F4F5F4"/>
                </a:solidFill>
                <a:latin typeface="Arial"/>
                <a:ea typeface="Arial"/>
                <a:cs typeface="Arial"/>
              </a:defRPr>
            </a:lvl3pPr>
            <a:lvl4pPr>
              <a:defRPr sz="3675" b="0">
                <a:solidFill>
                  <a:srgbClr val="F4F5F4"/>
                </a:solidFill>
                <a:latin typeface="Arial"/>
                <a:ea typeface="Arial"/>
                <a:cs typeface="Arial"/>
              </a:defRPr>
            </a:lvl4pPr>
            <a:lvl5pPr>
              <a:defRPr sz="3675" b="0">
                <a:solidFill>
                  <a:srgbClr val="F4F5F4"/>
                </a:solidFill>
                <a:latin typeface="Arial"/>
                <a:ea typeface="Arial"/>
                <a:cs typeface="Arial"/>
              </a:defRPr>
            </a:lvl5pPr>
            <a:lvl6pPr>
              <a:defRPr sz="3675" b="0">
                <a:solidFill>
                  <a:srgbClr val="F4F5F4"/>
                </a:solidFill>
                <a:latin typeface="Arial"/>
                <a:ea typeface="Arial"/>
                <a:cs typeface="Arial"/>
              </a:defRPr>
            </a:lvl6pPr>
            <a:lvl7pPr>
              <a:defRPr sz="3675" b="0">
                <a:solidFill>
                  <a:srgbClr val="F4F5F4"/>
                </a:solidFill>
                <a:latin typeface="Arial"/>
                <a:ea typeface="Arial"/>
                <a:cs typeface="Arial"/>
              </a:defRPr>
            </a:lvl7pPr>
            <a:lvl8pPr>
              <a:defRPr sz="3675" b="0">
                <a:solidFill>
                  <a:srgbClr val="F4F5F4"/>
                </a:solidFill>
                <a:latin typeface="Arial"/>
                <a:ea typeface="Arial"/>
                <a:cs typeface="Arial"/>
              </a:defRPr>
            </a:lvl8pPr>
            <a:lvl9pPr>
              <a:defRPr sz="3675" b="0">
                <a:solidFill>
                  <a:srgbClr val="F4F5F4"/>
                </a:solidFill>
                <a:latin typeface="Arial"/>
                <a:ea typeface="Arial"/>
                <a:cs typeface="Arial"/>
              </a:defRPr>
            </a:lvl9pPr>
          </a:lstStyle>
          <a:p xmlns:a="http://schemas.openxmlformats.org/drawingml/2006/main">
            <a:pPr>
              <a:defRPr sz="3675" b="0">
                <a:solidFill>
                  <a:srgbClr val="F4F5F4"/>
                </a:solidFill>
                <a:latin typeface="Arial"/>
                <a:ea typeface="Arial"/>
                <a:cs typeface="Arial"/>
              </a:defRPr>
            </a:pPr>
            <a:r>
              <a:rPr sz="3675" b="0">
                <a:solidFill>
                  <a:srgbClr val="F4F5F4"/>
                </a:solidFill>
                <a:latin typeface="Arial"/>
                <a:ea typeface="Arial"/>
                <a:cs typeface="Arial"/>
              </a:rPr>
              <a:t>QuPath control and recovery</a:t>
            </a:r>
          </a:p>
          <a:p xmlns:a="http://schemas.openxmlformats.org/drawingml/2006/main">
            <a:pPr>
              <a:defRPr sz="3675" b="0">
                <a:solidFill>
                  <a:srgbClr val="F4F5F4"/>
                </a:solidFill>
                <a:latin typeface="Arial"/>
                <a:ea typeface="Arial"/>
                <a:cs typeface="Arial"/>
              </a:defRPr>
            </a:pPr>
            <a:r>
              <a:rPr sz="3675" b="0">
                <a:solidFill>
                  <a:srgbClr val="F4F5F4"/>
                </a:solidFill>
                <a:latin typeface="Arial"/>
                <a:ea typeface="Arial"/>
                <a:cs typeface="Arial"/>
              </a:rPr>
              <a:t>work in the real application.</a:t>
            </a:r>
          </a:p>
        </p:txBody>
      </p:sp>
      <p:sp>
        <p:nvSpPr>
          <p:cNvPr id="3" name="">
            <a:extLst xmlns:a="http://schemas.openxmlformats.org/drawingml/2006/main">
              <a:ext uri="{FF2B5EF4-FFF2-40B4-BE49-F238E27FC236}">
                <a16:creationId xmlns:a16="http://schemas.microsoft.com/office/drawing/2014/main" id="{ECFBFFBD-8A44-4F93-B84B-0CF6FC22341E}"/>
              </a:ext>
            </a:extLst>
          </p:cNvPr>
          <p:cNvSpPr>
            <a:spLocks xmlns:a="http://schemas.openxmlformats.org/drawingml/2006/main" noGrp="1"/>
          </p:cNvSpPr>
          <p:nvPr/>
        </p:nvSpPr>
        <p:spPr>
          <a:xfrm xmlns:a="http://schemas.openxmlformats.org/drawingml/2006/main">
            <a:off x="685800" y="38100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A1AFAB"/>
                </a:solidFill>
                <a:latin typeface="Arial"/>
                <a:ea typeface="Arial"/>
                <a:cs typeface="Arial"/>
              </a:defRPr>
            </a:defPPr>
            <a:lvl1pPr>
              <a:defRPr sz="2325" b="0">
                <a:solidFill>
                  <a:srgbClr val="A1AFAB"/>
                </a:solidFill>
                <a:latin typeface="Arial"/>
                <a:ea typeface="Arial"/>
                <a:cs typeface="Arial"/>
              </a:defRPr>
            </a:lvl1pPr>
            <a:lvl2pPr>
              <a:defRPr sz="2325" b="0">
                <a:solidFill>
                  <a:srgbClr val="A1AFAB"/>
                </a:solidFill>
                <a:latin typeface="Arial"/>
                <a:ea typeface="Arial"/>
                <a:cs typeface="Arial"/>
              </a:defRPr>
            </a:lvl2pPr>
            <a:lvl3pPr>
              <a:defRPr sz="2325" b="0">
                <a:solidFill>
                  <a:srgbClr val="A1AFAB"/>
                </a:solidFill>
                <a:latin typeface="Arial"/>
                <a:ea typeface="Arial"/>
                <a:cs typeface="Arial"/>
              </a:defRPr>
            </a:lvl3pPr>
            <a:lvl4pPr>
              <a:defRPr sz="2325" b="0">
                <a:solidFill>
                  <a:srgbClr val="A1AFAB"/>
                </a:solidFill>
                <a:latin typeface="Arial"/>
                <a:ea typeface="Arial"/>
                <a:cs typeface="Arial"/>
              </a:defRPr>
            </a:lvl4pPr>
            <a:lvl5pPr>
              <a:defRPr sz="2325" b="0">
                <a:solidFill>
                  <a:srgbClr val="A1AFAB"/>
                </a:solidFill>
                <a:latin typeface="Arial"/>
                <a:ea typeface="Arial"/>
                <a:cs typeface="Arial"/>
              </a:defRPr>
            </a:lvl5pPr>
            <a:lvl6pPr>
              <a:defRPr sz="2325" b="0">
                <a:solidFill>
                  <a:srgbClr val="A1AFAB"/>
                </a:solidFill>
                <a:latin typeface="Arial"/>
                <a:ea typeface="Arial"/>
                <a:cs typeface="Arial"/>
              </a:defRPr>
            </a:lvl6pPr>
            <a:lvl7pPr>
              <a:defRPr sz="2325" b="0">
                <a:solidFill>
                  <a:srgbClr val="A1AFAB"/>
                </a:solidFill>
                <a:latin typeface="Arial"/>
                <a:ea typeface="Arial"/>
                <a:cs typeface="Arial"/>
              </a:defRPr>
            </a:lvl7pPr>
            <a:lvl8pPr>
              <a:defRPr sz="2325" b="0">
                <a:solidFill>
                  <a:srgbClr val="A1AFAB"/>
                </a:solidFill>
                <a:latin typeface="Arial"/>
                <a:ea typeface="Arial"/>
                <a:cs typeface="Arial"/>
              </a:defRPr>
            </a:lvl8pPr>
            <a:lvl9pPr>
              <a:defRPr sz="2325" b="0">
                <a:solidFill>
                  <a:srgbClr val="A1AFAB"/>
                </a:solidFill>
                <a:latin typeface="Arial"/>
                <a:ea typeface="Arial"/>
                <a:cs typeface="Arial"/>
              </a:defRPr>
            </a:lvl9pPr>
          </a:lstStyle>
          <a:p xmlns:a="http://schemas.openxmlformats.org/drawingml/2006/main">
            <a:pPr>
              <a:defRPr sz="2325" b="0">
                <a:solidFill>
                  <a:srgbClr val="A1AFAB"/>
                </a:solidFill>
                <a:latin typeface="Arial"/>
                <a:ea typeface="Arial"/>
                <a:cs typeface="Arial"/>
              </a:defRPr>
            </a:pPr>
            <a:r>
              <a:rPr sz="2325" b="0">
                <a:solidFill>
                  <a:srgbClr val="A1AFAB"/>
                </a:solidFill>
                <a:latin typeface="Arial"/>
                <a:ea typeface="Arial"/>
                <a:cs typeface="Arial"/>
              </a:rPr>
              <a:t>Live voice awaits a verified credit-covered endpoint.</a:t>
            </a:r>
          </a:p>
        </p:txBody>
      </p:sp>
      <p:sp>
        <p:nvSpPr>
          <p:cNvPr id="4" name="">
            <a:extLst xmlns:a="http://schemas.openxmlformats.org/drawingml/2006/main">
              <a:ext uri="{FF2B5EF4-FFF2-40B4-BE49-F238E27FC236}">
                <a16:creationId xmlns:a16="http://schemas.microsoft.com/office/drawing/2014/main" id="{CDD01D6F-7AD0-41F2-BD3A-E159FE33C26D}"/>
              </a:ext>
            </a:extLst>
          </p:cNvPr>
          <p:cNvSpPr>
            <a:spLocks xmlns:a="http://schemas.openxmlformats.org/drawingml/2006/main" noGrp="1"/>
          </p:cNvSpPr>
          <p:nvPr/>
        </p:nvSpPr>
        <p:spPr>
          <a:xfrm xmlns:a="http://schemas.openxmlformats.org/drawingml/2006/main">
            <a:off x="685800" y="5219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3EAC9"/>
                </a:solidFill>
                <a:latin typeface="Arial"/>
                <a:ea typeface="Arial"/>
                <a:cs typeface="Arial"/>
              </a:defRPr>
            </a:defPPr>
            <a:lvl1pPr>
              <a:defRPr sz="2625" b="0">
                <a:solidFill>
                  <a:srgbClr val="A3EAC9"/>
                </a:solidFill>
                <a:latin typeface="Arial"/>
                <a:ea typeface="Arial"/>
                <a:cs typeface="Arial"/>
              </a:defRPr>
            </a:lvl1pPr>
            <a:lvl2pPr>
              <a:defRPr sz="2625" b="0">
                <a:solidFill>
                  <a:srgbClr val="A3EAC9"/>
                </a:solidFill>
                <a:latin typeface="Arial"/>
                <a:ea typeface="Arial"/>
                <a:cs typeface="Arial"/>
              </a:defRPr>
            </a:lvl2pPr>
            <a:lvl3pPr>
              <a:defRPr sz="2625" b="0">
                <a:solidFill>
                  <a:srgbClr val="A3EAC9"/>
                </a:solidFill>
                <a:latin typeface="Arial"/>
                <a:ea typeface="Arial"/>
                <a:cs typeface="Arial"/>
              </a:defRPr>
            </a:lvl3pPr>
            <a:lvl4pPr>
              <a:defRPr sz="2625" b="0">
                <a:solidFill>
                  <a:srgbClr val="A3EAC9"/>
                </a:solidFill>
                <a:latin typeface="Arial"/>
                <a:ea typeface="Arial"/>
                <a:cs typeface="Arial"/>
              </a:defRPr>
            </a:lvl4pPr>
            <a:lvl5pPr>
              <a:defRPr sz="2625" b="0">
                <a:solidFill>
                  <a:srgbClr val="A3EAC9"/>
                </a:solidFill>
                <a:latin typeface="Arial"/>
                <a:ea typeface="Arial"/>
                <a:cs typeface="Arial"/>
              </a:defRPr>
            </a:lvl5pPr>
            <a:lvl6pPr>
              <a:defRPr sz="2625" b="0">
                <a:solidFill>
                  <a:srgbClr val="A3EAC9"/>
                </a:solidFill>
                <a:latin typeface="Arial"/>
                <a:ea typeface="Arial"/>
                <a:cs typeface="Arial"/>
              </a:defRPr>
            </a:lvl6pPr>
            <a:lvl7pPr>
              <a:defRPr sz="2625" b="0">
                <a:solidFill>
                  <a:srgbClr val="A3EAC9"/>
                </a:solidFill>
                <a:latin typeface="Arial"/>
                <a:ea typeface="Arial"/>
                <a:cs typeface="Arial"/>
              </a:defRPr>
            </a:lvl7pPr>
            <a:lvl8pPr>
              <a:defRPr sz="2625" b="0">
                <a:solidFill>
                  <a:srgbClr val="A3EAC9"/>
                </a:solidFill>
                <a:latin typeface="Arial"/>
                <a:ea typeface="Arial"/>
                <a:cs typeface="Arial"/>
              </a:defRPr>
            </a:lvl8pPr>
            <a:lvl9pPr>
              <a:defRPr sz="2625" b="0">
                <a:solidFill>
                  <a:srgbClr val="A3EAC9"/>
                </a:solidFill>
                <a:latin typeface="Arial"/>
                <a:ea typeface="Arial"/>
                <a:cs typeface="Arial"/>
              </a:defRPr>
            </a:lvl9pPr>
          </a:lstStyle>
          <a:p xmlns:a="http://schemas.openxmlformats.org/drawingml/2006/main">
            <a:pPr>
              <a:defRPr sz="2625" b="0">
                <a:solidFill>
                  <a:srgbClr val="A3EAC9"/>
                </a:solidFill>
                <a:latin typeface="Arial"/>
                <a:ea typeface="Arial"/>
                <a:cs typeface="Arial"/>
              </a:defRPr>
            </a:pPr>
            <a:r>
              <a:rPr sz="2625" b="0">
                <a:solidFill>
                  <a:srgbClr val="A3EAC9"/>
                </a:solidFill>
                <a:latin typeface="Arial"/>
                <a:ea typeface="Arial"/>
                <a:cs typeface="Arial"/>
              </a:rPr>
              <a:t>Next: a researcher chooses the task.</a:t>
            </a:r>
          </a:p>
        </p:txBody>
      </p:sp>
    </p:spTree>
    <p:extLst>
      <p:ext uri="{BB962C8B-B14F-4D97-AF65-F5344CB8AC3E}">
        <p14:creationId xmlns:p14="http://schemas.microsoft.com/office/powerpoint/2010/main" val="3145428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2026-10-17T00:30:32.4500000Z</dcterms:created>
  <dcterms:modified xsi:type="dcterms:W3CDTF">2026-10-17T00:30:32.4500000Z</dcterms:modified>
</coreProperties>
</file>