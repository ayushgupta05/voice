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ea0e2461a7406d" /><Relationship Type="http://schemas.openxmlformats.org/officeDocument/2006/relationships/extended-properties" Target="/docProps/app.xml" Id="R66da0be1957f40a6" /><Relationship Type="http://schemas.openxmlformats.org/officeDocument/2006/relationships/officeDocument" Target="/ppt/presentation.xml" Id="Rc29ae42402ef4e7a" /></Relationships>
</file>

<file path=ppt/presentation.xml><?xml version="1.0" encoding="utf-8"?>
<p:presentation xmlns:p="http://schemas.openxmlformats.org/presentationml/2006/main">
  <p:sldMasterIdLst>
    <p:sldMasterId xmlns:r="http://schemas.openxmlformats.org/officeDocument/2006/relationships" id="2147483648" r:id="Ree50593462b04d3e"/>
  </p:sldMasterIdLst>
  <p:notesMasterIdLst>
    <p:notesMasterId xmlns:r="http://schemas.openxmlformats.org/officeDocument/2006/relationships" r:id="Ree88f4bd083d4133"/>
  </p:notesMasterIdLst>
  <p:sldIdLst>
    <p:sldId xmlns:r="http://schemas.openxmlformats.org/officeDocument/2006/relationships" id="256" r:id="R8da73ae2c7e24748"/>
    <p:sldId xmlns:r="http://schemas.openxmlformats.org/officeDocument/2006/relationships" id="257" r:id="Rafd723426eda4710"/>
    <p:sldId xmlns:r="http://schemas.openxmlformats.org/officeDocument/2006/relationships" id="258" r:id="R0a42bdd96c134e35"/>
    <p:sldId xmlns:r="http://schemas.openxmlformats.org/officeDocument/2006/relationships" id="259" r:id="Re51b2a526c504197"/>
    <p:sldId xmlns:r="http://schemas.openxmlformats.org/officeDocument/2006/relationships" id="260" r:id="Rcb787db45de74ec6"/>
    <p:sldId xmlns:r="http://schemas.openxmlformats.org/officeDocument/2006/relationships" id="261" r:id="R8bcf798e3c6f44f9"/>
    <p:sldId xmlns:r="http://schemas.openxmlformats.org/officeDocument/2006/relationships" id="262" r:id="R24815034d77141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2d4ee283c143ef" /><Relationship Type="http://schemas.openxmlformats.org/officeDocument/2006/relationships/slideMaster" Target="/ppt/slideMasters/slideMaster1.xml" Id="Ree50593462b04d3e" /><Relationship Type="http://schemas.openxmlformats.org/officeDocument/2006/relationships/notesMaster" Target="/ppt/notesMasters/notesMaster1.xml" Id="Ree88f4bd083d4133" /><Relationship Type="http://schemas.openxmlformats.org/officeDocument/2006/relationships/presProps" Target="/ppt/presProps.xml" Id="Rc4aa7f5ca88f415e" /><Relationship Type="http://schemas.openxmlformats.org/officeDocument/2006/relationships/tableStyles" Target="/ppt/tableStyles.xml" Id="Rda9c7f8c0a7e4cda" /><Relationship Type="http://schemas.openxmlformats.org/officeDocument/2006/relationships/slide" Target="/ppt/slides/slide1.xml" Id="R8da73ae2c7e24748" /><Relationship Type="http://schemas.openxmlformats.org/officeDocument/2006/relationships/slide" Target="/ppt/slides/slide2.xml" Id="Rafd723426eda4710" /><Relationship Type="http://schemas.openxmlformats.org/officeDocument/2006/relationships/slide" Target="/ppt/slides/slide3.xml" Id="R0a42bdd96c134e35" /><Relationship Type="http://schemas.openxmlformats.org/officeDocument/2006/relationships/slide" Target="/ppt/slides/slide4.xml" Id="Re51b2a526c504197" /><Relationship Type="http://schemas.openxmlformats.org/officeDocument/2006/relationships/slide" Target="/ppt/slides/slide5.xml" Id="Rcb787db45de74ec6" /><Relationship Type="http://schemas.openxmlformats.org/officeDocument/2006/relationships/slide" Target="/ppt/slides/slide6.xml" Id="R8bcf798e3c6f44f9" /><Relationship Type="http://schemas.openxmlformats.org/officeDocument/2006/relationships/slide" Target="/ppt/slides/slide7.xml" Id="R24815034d77141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8c416a84f54c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c727c305c24b76" /><Relationship Type="http://schemas.openxmlformats.org/officeDocument/2006/relationships/notesMaster" Target="/ppt/notesMasters/notesMaster1.xml" Id="R6bbf4d1b5b324b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a4fe52c4f14dfd" /><Relationship Type="http://schemas.openxmlformats.org/officeDocument/2006/relationships/notesMaster" Target="/ppt/notesMasters/notesMaster1.xml" Id="Rf3c6e53f51554c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62594aefda47ff" /><Relationship Type="http://schemas.openxmlformats.org/officeDocument/2006/relationships/notesMaster" Target="/ppt/notesMasters/notesMaster1.xml" Id="R7fcd0da4377b4f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fa3b5d85804a78" /><Relationship Type="http://schemas.openxmlformats.org/officeDocument/2006/relationships/notesMaster" Target="/ppt/notesMasters/notesMaster1.xml" Id="Rce9b260ee2c842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2817c0db654bf0" /><Relationship Type="http://schemas.openxmlformats.org/officeDocument/2006/relationships/notesMaster" Target="/ppt/notesMasters/notesMaster1.xml" Id="R74ad2f5247ab41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b7bdcb2260418f" /><Relationship Type="http://schemas.openxmlformats.org/officeDocument/2006/relationships/notesMaster" Target="/ppt/notesMasters/notesMaster1.xml" Id="Rc73e1993aca346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d0197e3f05438e" /><Relationship Type="http://schemas.openxmlformats.org/officeDocument/2006/relationships/notesMaster" Target="/ppt/notesMasters/notesMaster1.xml" Id="R5f6f4973f81147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Luma makes the interface to established scientific applications conversational. The current prototype targets QuPath. The visual is an actual QuPath viewer capture of public OpenSlide OS-2.ndpi, not a generated scientific result. Source: https://openslide.cs.cmu.edu/download/openslide-testdata/Hamamatsu/ . Interaction reference: https://github.com/farzaa/clicky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statement comes from the project brief and hackathon scope. We have not yet measured time savings or validated usability with researchers. Source: https://luma.com/vdq0qw9u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 experience combines continuous voice with an application adapter. Current verified capabilities include semantic context, MCP, native companion, approvals, actual cell analysis and hierarchy recovery. The separate Realtime and GPT-Live transports have local protocol tests. Actual AWS-credit OpenAI text has also focused the real viewer through companion conversation routing. Production voice remains disabled because AWS-credit coverage is unverified. The phrases on this slide are intended demo requests, not evidence of a completed funded voice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integration fixture, 17 October 2026. OS-2.ndpi is the freely distributable Ki-67 sample used in QuPath tutorials. ROI x=50000 y=26000 width=2200 height=2200 pixels. QuPath WatershedCellDetection created 899 cells. Threshold classification used Nucleus: DAB OD mean &gt;= 0.2, yielding 49 Positive and 850 Negative. This is a test of software operation, not a validated tumor-cell Ki67 labelling index or a clinical result. Source: docs/pitch/integration-evidence.json and https://qupath.readthedocs.io/en/0.7/docs/tutorials/cell_detection.html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and application adapter enforce approvals. An approval binds exact arguments and the observed image/selection/hierarchy state. Native control approvals also bind reviewed dialog state. An interrupted or rejected proposal does not automatically execute. The authorized integration test compared counts and restored the empty baseline. Hierarchy checkpoints do not undo file writes, image settings, arbitrary scripts or external plugin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repository exposes 23 MCP tools, a live menu catalog, visible JavaFX dialog inspection, an approval-gated Groovy escape hatch, a qupath://guide resource and a prompt. The current pinned local documentation corpus contains 66 authored/upstream documents. These give discoverable breadth but do not prove every command or third-party plugin works end to end. Other application adapters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status at 17 October 2026, 03:58 BST: native companion foundation, QuPath extension, MCP and public-slide analysis/recovery are verified locally. The new companion text/Stop controls compile and are loaded, but foreground inspection awaits manual unlock. Authenticated companion conversation routing through actual AWS-credit OpenAI GPT-OSS-120B focused the public viewer at the exact requested coordinates without changing scientific objects. Across two real text fixtures: six model requests, $0.0028011 estimated token usage, $6 conservative reserves; AWS billing settlement unreconciled. Evidence: docs/pitch/text-model-evidence.json and docs/pitch/companion-text-evidence.json. GPT-Live voice remains disabled because a credit-covered endpoint is unverified. No cloud infrastructure or new model agreement was created. Next validation should use researcher-selected tasks and measure completion, errors and interaction latency. Repo: https://github.com/AyushGupta05/Voice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fe2385ee204a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55f9f794bf40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8b6b762b5249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6ecae27ce74a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112dc468f747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1ffb11f95c4e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BBE232-1B00-4326-AF9B-005147A947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B16530-3052-4E2D-BDE3-3A44FCED56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635DAF-A262-4BD7-9EC6-1799E55956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5FCB59-E0C2-4E0A-AD30-4992F3AA4C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B43096-C495-4A83-B48C-473162A15A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64DD22-4A88-4785-9677-1475E937C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03A504-7E9B-4E84-BEF4-50ACA68523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7965AD-81DB-4BF7-9E5E-E8C3545CBD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538779-A63E-4344-911F-4356329831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9A4B54-077D-461C-B2FC-324B57529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bd59b49a9c4e65" /><Relationship Type="http://schemas.openxmlformats.org/officeDocument/2006/relationships/slideLayout" Target="/ppt/slideLayouts/slideLayout1.xml" Id="R30f6d19a0a214a95" /><Relationship Type="http://schemas.openxmlformats.org/officeDocument/2006/relationships/slideLayout" Target="/ppt/slideLayouts/slideLayout2.xml" Id="Rcdf84aaf7321495f" /><Relationship Type="http://schemas.openxmlformats.org/officeDocument/2006/relationships/slideLayout" Target="/ppt/slideLayouts/slideLayout3.xml" Id="Ra2c1dca990c241a9" /><Relationship Type="http://schemas.openxmlformats.org/officeDocument/2006/relationships/slideLayout" Target="/ppt/slideLayouts/slideLayout4.xml" Id="Re99741fd389a405b" /><Relationship Type="http://schemas.openxmlformats.org/officeDocument/2006/relationships/slideLayout" Target="/ppt/slideLayouts/slideLayout5.xml" Id="R633d6e2846f44716" /><Relationship Type="http://schemas.openxmlformats.org/officeDocument/2006/relationships/slideLayout" Target="/ppt/slideLayouts/slideLayout6.xml" Id="R4d5082ec83f64e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f6d19a0a214a95"/>
    <p:sldLayoutId xmlns:r="http://schemas.openxmlformats.org/officeDocument/2006/relationships" id="2147483650" r:id="Rcdf84aaf7321495f"/>
    <p:sldLayoutId xmlns:r="http://schemas.openxmlformats.org/officeDocument/2006/relationships" id="2147483651" r:id="Ra2c1dca990c241a9"/>
    <p:sldLayoutId xmlns:r="http://schemas.openxmlformats.org/officeDocument/2006/relationships" id="2147483652" r:id="Re99741fd389a405b"/>
    <p:sldLayoutId xmlns:r="http://schemas.openxmlformats.org/officeDocument/2006/relationships" id="2147483653" r:id="R633d6e2846f44716"/>
    <p:sldLayoutId xmlns:r="http://schemas.openxmlformats.org/officeDocument/2006/relationships" id="2147483654" r:id="R4d5082ec83f64e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ae9d98d4c54283" /><Relationship Type="http://schemas.openxmlformats.org/officeDocument/2006/relationships/image" Target="/ppt/media/image.png" Id="R013a73feabee4375" /><Relationship Type="http://schemas.openxmlformats.org/officeDocument/2006/relationships/notesSlide" Target="/ppt/notesSlides/notesSlide1.xml" Id="Rd9ac739414d740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81fa14ffa94ceb" /><Relationship Type="http://schemas.openxmlformats.org/officeDocument/2006/relationships/notesSlide" Target="/ppt/notesSlides/notesSlide2.xml" Id="R33c333a6fc204e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6f1c2f570945ed" /><Relationship Type="http://schemas.openxmlformats.org/officeDocument/2006/relationships/notesSlide" Target="/ppt/notesSlides/notesSlide3.xml" Id="R2439a4009c8e41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dc933cc16240ed" /><Relationship Type="http://schemas.openxmlformats.org/officeDocument/2006/relationships/image" Target="/ppt/media/image2.png" Id="R1c6531744e574551" /><Relationship Type="http://schemas.openxmlformats.org/officeDocument/2006/relationships/notesSlide" Target="/ppt/notesSlides/notesSlide4.xml" Id="Rb3904505731d4d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7c20c507f74d16" /><Relationship Type="http://schemas.openxmlformats.org/officeDocument/2006/relationships/notesSlide" Target="/ppt/notesSlides/notesSlide5.xml" Id="R71661523ec49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ec9cbed4674b36" /><Relationship Type="http://schemas.openxmlformats.org/officeDocument/2006/relationships/notesSlide" Target="/ppt/notesSlides/notesSlide6.xml" Id="Rf7a3c5630e9446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70206c17704089" /><Relationship Type="http://schemas.openxmlformats.org/officeDocument/2006/relationships/notesSlide" Target="/ppt/notesSlides/notesSlide7.xml" Id="R91d327c4364249bb" /></Relationships>
</file>

<file path=ppt/slides/slide1.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AEEA3D-95DB-46DF-8329-B0725888ADF8}"/>
              </a:ext>
            </a:extLst>
          </p:cNvPr>
          <p:cNvSpPr>
            <a:spLocks xmlns:a="http://schemas.openxmlformats.org/drawingml/2006/main" noGrp="1"/>
          </p:cNvSpPr>
          <p:nvPr/>
        </p:nvSpPr>
        <p:spPr>
          <a:xfrm xmlns:a="http://schemas.openxmlformats.org/drawingml/2006/main">
            <a:off x="609600" y="5905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3EAC9"/>
                </a:solidFill>
                <a:latin typeface="Arial"/>
                <a:ea typeface="Arial"/>
                <a:cs typeface="Arial"/>
              </a:defRPr>
            </a:defPPr>
            <a:lvl1pPr>
              <a:defRPr sz="6600" b="1">
                <a:solidFill>
                  <a:srgbClr val="A3EAC9"/>
                </a:solidFill>
                <a:latin typeface="Arial"/>
                <a:ea typeface="Arial"/>
                <a:cs typeface="Arial"/>
              </a:defRPr>
            </a:lvl1pPr>
            <a:lvl2pPr>
              <a:defRPr sz="6600" b="1">
                <a:solidFill>
                  <a:srgbClr val="A3EAC9"/>
                </a:solidFill>
                <a:latin typeface="Arial"/>
                <a:ea typeface="Arial"/>
                <a:cs typeface="Arial"/>
              </a:defRPr>
            </a:lvl2pPr>
            <a:lvl3pPr>
              <a:defRPr sz="6600" b="1">
                <a:solidFill>
                  <a:srgbClr val="A3EAC9"/>
                </a:solidFill>
                <a:latin typeface="Arial"/>
                <a:ea typeface="Arial"/>
                <a:cs typeface="Arial"/>
              </a:defRPr>
            </a:lvl3pPr>
            <a:lvl4pPr>
              <a:defRPr sz="6600" b="1">
                <a:solidFill>
                  <a:srgbClr val="A3EAC9"/>
                </a:solidFill>
                <a:latin typeface="Arial"/>
                <a:ea typeface="Arial"/>
                <a:cs typeface="Arial"/>
              </a:defRPr>
            </a:lvl4pPr>
            <a:lvl5pPr>
              <a:defRPr sz="6600" b="1">
                <a:solidFill>
                  <a:srgbClr val="A3EAC9"/>
                </a:solidFill>
                <a:latin typeface="Arial"/>
                <a:ea typeface="Arial"/>
                <a:cs typeface="Arial"/>
              </a:defRPr>
            </a:lvl5pPr>
            <a:lvl6pPr>
              <a:defRPr sz="6600" b="1">
                <a:solidFill>
                  <a:srgbClr val="A3EAC9"/>
                </a:solidFill>
                <a:latin typeface="Arial"/>
                <a:ea typeface="Arial"/>
                <a:cs typeface="Arial"/>
              </a:defRPr>
            </a:lvl6pPr>
            <a:lvl7pPr>
              <a:defRPr sz="6600" b="1">
                <a:solidFill>
                  <a:srgbClr val="A3EAC9"/>
                </a:solidFill>
                <a:latin typeface="Arial"/>
                <a:ea typeface="Arial"/>
                <a:cs typeface="Arial"/>
              </a:defRPr>
            </a:lvl7pPr>
            <a:lvl8pPr>
              <a:defRPr sz="6600" b="1">
                <a:solidFill>
                  <a:srgbClr val="A3EAC9"/>
                </a:solidFill>
                <a:latin typeface="Arial"/>
                <a:ea typeface="Arial"/>
                <a:cs typeface="Arial"/>
              </a:defRPr>
            </a:lvl8pPr>
            <a:lvl9pPr>
              <a:defRPr sz="6600" b="1">
                <a:solidFill>
                  <a:srgbClr val="A3EAC9"/>
                </a:solidFill>
                <a:latin typeface="Arial"/>
                <a:ea typeface="Arial"/>
                <a:cs typeface="Arial"/>
              </a:defRPr>
            </a:lvl9pPr>
          </a:lstStyle>
          <a:p xmlns:a="http://schemas.openxmlformats.org/drawingml/2006/main">
            <a:pPr>
              <a:defRPr sz="6600" b="1">
                <a:solidFill>
                  <a:srgbClr val="A3EAC9"/>
                </a:solidFill>
                <a:latin typeface="Arial"/>
                <a:ea typeface="Arial"/>
                <a:cs typeface="Arial"/>
              </a:defRPr>
            </a:pPr>
            <a:r>
              <a:rPr sz="6600" b="1">
                <a:solidFill>
                  <a:srgbClr val="A3EAC9"/>
                </a:solidFill>
                <a:latin typeface="Arial"/>
                <a:ea typeface="Arial"/>
                <a:cs typeface="Arial"/>
              </a:rPr>
              <a:t>luma</a:t>
            </a:r>
          </a:p>
        </p:txBody>
      </p:sp>
      <p:sp>
        <p:nvSpPr>
          <p:cNvPr id="2" name="">
            <a:extLst xmlns:a="http://schemas.openxmlformats.org/drawingml/2006/main">
              <a:ext uri="{FF2B5EF4-FFF2-40B4-BE49-F238E27FC236}">
                <a16:creationId xmlns:a16="http://schemas.microsoft.com/office/drawing/2014/main" id="{9F2353AD-AC5F-4E7A-B67F-C2917079FE88}"/>
              </a:ext>
            </a:extLst>
          </p:cNvPr>
          <p:cNvSpPr>
            <a:spLocks xmlns:a="http://schemas.openxmlformats.org/drawingml/2006/main" noGrp="1"/>
          </p:cNvSpPr>
          <p:nvPr/>
        </p:nvSpPr>
        <p:spPr>
          <a:xfrm xmlns:a="http://schemas.openxmlformats.org/drawingml/2006/main">
            <a:off x="647700" y="22669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Scientific software,</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in conversation</a:t>
            </a:r>
          </a:p>
        </p:txBody>
      </p:sp>
      <p:sp>
        <p:nvSpPr>
          <p:cNvPr id="3" name="">
            <a:extLst xmlns:a="http://schemas.openxmlformats.org/drawingml/2006/main">
              <a:ext uri="{FF2B5EF4-FFF2-40B4-BE49-F238E27FC236}">
                <a16:creationId xmlns:a16="http://schemas.microsoft.com/office/drawing/2014/main" id="{E5D8C405-3A81-496F-8F6C-7F3458C56910}"/>
              </a:ext>
            </a:extLst>
          </p:cNvPr>
          <p:cNvSpPr>
            <a:spLocks xmlns:a="http://schemas.openxmlformats.org/drawingml/2006/main" noGrp="1"/>
          </p:cNvSpPr>
          <p:nvPr/>
        </p:nvSpPr>
        <p:spPr>
          <a:xfrm xmlns:a="http://schemas.openxmlformats.org/drawingml/2006/main">
            <a:off x="666750" y="533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A voice-native companion for QuPath</a:t>
            </a:r>
          </a:p>
        </p:txBody>
      </p:sp>
      <p:pic>
        <p:nvPicPr>
          <p:cNvPr id="4" name="">
            <a:extLst xmlns:a="http://schemas.openxmlformats.org/drawingml/2006/main">
              <a:ext uri="{FF2B5EF4-FFF2-40B4-BE49-F238E27FC236}">
                <a16:creationId xmlns:a16="http://schemas.microsoft.com/office/drawing/2014/main" id="{5E95E809-78A9-46E9-81B0-D539B2E861EF}"/>
              </a:ext>
            </a:extLst>
          </p:cNvPr>
          <p:cNvPicPr>
            <a:picLocks xmlns:a="http://schemas.openxmlformats.org/drawingml/2006/main" noChangeAspect="1"/>
          </p:cNvPicPr>
          <p:nvPr/>
        </p:nvPicPr>
        <p:blipFill>
          <a:blip xmlns:r="http://schemas.openxmlformats.org/officeDocument/2006/relationships" xmlns:a="http://schemas.openxmlformats.org/drawingml/2006/main" r:embed="R013a73feabee4375"/>
          <a:stretch xmlns:a="http://schemas.openxmlformats.org/drawingml/2006/main"/>
        </p:blipFill>
        <p:spPr>
          <a:xfrm xmlns:a="http://schemas.openxmlformats.org/drawingml/2006/main">
            <a:off x="6286500" y="1092113"/>
            <a:ext cx="5429250" cy="4388024"/>
          </a:xfrm>
          <a:prstGeom xmlns:a="http://schemas.openxmlformats.org/drawingml/2006/main" prst="rect">
            <a:avLst/>
          </a:prstGeom>
        </p:spPr>
      </p:pic>
    </p:spTree>
    <p:extLst>
      <p:ext uri="{BB962C8B-B14F-4D97-AF65-F5344CB8AC3E}">
        <p14:creationId xmlns:p14="http://schemas.microsoft.com/office/powerpoint/2010/main" val="45990647"/>
      </p:ext>
    </p:extLst>
  </p:cSld>
</p:sld>
</file>

<file path=ppt/slides/slide2.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3B74EB-8C10-41CF-A8A0-09C357FBAC89}"/>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learning gap</a:t>
            </a:r>
          </a:p>
        </p:txBody>
      </p:sp>
      <p:sp>
        <p:nvSpPr>
          <p:cNvPr id="2" name="">
            <a:extLst xmlns:a="http://schemas.openxmlformats.org/drawingml/2006/main">
              <a:ext uri="{FF2B5EF4-FFF2-40B4-BE49-F238E27FC236}">
                <a16:creationId xmlns:a16="http://schemas.microsoft.com/office/drawing/2014/main" id="{A91C35B8-C033-456A-A29C-CBDEA2C599CF}"/>
              </a:ext>
            </a:extLst>
          </p:cNvPr>
          <p:cNvSpPr>
            <a:spLocks xmlns:a="http://schemas.openxmlformats.org/drawingml/2006/main" noGrp="1"/>
          </p:cNvSpPr>
          <p:nvPr/>
        </p:nvSpPr>
        <p:spPr>
          <a:xfrm xmlns:a="http://schemas.openxmlformats.org/drawingml/2006/main">
            <a:off x="647700" y="1809750"/>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Researchers know the question.</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The software still demands</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its own language.</a:t>
            </a:r>
          </a:p>
        </p:txBody>
      </p:sp>
      <p:sp>
        <p:nvSpPr>
          <p:cNvPr id="3" name="">
            <a:extLst xmlns:a="http://schemas.openxmlformats.org/drawingml/2006/main">
              <a:ext uri="{FF2B5EF4-FFF2-40B4-BE49-F238E27FC236}">
                <a16:creationId xmlns:a16="http://schemas.microsoft.com/office/drawing/2014/main" id="{8971F08D-878C-4BEB-906A-3EF118AB3304}"/>
              </a:ext>
            </a:extLst>
          </p:cNvPr>
          <p:cNvSpPr>
            <a:spLocks xmlns:a="http://schemas.openxmlformats.org/drawingml/2006/main" noGrp="1"/>
          </p:cNvSpPr>
          <p:nvPr/>
        </p:nvSpPr>
        <p:spPr>
          <a:xfrm xmlns:a="http://schemas.openxmlformats.org/drawingml/2006/main">
            <a:off x="666750" y="514350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Menus, parameters and scripts stand between a scientific question and an action.</a:t>
            </a:r>
          </a:p>
        </p:txBody>
      </p:sp>
    </p:spTree>
    <p:extLst>
      <p:ext uri="{BB962C8B-B14F-4D97-AF65-F5344CB8AC3E}">
        <p14:creationId xmlns:p14="http://schemas.microsoft.com/office/powerpoint/2010/main" val="679345367"/>
      </p:ext>
    </p:extLst>
  </p:cSld>
</p:sld>
</file>

<file path=ppt/slides/slide3.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A7DEB9-952B-4B71-9A61-C87E9E8FBB92}"/>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interaction</a:t>
            </a:r>
          </a:p>
        </p:txBody>
      </p:sp>
      <p:sp>
        <p:nvSpPr>
          <p:cNvPr id="2" name="">
            <a:extLst xmlns:a="http://schemas.openxmlformats.org/drawingml/2006/main">
              <a:ext uri="{FF2B5EF4-FFF2-40B4-BE49-F238E27FC236}">
                <a16:creationId xmlns:a16="http://schemas.microsoft.com/office/drawing/2014/main" id="{7F6C30CA-CDC3-4F5A-9039-43E161543A86}"/>
              </a:ext>
            </a:extLst>
          </p:cNvPr>
          <p:cNvSpPr>
            <a:spLocks xmlns:a="http://schemas.openxmlformats.org/drawingml/2006/main" noGrp="1"/>
          </p:cNvSpPr>
          <p:nvPr/>
        </p:nvSpPr>
        <p:spPr>
          <a:xfrm xmlns:a="http://schemas.openxmlformats.org/drawingml/2006/main">
            <a:off x="666750" y="1952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“Find the cells in this region.”</a:t>
            </a:r>
          </a:p>
        </p:txBody>
      </p:sp>
      <p:sp>
        <p:nvSpPr>
          <p:cNvPr id="3" name="">
            <a:extLst xmlns:a="http://schemas.openxmlformats.org/drawingml/2006/main">
              <a:ext uri="{FF2B5EF4-FFF2-40B4-BE49-F238E27FC236}">
                <a16:creationId xmlns:a16="http://schemas.microsoft.com/office/drawing/2014/main" id="{3DD62181-AEBA-463D-A7D9-3DF61DAE99C1}"/>
              </a:ext>
            </a:extLst>
          </p:cNvPr>
          <p:cNvSpPr>
            <a:spLocks xmlns:a="http://schemas.openxmlformats.org/drawingml/2006/main" noGrp="1"/>
          </p:cNvSpPr>
          <p:nvPr/>
        </p:nvSpPr>
        <p:spPr>
          <a:xfrm xmlns:a="http://schemas.openxmlformats.org/drawingml/2006/main">
            <a:off x="666750" y="3095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“Only highlight the positive ones.”</a:t>
            </a:r>
          </a:p>
        </p:txBody>
      </p:sp>
      <p:sp>
        <p:nvSpPr>
          <p:cNvPr id="4" name="">
            <a:extLst xmlns:a="http://schemas.openxmlformats.org/drawingml/2006/main">
              <a:ext uri="{FF2B5EF4-FFF2-40B4-BE49-F238E27FC236}">
                <a16:creationId xmlns:a16="http://schemas.microsoft.com/office/drawing/2014/main" id="{B273FB5D-F228-4E4A-931E-EE63E6A83EC0}"/>
              </a:ext>
            </a:extLst>
          </p:cNvPr>
          <p:cNvSpPr>
            <a:spLocks xmlns:a="http://schemas.openxmlformats.org/drawingml/2006/main" noGrp="1"/>
          </p:cNvSpPr>
          <p:nvPr/>
        </p:nvSpPr>
        <p:spPr>
          <a:xfrm xmlns:a="http://schemas.openxmlformats.org/drawingml/2006/main">
            <a:off x="666750" y="4238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“Compare that with the earlier result.”</a:t>
            </a:r>
          </a:p>
        </p:txBody>
      </p:sp>
      <p:sp>
        <p:nvSpPr>
          <p:cNvPr id="5" name="">
            <a:extLst xmlns:a="http://schemas.openxmlformats.org/drawingml/2006/main">
              <a:ext uri="{FF2B5EF4-FFF2-40B4-BE49-F238E27FC236}">
                <a16:creationId xmlns:a16="http://schemas.microsoft.com/office/drawing/2014/main" id="{E8CC497E-591C-41A4-90C0-46BEAF169023}"/>
              </a:ext>
            </a:extLst>
          </p:cNvPr>
          <p:cNvSpPr>
            <a:spLocks xmlns:a="http://schemas.openxmlformats.org/drawingml/2006/main" noGrp="1"/>
          </p:cNvSpPr>
          <p:nvPr/>
        </p:nvSpPr>
        <p:spPr>
          <a:xfrm xmlns:a="http://schemas.openxmlformats.org/drawingml/2006/main">
            <a:off x="6667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The researcher keeps working in the original application.</a:t>
            </a:r>
          </a:p>
        </p:txBody>
      </p:sp>
    </p:spTree>
    <p:extLst>
      <p:ext uri="{BB962C8B-B14F-4D97-AF65-F5344CB8AC3E}">
        <p14:creationId xmlns:p14="http://schemas.microsoft.com/office/powerpoint/2010/main" val="526877803"/>
      </p:ext>
    </p:extLst>
  </p:cSld>
</p:sld>
</file>

<file path=ppt/slides/slide4.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78BF88-EFAE-44FD-A397-4F2A2638ED99}"/>
              </a:ext>
            </a:extLst>
          </p:cNvPr>
          <p:cNvSpPr>
            <a:spLocks xmlns:a="http://schemas.openxmlformats.org/drawingml/2006/main" noGrp="1"/>
          </p:cNvSpPr>
          <p:nvPr/>
        </p:nvSpPr>
        <p:spPr>
          <a:xfrm xmlns:a="http://schemas.openxmlformats.org/drawingml/2006/main">
            <a:off x="609600" y="4953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Real operations in QuPath</a:t>
            </a:r>
          </a:p>
        </p:txBody>
      </p:sp>
      <p:pic>
        <p:nvPicPr>
          <p:cNvPr id="2" name="">
            <a:extLst xmlns:a="http://schemas.openxmlformats.org/drawingml/2006/main">
              <a:ext uri="{FF2B5EF4-FFF2-40B4-BE49-F238E27FC236}">
                <a16:creationId xmlns:a16="http://schemas.microsoft.com/office/drawing/2014/main" id="{08749717-CE7D-4A18-A41D-89BE3BEA2920}"/>
              </a:ext>
            </a:extLst>
          </p:cNvPr>
          <p:cNvPicPr>
            <a:picLocks xmlns:a="http://schemas.openxmlformats.org/drawingml/2006/main" noChangeAspect="1"/>
          </p:cNvPicPr>
          <p:nvPr/>
        </p:nvPicPr>
        <p:blipFill>
          <a:blip xmlns:r="http://schemas.openxmlformats.org/officeDocument/2006/relationships" xmlns:a="http://schemas.openxmlformats.org/drawingml/2006/main" r:embed="R1c6531744e574551"/>
          <a:stretch xmlns:a="http://schemas.openxmlformats.org/drawingml/2006/main"/>
        </p:blipFill>
        <p:spPr>
          <a:xfrm xmlns:a="http://schemas.openxmlformats.org/drawingml/2006/main">
            <a:off x="1054208" y="1524000"/>
            <a:ext cx="5892585"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CFB71C-A483-4153-922F-3FDA67168BF9}"/>
              </a:ext>
            </a:extLst>
          </p:cNvPr>
          <p:cNvSpPr>
            <a:spLocks xmlns:a="http://schemas.openxmlformats.org/drawingml/2006/main" noGrp="1"/>
          </p:cNvSpPr>
          <p:nvPr/>
        </p:nvSpPr>
        <p:spPr>
          <a:xfrm xmlns:a="http://schemas.openxmlformats.org/drawingml/2006/main">
            <a:off x="8096250" y="20002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4F5F4"/>
                </a:solidFill>
                <a:latin typeface="Arial"/>
                <a:ea typeface="Arial"/>
                <a:cs typeface="Arial"/>
              </a:defRPr>
            </a:defPPr>
            <a:lvl1pPr>
              <a:defRPr sz="6300" b="1">
                <a:solidFill>
                  <a:srgbClr val="F4F5F4"/>
                </a:solidFill>
                <a:latin typeface="Arial"/>
                <a:ea typeface="Arial"/>
                <a:cs typeface="Arial"/>
              </a:defRPr>
            </a:lvl1pPr>
            <a:lvl2pPr>
              <a:defRPr sz="6300" b="1">
                <a:solidFill>
                  <a:srgbClr val="F4F5F4"/>
                </a:solidFill>
                <a:latin typeface="Arial"/>
                <a:ea typeface="Arial"/>
                <a:cs typeface="Arial"/>
              </a:defRPr>
            </a:lvl2pPr>
            <a:lvl3pPr>
              <a:defRPr sz="6300" b="1">
                <a:solidFill>
                  <a:srgbClr val="F4F5F4"/>
                </a:solidFill>
                <a:latin typeface="Arial"/>
                <a:ea typeface="Arial"/>
                <a:cs typeface="Arial"/>
              </a:defRPr>
            </a:lvl3pPr>
            <a:lvl4pPr>
              <a:defRPr sz="6300" b="1">
                <a:solidFill>
                  <a:srgbClr val="F4F5F4"/>
                </a:solidFill>
                <a:latin typeface="Arial"/>
                <a:ea typeface="Arial"/>
                <a:cs typeface="Arial"/>
              </a:defRPr>
            </a:lvl4pPr>
            <a:lvl5pPr>
              <a:defRPr sz="6300" b="1">
                <a:solidFill>
                  <a:srgbClr val="F4F5F4"/>
                </a:solidFill>
                <a:latin typeface="Arial"/>
                <a:ea typeface="Arial"/>
                <a:cs typeface="Arial"/>
              </a:defRPr>
            </a:lvl5pPr>
            <a:lvl6pPr>
              <a:defRPr sz="6300" b="1">
                <a:solidFill>
                  <a:srgbClr val="F4F5F4"/>
                </a:solidFill>
                <a:latin typeface="Arial"/>
                <a:ea typeface="Arial"/>
                <a:cs typeface="Arial"/>
              </a:defRPr>
            </a:lvl6pPr>
            <a:lvl7pPr>
              <a:defRPr sz="6300" b="1">
                <a:solidFill>
                  <a:srgbClr val="F4F5F4"/>
                </a:solidFill>
                <a:latin typeface="Arial"/>
                <a:ea typeface="Arial"/>
                <a:cs typeface="Arial"/>
              </a:defRPr>
            </a:lvl7pPr>
            <a:lvl8pPr>
              <a:defRPr sz="6300" b="1">
                <a:solidFill>
                  <a:srgbClr val="F4F5F4"/>
                </a:solidFill>
                <a:latin typeface="Arial"/>
                <a:ea typeface="Arial"/>
                <a:cs typeface="Arial"/>
              </a:defRPr>
            </a:lvl8pPr>
            <a:lvl9pPr>
              <a:defRPr sz="6300" b="1">
                <a:solidFill>
                  <a:srgbClr val="F4F5F4"/>
                </a:solidFill>
                <a:latin typeface="Arial"/>
                <a:ea typeface="Arial"/>
                <a:cs typeface="Arial"/>
              </a:defRPr>
            </a:lvl9pPr>
          </a:lstStyle>
          <a:p xmlns:a="http://schemas.openxmlformats.org/drawingml/2006/main">
            <a:pPr>
              <a:defRPr sz="6300" b="1">
                <a:solidFill>
                  <a:srgbClr val="F4F5F4"/>
                </a:solidFill>
                <a:latin typeface="Arial"/>
                <a:ea typeface="Arial"/>
                <a:cs typeface="Arial"/>
              </a:defRPr>
            </a:pPr>
            <a:r>
              <a:rPr sz="6300" b="1">
                <a:solidFill>
                  <a:srgbClr val="F4F5F4"/>
                </a:solidFill>
                <a:latin typeface="Arial"/>
                <a:ea typeface="Arial"/>
                <a:cs typeface="Arial"/>
              </a:rPr>
              <a:t>899</a:t>
            </a:r>
          </a:p>
        </p:txBody>
      </p:sp>
      <p:sp>
        <p:nvSpPr>
          <p:cNvPr id="4" name="">
            <a:extLst xmlns:a="http://schemas.openxmlformats.org/drawingml/2006/main">
              <a:ext uri="{FF2B5EF4-FFF2-40B4-BE49-F238E27FC236}">
                <a16:creationId xmlns:a16="http://schemas.microsoft.com/office/drawing/2014/main" id="{2B788BB5-BF08-42BE-8C53-EBC59BD4D908}"/>
              </a:ext>
            </a:extLst>
          </p:cNvPr>
          <p:cNvSpPr>
            <a:spLocks xmlns:a="http://schemas.openxmlformats.org/drawingml/2006/main" noGrp="1"/>
          </p:cNvSpPr>
          <p:nvPr/>
        </p:nvSpPr>
        <p:spPr>
          <a:xfrm xmlns:a="http://schemas.openxmlformats.org/drawingml/2006/main">
            <a:off x="8143875" y="30003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detected cells</a:t>
            </a:r>
          </a:p>
        </p:txBody>
      </p:sp>
      <p:sp>
        <p:nvSpPr>
          <p:cNvPr id="5" name="">
            <a:extLst xmlns:a="http://schemas.openxmlformats.org/drawingml/2006/main">
              <a:ext uri="{FF2B5EF4-FFF2-40B4-BE49-F238E27FC236}">
                <a16:creationId xmlns:a16="http://schemas.microsoft.com/office/drawing/2014/main" id="{2CB2A569-2DB2-4139-A040-826C93B827EC}"/>
              </a:ext>
            </a:extLst>
          </p:cNvPr>
          <p:cNvSpPr>
            <a:spLocks xmlns:a="http://schemas.openxmlformats.org/drawingml/2006/main" noGrp="1"/>
          </p:cNvSpPr>
          <p:nvPr/>
        </p:nvSpPr>
        <p:spPr>
          <a:xfrm xmlns:a="http://schemas.openxmlformats.org/drawingml/2006/main">
            <a:off x="8096250" y="40005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A3EAC9"/>
                </a:solidFill>
                <a:latin typeface="Arial"/>
                <a:ea typeface="Arial"/>
                <a:cs typeface="Arial"/>
              </a:defRPr>
            </a:defPPr>
            <a:lvl1pPr>
              <a:defRPr sz="5400" b="1">
                <a:solidFill>
                  <a:srgbClr val="A3EAC9"/>
                </a:solidFill>
                <a:latin typeface="Arial"/>
                <a:ea typeface="Arial"/>
                <a:cs typeface="Arial"/>
              </a:defRPr>
            </a:lvl1pPr>
            <a:lvl2pPr>
              <a:defRPr sz="5400" b="1">
                <a:solidFill>
                  <a:srgbClr val="A3EAC9"/>
                </a:solidFill>
                <a:latin typeface="Arial"/>
                <a:ea typeface="Arial"/>
                <a:cs typeface="Arial"/>
              </a:defRPr>
            </a:lvl2pPr>
            <a:lvl3pPr>
              <a:defRPr sz="5400" b="1">
                <a:solidFill>
                  <a:srgbClr val="A3EAC9"/>
                </a:solidFill>
                <a:latin typeface="Arial"/>
                <a:ea typeface="Arial"/>
                <a:cs typeface="Arial"/>
              </a:defRPr>
            </a:lvl3pPr>
            <a:lvl4pPr>
              <a:defRPr sz="5400" b="1">
                <a:solidFill>
                  <a:srgbClr val="A3EAC9"/>
                </a:solidFill>
                <a:latin typeface="Arial"/>
                <a:ea typeface="Arial"/>
                <a:cs typeface="Arial"/>
              </a:defRPr>
            </a:lvl4pPr>
            <a:lvl5pPr>
              <a:defRPr sz="5400" b="1">
                <a:solidFill>
                  <a:srgbClr val="A3EAC9"/>
                </a:solidFill>
                <a:latin typeface="Arial"/>
                <a:ea typeface="Arial"/>
                <a:cs typeface="Arial"/>
              </a:defRPr>
            </a:lvl5pPr>
            <a:lvl6pPr>
              <a:defRPr sz="5400" b="1">
                <a:solidFill>
                  <a:srgbClr val="A3EAC9"/>
                </a:solidFill>
                <a:latin typeface="Arial"/>
                <a:ea typeface="Arial"/>
                <a:cs typeface="Arial"/>
              </a:defRPr>
            </a:lvl6pPr>
            <a:lvl7pPr>
              <a:defRPr sz="5400" b="1">
                <a:solidFill>
                  <a:srgbClr val="A3EAC9"/>
                </a:solidFill>
                <a:latin typeface="Arial"/>
                <a:ea typeface="Arial"/>
                <a:cs typeface="Arial"/>
              </a:defRPr>
            </a:lvl7pPr>
            <a:lvl8pPr>
              <a:defRPr sz="5400" b="1">
                <a:solidFill>
                  <a:srgbClr val="A3EAC9"/>
                </a:solidFill>
                <a:latin typeface="Arial"/>
                <a:ea typeface="Arial"/>
                <a:cs typeface="Arial"/>
              </a:defRPr>
            </a:lvl8pPr>
            <a:lvl9pPr>
              <a:defRPr sz="5400" b="1">
                <a:solidFill>
                  <a:srgbClr val="A3EAC9"/>
                </a:solidFill>
                <a:latin typeface="Arial"/>
                <a:ea typeface="Arial"/>
                <a:cs typeface="Arial"/>
              </a:defRPr>
            </a:lvl9pPr>
          </a:lstStyle>
          <a:p xmlns:a="http://schemas.openxmlformats.org/drawingml/2006/main">
            <a:pPr>
              <a:defRPr sz="5400" b="1">
                <a:solidFill>
                  <a:srgbClr val="A3EAC9"/>
                </a:solidFill>
                <a:latin typeface="Arial"/>
                <a:ea typeface="Arial"/>
                <a:cs typeface="Arial"/>
              </a:defRPr>
            </a:pPr>
            <a:r>
              <a:rPr sz="5400" b="1">
                <a:solidFill>
                  <a:srgbClr val="A3EAC9"/>
                </a:solidFill>
                <a:latin typeface="Arial"/>
                <a:ea typeface="Arial"/>
                <a:cs typeface="Arial"/>
              </a:rPr>
              <a:t>49</a:t>
            </a:r>
          </a:p>
        </p:txBody>
      </p:sp>
      <p:sp>
        <p:nvSpPr>
          <p:cNvPr id="6" name="">
            <a:extLst xmlns:a="http://schemas.openxmlformats.org/drawingml/2006/main">
              <a:ext uri="{FF2B5EF4-FFF2-40B4-BE49-F238E27FC236}">
                <a16:creationId xmlns:a16="http://schemas.microsoft.com/office/drawing/2014/main" id="{FFBAB130-386B-403B-9C1F-BDC77EF6E5BA}"/>
              </a:ext>
            </a:extLst>
          </p:cNvPr>
          <p:cNvSpPr>
            <a:spLocks xmlns:a="http://schemas.openxmlformats.org/drawingml/2006/main" noGrp="1"/>
          </p:cNvSpPr>
          <p:nvPr/>
        </p:nvSpPr>
        <p:spPr>
          <a:xfrm xmlns:a="http://schemas.openxmlformats.org/drawingml/2006/main">
            <a:off x="8143875" y="4905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above the chosen</a:t>
            </a:r>
          </a:p>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DAB threshold</a:t>
            </a:r>
          </a:p>
        </p:txBody>
      </p:sp>
    </p:spTree>
    <p:extLst>
      <p:ext uri="{BB962C8B-B14F-4D97-AF65-F5344CB8AC3E}">
        <p14:creationId xmlns:p14="http://schemas.microsoft.com/office/powerpoint/2010/main" val="1209134845"/>
      </p:ext>
    </p:extLst>
  </p:cSld>
</p:sld>
</file>

<file path=ppt/slides/slide5.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105A41-7678-4C6E-BB51-3F1C34DB468F}"/>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Researcher control</a:t>
            </a:r>
          </a:p>
        </p:txBody>
      </p:sp>
      <p:sp>
        <p:nvSpPr>
          <p:cNvPr id="2" name="">
            <a:extLst xmlns:a="http://schemas.openxmlformats.org/drawingml/2006/main">
              <a:ext uri="{FF2B5EF4-FFF2-40B4-BE49-F238E27FC236}">
                <a16:creationId xmlns:a16="http://schemas.microsoft.com/office/drawing/2014/main" id="{27637140-9DF9-42E5-97B0-64622F112940}"/>
              </a:ext>
            </a:extLst>
          </p:cNvPr>
          <p:cNvSpPr>
            <a:spLocks xmlns:a="http://schemas.openxmlformats.org/drawingml/2006/main" noGrp="1"/>
          </p:cNvSpPr>
          <p:nvPr/>
        </p:nvSpPr>
        <p:spPr>
          <a:xfrm xmlns:a="http://schemas.openxmlformats.org/drawingml/2006/main">
            <a:off x="666750" y="1809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Exact actions for review</a:t>
            </a:r>
          </a:p>
        </p:txBody>
      </p:sp>
      <p:sp>
        <p:nvSpPr>
          <p:cNvPr id="3" name="">
            <a:extLst xmlns:a="http://schemas.openxmlformats.org/drawingml/2006/main">
              <a:ext uri="{FF2B5EF4-FFF2-40B4-BE49-F238E27FC236}">
                <a16:creationId xmlns:a16="http://schemas.microsoft.com/office/drawing/2014/main" id="{9F95BFBD-87F0-419A-BA27-32696A0E2D12}"/>
              </a:ext>
            </a:extLst>
          </p:cNvPr>
          <p:cNvSpPr>
            <a:spLocks xmlns:a="http://schemas.openxmlformats.org/drawingml/2006/main" noGrp="1"/>
          </p:cNvSpPr>
          <p:nvPr/>
        </p:nvSpPr>
        <p:spPr>
          <a:xfrm xmlns:a="http://schemas.openxmlformats.org/drawingml/2006/main">
            <a:off x="666750" y="2600325"/>
            <a:ext cx="1019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Changes to the image or selection invalidate stale approval.</a:t>
            </a:r>
          </a:p>
        </p:txBody>
      </p:sp>
      <p:sp>
        <p:nvSpPr>
          <p:cNvPr id="4" name="">
            <a:extLst xmlns:a="http://schemas.openxmlformats.org/drawingml/2006/main">
              <a:ext uri="{FF2B5EF4-FFF2-40B4-BE49-F238E27FC236}">
                <a16:creationId xmlns:a16="http://schemas.microsoft.com/office/drawing/2014/main" id="{3D62E6E7-2E10-452E-98CE-534BACE82670}"/>
              </a:ext>
            </a:extLst>
          </p:cNvPr>
          <p:cNvSpPr>
            <a:spLocks xmlns:a="http://schemas.openxmlformats.org/drawingml/2006/main" noGrp="1"/>
          </p:cNvSpPr>
          <p:nvPr/>
        </p:nvSpPr>
        <p:spPr>
          <a:xfrm xmlns:a="http://schemas.openxmlformats.org/drawingml/2006/main">
            <a:off x="666750" y="3810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Measured results and recoverable object state</a:t>
            </a:r>
          </a:p>
        </p:txBody>
      </p:sp>
      <p:sp>
        <p:nvSpPr>
          <p:cNvPr id="5" name="">
            <a:extLst xmlns:a="http://schemas.openxmlformats.org/drawingml/2006/main">
              <a:ext uri="{FF2B5EF4-FFF2-40B4-BE49-F238E27FC236}">
                <a16:creationId xmlns:a16="http://schemas.microsoft.com/office/drawing/2014/main" id="{D00C5B49-CE65-4832-B638-10F329FE481F}"/>
              </a:ext>
            </a:extLst>
          </p:cNvPr>
          <p:cNvSpPr>
            <a:spLocks xmlns:a="http://schemas.openxmlformats.org/drawingml/2006/main" noGrp="1"/>
          </p:cNvSpPr>
          <p:nvPr/>
        </p:nvSpPr>
        <p:spPr>
          <a:xfrm xmlns:a="http://schemas.openxmlformats.org/drawingml/2006/main">
            <a:off x="666750" y="4600575"/>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The test restored the original empty hierarchy.</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File and external effects remain outside that recovery boundary.</a:t>
            </a:r>
          </a:p>
        </p:txBody>
      </p:sp>
    </p:spTree>
    <p:extLst>
      <p:ext uri="{BB962C8B-B14F-4D97-AF65-F5344CB8AC3E}">
        <p14:creationId xmlns:p14="http://schemas.microsoft.com/office/powerpoint/2010/main" val="1572245780"/>
      </p:ext>
    </p:extLst>
  </p:cSld>
</p:sld>
</file>

<file path=ppt/slides/slide6.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19D4CA-ABAD-42B3-8ABD-D101B9D49287}"/>
              </a:ext>
            </a:extLst>
          </p:cNvPr>
          <p:cNvSpPr>
            <a:spLocks xmlns:a="http://schemas.openxmlformats.org/drawingml/2006/main" noGrp="1"/>
          </p:cNvSpPr>
          <p:nvPr/>
        </p:nvSpPr>
        <p:spPr>
          <a:xfrm xmlns:a="http://schemas.openxmlformats.org/drawingml/2006/main">
            <a:off x="609600" y="5524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A reusable application layer</a:t>
            </a:r>
          </a:p>
        </p:txBody>
      </p:sp>
      <p:sp>
        <p:nvSpPr>
          <p:cNvPr id="2" name="">
            <a:extLst xmlns:a="http://schemas.openxmlformats.org/drawingml/2006/main">
              <a:ext uri="{FF2B5EF4-FFF2-40B4-BE49-F238E27FC236}">
                <a16:creationId xmlns:a16="http://schemas.microsoft.com/office/drawing/2014/main" id="{B0944A72-DA0E-4699-AC30-2DBE58D5353B}"/>
              </a:ext>
            </a:extLst>
          </p:cNvPr>
          <p:cNvSpPr>
            <a:spLocks xmlns:a="http://schemas.openxmlformats.org/drawingml/2006/main" noGrp="1"/>
          </p:cNvSpPr>
          <p:nvPr/>
        </p:nvSpPr>
        <p:spPr>
          <a:xfrm xmlns:a="http://schemas.openxmlformats.org/drawingml/2006/main">
            <a:off x="666750" y="1857375"/>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F4F5F4"/>
                </a:solidFill>
                <a:latin typeface="Arial"/>
                <a:ea typeface="Arial"/>
                <a:cs typeface="Arial"/>
              </a:defRPr>
            </a:defPPr>
            <a:lvl1pPr>
              <a:defRPr sz="8400" b="1">
                <a:solidFill>
                  <a:srgbClr val="F4F5F4"/>
                </a:solidFill>
                <a:latin typeface="Arial"/>
                <a:ea typeface="Arial"/>
                <a:cs typeface="Arial"/>
              </a:defRPr>
            </a:lvl1pPr>
            <a:lvl2pPr>
              <a:defRPr sz="8400" b="1">
                <a:solidFill>
                  <a:srgbClr val="F4F5F4"/>
                </a:solidFill>
                <a:latin typeface="Arial"/>
                <a:ea typeface="Arial"/>
                <a:cs typeface="Arial"/>
              </a:defRPr>
            </a:lvl2pPr>
            <a:lvl3pPr>
              <a:defRPr sz="8400" b="1">
                <a:solidFill>
                  <a:srgbClr val="F4F5F4"/>
                </a:solidFill>
                <a:latin typeface="Arial"/>
                <a:ea typeface="Arial"/>
                <a:cs typeface="Arial"/>
              </a:defRPr>
            </a:lvl3pPr>
            <a:lvl4pPr>
              <a:defRPr sz="8400" b="1">
                <a:solidFill>
                  <a:srgbClr val="F4F5F4"/>
                </a:solidFill>
                <a:latin typeface="Arial"/>
                <a:ea typeface="Arial"/>
                <a:cs typeface="Arial"/>
              </a:defRPr>
            </a:lvl4pPr>
            <a:lvl5pPr>
              <a:defRPr sz="8400" b="1">
                <a:solidFill>
                  <a:srgbClr val="F4F5F4"/>
                </a:solidFill>
                <a:latin typeface="Arial"/>
                <a:ea typeface="Arial"/>
                <a:cs typeface="Arial"/>
              </a:defRPr>
            </a:lvl5pPr>
            <a:lvl6pPr>
              <a:defRPr sz="8400" b="1">
                <a:solidFill>
                  <a:srgbClr val="F4F5F4"/>
                </a:solidFill>
                <a:latin typeface="Arial"/>
                <a:ea typeface="Arial"/>
                <a:cs typeface="Arial"/>
              </a:defRPr>
            </a:lvl6pPr>
            <a:lvl7pPr>
              <a:defRPr sz="8400" b="1">
                <a:solidFill>
                  <a:srgbClr val="F4F5F4"/>
                </a:solidFill>
                <a:latin typeface="Arial"/>
                <a:ea typeface="Arial"/>
                <a:cs typeface="Arial"/>
              </a:defRPr>
            </a:lvl7pPr>
            <a:lvl8pPr>
              <a:defRPr sz="8400" b="1">
                <a:solidFill>
                  <a:srgbClr val="F4F5F4"/>
                </a:solidFill>
                <a:latin typeface="Arial"/>
                <a:ea typeface="Arial"/>
                <a:cs typeface="Arial"/>
              </a:defRPr>
            </a:lvl8pPr>
            <a:lvl9pPr>
              <a:defRPr sz="8400" b="1">
                <a:solidFill>
                  <a:srgbClr val="F4F5F4"/>
                </a:solidFill>
                <a:latin typeface="Arial"/>
                <a:ea typeface="Arial"/>
                <a:cs typeface="Arial"/>
              </a:defRPr>
            </a:lvl9pPr>
          </a:lstStyle>
          <a:p xmlns:a="http://schemas.openxmlformats.org/drawingml/2006/main">
            <a:pPr>
              <a:defRPr sz="8400" b="1">
                <a:solidFill>
                  <a:srgbClr val="F4F5F4"/>
                </a:solidFill>
                <a:latin typeface="Arial"/>
                <a:ea typeface="Arial"/>
                <a:cs typeface="Arial"/>
              </a:defRPr>
            </a:pPr>
            <a:r>
              <a:rPr sz="8400" b="1">
                <a:solidFill>
                  <a:srgbClr val="F4F5F4"/>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D9BCBAE7-D6D0-4881-A389-085457FF8ADE}"/>
              </a:ext>
            </a:extLst>
          </p:cNvPr>
          <p:cNvSpPr>
            <a:spLocks xmlns:a="http://schemas.openxmlformats.org/drawingml/2006/main" noGrp="1"/>
          </p:cNvSpPr>
          <p:nvPr/>
        </p:nvSpPr>
        <p:spPr>
          <a:xfrm xmlns:a="http://schemas.openxmlformats.org/drawingml/2006/main">
            <a:off x="742950" y="35242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5F4"/>
                </a:solidFill>
                <a:latin typeface="Arial"/>
                <a:ea typeface="Arial"/>
                <a:cs typeface="Arial"/>
              </a:defRPr>
            </a:defPPr>
            <a:lvl1pPr>
              <a:defRPr sz="2400" b="0">
                <a:solidFill>
                  <a:srgbClr val="F4F5F4"/>
                </a:solidFill>
                <a:latin typeface="Arial"/>
                <a:ea typeface="Arial"/>
                <a:cs typeface="Arial"/>
              </a:defRPr>
            </a:lvl1pPr>
            <a:lvl2pPr>
              <a:defRPr sz="2400" b="0">
                <a:solidFill>
                  <a:srgbClr val="F4F5F4"/>
                </a:solidFill>
                <a:latin typeface="Arial"/>
                <a:ea typeface="Arial"/>
                <a:cs typeface="Arial"/>
              </a:defRPr>
            </a:lvl2pPr>
            <a:lvl3pPr>
              <a:defRPr sz="2400" b="0">
                <a:solidFill>
                  <a:srgbClr val="F4F5F4"/>
                </a:solidFill>
                <a:latin typeface="Arial"/>
                <a:ea typeface="Arial"/>
                <a:cs typeface="Arial"/>
              </a:defRPr>
            </a:lvl3pPr>
            <a:lvl4pPr>
              <a:defRPr sz="2400" b="0">
                <a:solidFill>
                  <a:srgbClr val="F4F5F4"/>
                </a:solidFill>
                <a:latin typeface="Arial"/>
                <a:ea typeface="Arial"/>
                <a:cs typeface="Arial"/>
              </a:defRPr>
            </a:lvl4pPr>
            <a:lvl5pPr>
              <a:defRPr sz="2400" b="0">
                <a:solidFill>
                  <a:srgbClr val="F4F5F4"/>
                </a:solidFill>
                <a:latin typeface="Arial"/>
                <a:ea typeface="Arial"/>
                <a:cs typeface="Arial"/>
              </a:defRPr>
            </a:lvl5pPr>
            <a:lvl6pPr>
              <a:defRPr sz="2400" b="0">
                <a:solidFill>
                  <a:srgbClr val="F4F5F4"/>
                </a:solidFill>
                <a:latin typeface="Arial"/>
                <a:ea typeface="Arial"/>
                <a:cs typeface="Arial"/>
              </a:defRPr>
            </a:lvl6pPr>
            <a:lvl7pPr>
              <a:defRPr sz="2400" b="0">
                <a:solidFill>
                  <a:srgbClr val="F4F5F4"/>
                </a:solidFill>
                <a:latin typeface="Arial"/>
                <a:ea typeface="Arial"/>
                <a:cs typeface="Arial"/>
              </a:defRPr>
            </a:lvl7pPr>
            <a:lvl8pPr>
              <a:defRPr sz="2400" b="0">
                <a:solidFill>
                  <a:srgbClr val="F4F5F4"/>
                </a:solidFill>
                <a:latin typeface="Arial"/>
                <a:ea typeface="Arial"/>
                <a:cs typeface="Arial"/>
              </a:defRPr>
            </a:lvl8pPr>
            <a:lvl9pPr>
              <a:defRPr sz="2400" b="0">
                <a:solidFill>
                  <a:srgbClr val="F4F5F4"/>
                </a:solidFill>
                <a:latin typeface="Arial"/>
                <a:ea typeface="Arial"/>
                <a:cs typeface="Arial"/>
              </a:defRPr>
            </a:lvl9pPr>
          </a:lstStyle>
          <a:p xmlns:a="http://schemas.openxmlformats.org/drawingml/2006/main">
            <a:pPr>
              <a:defRPr sz="2400" b="0">
                <a:solidFill>
                  <a:srgbClr val="F4F5F4"/>
                </a:solidFill>
                <a:latin typeface="Arial"/>
                <a:ea typeface="Arial"/>
                <a:cs typeface="Arial"/>
              </a:defRPr>
            </a:pPr>
            <a:r>
              <a:rPr sz="2400" b="0">
                <a:solidFill>
                  <a:srgbClr val="F4F5F4"/>
                </a:solidFill>
                <a:latin typeface="Arial"/>
                <a:ea typeface="Arial"/>
                <a:cs typeface="Arial"/>
              </a:rPr>
              <a:t>MCP tools for QuPath</a:t>
            </a:r>
          </a:p>
        </p:txBody>
      </p:sp>
      <p:sp>
        <p:nvSpPr>
          <p:cNvPr id="4" name="">
            <a:extLst xmlns:a="http://schemas.openxmlformats.org/drawingml/2006/main">
              <a:ext uri="{FF2B5EF4-FFF2-40B4-BE49-F238E27FC236}">
                <a16:creationId xmlns:a16="http://schemas.microsoft.com/office/drawing/2014/main" id="{10AEC02F-D1A4-4938-84E5-D6CA7067AA32}"/>
              </a:ext>
            </a:extLst>
          </p:cNvPr>
          <p:cNvSpPr>
            <a:spLocks xmlns:a="http://schemas.openxmlformats.org/drawingml/2006/main" noGrp="1"/>
          </p:cNvSpPr>
          <p:nvPr/>
        </p:nvSpPr>
        <p:spPr>
          <a:xfrm xmlns:a="http://schemas.openxmlformats.org/drawingml/2006/main">
            <a:off x="742950" y="45529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1AFAB"/>
                </a:solidFill>
                <a:latin typeface="Arial"/>
                <a:ea typeface="Arial"/>
                <a:cs typeface="Arial"/>
              </a:defRPr>
            </a:defPPr>
            <a:lvl1pPr>
              <a:defRPr sz="2250" b="0">
                <a:solidFill>
                  <a:srgbClr val="A1AFAB"/>
                </a:solidFill>
                <a:latin typeface="Arial"/>
                <a:ea typeface="Arial"/>
                <a:cs typeface="Arial"/>
              </a:defRPr>
            </a:lvl1pPr>
            <a:lvl2pPr>
              <a:defRPr sz="2250" b="0">
                <a:solidFill>
                  <a:srgbClr val="A1AFAB"/>
                </a:solidFill>
                <a:latin typeface="Arial"/>
                <a:ea typeface="Arial"/>
                <a:cs typeface="Arial"/>
              </a:defRPr>
            </a:lvl2pPr>
            <a:lvl3pPr>
              <a:defRPr sz="2250" b="0">
                <a:solidFill>
                  <a:srgbClr val="A1AFAB"/>
                </a:solidFill>
                <a:latin typeface="Arial"/>
                <a:ea typeface="Arial"/>
                <a:cs typeface="Arial"/>
              </a:defRPr>
            </a:lvl3pPr>
            <a:lvl4pPr>
              <a:defRPr sz="2250" b="0">
                <a:solidFill>
                  <a:srgbClr val="A1AFAB"/>
                </a:solidFill>
                <a:latin typeface="Arial"/>
                <a:ea typeface="Arial"/>
                <a:cs typeface="Arial"/>
              </a:defRPr>
            </a:lvl4pPr>
            <a:lvl5pPr>
              <a:defRPr sz="2250" b="0">
                <a:solidFill>
                  <a:srgbClr val="A1AFAB"/>
                </a:solidFill>
                <a:latin typeface="Arial"/>
                <a:ea typeface="Arial"/>
                <a:cs typeface="Arial"/>
              </a:defRPr>
            </a:lvl5pPr>
            <a:lvl6pPr>
              <a:defRPr sz="2250" b="0">
                <a:solidFill>
                  <a:srgbClr val="A1AFAB"/>
                </a:solidFill>
                <a:latin typeface="Arial"/>
                <a:ea typeface="Arial"/>
                <a:cs typeface="Arial"/>
              </a:defRPr>
            </a:lvl6pPr>
            <a:lvl7pPr>
              <a:defRPr sz="2250" b="0">
                <a:solidFill>
                  <a:srgbClr val="A1AFAB"/>
                </a:solidFill>
                <a:latin typeface="Arial"/>
                <a:ea typeface="Arial"/>
                <a:cs typeface="Arial"/>
              </a:defRPr>
            </a:lvl7pPr>
            <a:lvl8pPr>
              <a:defRPr sz="2250" b="0">
                <a:solidFill>
                  <a:srgbClr val="A1AFAB"/>
                </a:solidFill>
                <a:latin typeface="Arial"/>
                <a:ea typeface="Arial"/>
                <a:cs typeface="Arial"/>
              </a:defRPr>
            </a:lvl8pPr>
            <a:lvl9pPr>
              <a:defRPr sz="2250" b="0">
                <a:solidFill>
                  <a:srgbClr val="A1AFAB"/>
                </a:solidFill>
                <a:latin typeface="Arial"/>
                <a:ea typeface="Arial"/>
                <a:cs typeface="Arial"/>
              </a:defRPr>
            </a:lvl9pPr>
          </a:lstStyle>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Live application context, command discovery and task knowledge</a:t>
            </a:r>
          </a:p>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share the same execution and approval path.</a:t>
            </a:r>
          </a:p>
        </p:txBody>
      </p:sp>
    </p:spTree>
    <p:extLst>
      <p:ext uri="{BB962C8B-B14F-4D97-AF65-F5344CB8AC3E}">
        <p14:creationId xmlns:p14="http://schemas.microsoft.com/office/powerpoint/2010/main" val="193507644"/>
      </p:ext>
    </p:extLst>
  </p:cSld>
</p:sld>
</file>

<file path=ppt/slides/slide7.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36FD0C-6C70-4003-9E85-EA0E482EBA74}"/>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prototype today</a:t>
            </a:r>
          </a:p>
        </p:txBody>
      </p:sp>
      <p:sp>
        <p:nvSpPr>
          <p:cNvPr id="2" name="">
            <a:extLst xmlns:a="http://schemas.openxmlformats.org/drawingml/2006/main">
              <a:ext uri="{FF2B5EF4-FFF2-40B4-BE49-F238E27FC236}">
                <a16:creationId xmlns:a16="http://schemas.microsoft.com/office/drawing/2014/main" id="{918FC0E2-24B2-403B-8592-3A072A693EA5}"/>
              </a:ext>
            </a:extLst>
          </p:cNvPr>
          <p:cNvSpPr>
            <a:spLocks xmlns:a="http://schemas.openxmlformats.org/drawingml/2006/main" noGrp="1"/>
          </p:cNvSpPr>
          <p:nvPr/>
        </p:nvSpPr>
        <p:spPr>
          <a:xfrm xmlns:a="http://schemas.openxmlformats.org/drawingml/2006/main">
            <a:off x="666750" y="18097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F4F5F4"/>
                </a:solidFill>
                <a:latin typeface="Arial"/>
                <a:ea typeface="Arial"/>
                <a:cs typeface="Arial"/>
              </a:defRPr>
            </a:defPPr>
            <a:lvl1pPr>
              <a:defRPr sz="3675" b="0">
                <a:solidFill>
                  <a:srgbClr val="F4F5F4"/>
                </a:solidFill>
                <a:latin typeface="Arial"/>
                <a:ea typeface="Arial"/>
                <a:cs typeface="Arial"/>
              </a:defRPr>
            </a:lvl1pPr>
            <a:lvl2pPr>
              <a:defRPr sz="3675" b="0">
                <a:solidFill>
                  <a:srgbClr val="F4F5F4"/>
                </a:solidFill>
                <a:latin typeface="Arial"/>
                <a:ea typeface="Arial"/>
                <a:cs typeface="Arial"/>
              </a:defRPr>
            </a:lvl2pPr>
            <a:lvl3pPr>
              <a:defRPr sz="3675" b="0">
                <a:solidFill>
                  <a:srgbClr val="F4F5F4"/>
                </a:solidFill>
                <a:latin typeface="Arial"/>
                <a:ea typeface="Arial"/>
                <a:cs typeface="Arial"/>
              </a:defRPr>
            </a:lvl3pPr>
            <a:lvl4pPr>
              <a:defRPr sz="3675" b="0">
                <a:solidFill>
                  <a:srgbClr val="F4F5F4"/>
                </a:solidFill>
                <a:latin typeface="Arial"/>
                <a:ea typeface="Arial"/>
                <a:cs typeface="Arial"/>
              </a:defRPr>
            </a:lvl4pPr>
            <a:lvl5pPr>
              <a:defRPr sz="3675" b="0">
                <a:solidFill>
                  <a:srgbClr val="F4F5F4"/>
                </a:solidFill>
                <a:latin typeface="Arial"/>
                <a:ea typeface="Arial"/>
                <a:cs typeface="Arial"/>
              </a:defRPr>
            </a:lvl5pPr>
            <a:lvl6pPr>
              <a:defRPr sz="3675" b="0">
                <a:solidFill>
                  <a:srgbClr val="F4F5F4"/>
                </a:solidFill>
                <a:latin typeface="Arial"/>
                <a:ea typeface="Arial"/>
                <a:cs typeface="Arial"/>
              </a:defRPr>
            </a:lvl6pPr>
            <a:lvl7pPr>
              <a:defRPr sz="3675" b="0">
                <a:solidFill>
                  <a:srgbClr val="F4F5F4"/>
                </a:solidFill>
                <a:latin typeface="Arial"/>
                <a:ea typeface="Arial"/>
                <a:cs typeface="Arial"/>
              </a:defRPr>
            </a:lvl7pPr>
            <a:lvl8pPr>
              <a:defRPr sz="3675" b="0">
                <a:solidFill>
                  <a:srgbClr val="F4F5F4"/>
                </a:solidFill>
                <a:latin typeface="Arial"/>
                <a:ea typeface="Arial"/>
                <a:cs typeface="Arial"/>
              </a:defRPr>
            </a:lvl8pPr>
            <a:lvl9pPr>
              <a:defRPr sz="3675" b="0">
                <a:solidFill>
                  <a:srgbClr val="F4F5F4"/>
                </a:solidFill>
                <a:latin typeface="Arial"/>
                <a:ea typeface="Arial"/>
                <a:cs typeface="Arial"/>
              </a:defRPr>
            </a:lvl9pPr>
          </a:lstStyle>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OpenAI text now controls</a:t>
            </a:r>
          </a:p>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the real QuPath viewer.</a:t>
            </a:r>
          </a:p>
        </p:txBody>
      </p:sp>
      <p:sp>
        <p:nvSpPr>
          <p:cNvPr id="3" name="">
            <a:extLst xmlns:a="http://schemas.openxmlformats.org/drawingml/2006/main">
              <a:ext uri="{FF2B5EF4-FFF2-40B4-BE49-F238E27FC236}">
                <a16:creationId xmlns:a16="http://schemas.microsoft.com/office/drawing/2014/main" id="{DCC80174-069D-4058-8810-BB93FCD0C4BA}"/>
              </a:ext>
            </a:extLst>
          </p:cNvPr>
          <p:cNvSpPr>
            <a:spLocks xmlns:a="http://schemas.openxmlformats.org/drawingml/2006/main" noGrp="1"/>
          </p:cNvSpPr>
          <p:nvPr/>
        </p:nvSpPr>
        <p:spPr>
          <a:xfrm xmlns:a="http://schemas.openxmlformats.org/drawingml/2006/main">
            <a:off x="685800" y="3810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Actual requests pass fresh AWS credit checks.</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Live voice still needs a credit-covered endpoint.</a:t>
            </a:r>
          </a:p>
        </p:txBody>
      </p:sp>
      <p:sp>
        <p:nvSpPr>
          <p:cNvPr id="4" name="">
            <a:extLst xmlns:a="http://schemas.openxmlformats.org/drawingml/2006/main">
              <a:ext uri="{FF2B5EF4-FFF2-40B4-BE49-F238E27FC236}">
                <a16:creationId xmlns:a16="http://schemas.microsoft.com/office/drawing/2014/main" id="{C8C55EFC-A6D4-4C3D-9CD1-822518774A56}"/>
              </a:ext>
            </a:extLst>
          </p:cNvPr>
          <p:cNvSpPr>
            <a:spLocks xmlns:a="http://schemas.openxmlformats.org/drawingml/2006/main" noGrp="1"/>
          </p:cNvSpPr>
          <p:nvPr/>
        </p:nvSpPr>
        <p:spPr>
          <a:xfrm xmlns:a="http://schemas.openxmlformats.org/drawingml/2006/main">
            <a:off x="685800" y="5219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3EAC9"/>
                </a:solidFill>
                <a:latin typeface="Arial"/>
                <a:ea typeface="Arial"/>
                <a:cs typeface="Arial"/>
              </a:defRPr>
            </a:defPPr>
            <a:lvl1pPr>
              <a:defRPr sz="2625" b="0">
                <a:solidFill>
                  <a:srgbClr val="A3EAC9"/>
                </a:solidFill>
                <a:latin typeface="Arial"/>
                <a:ea typeface="Arial"/>
                <a:cs typeface="Arial"/>
              </a:defRPr>
            </a:lvl1pPr>
            <a:lvl2pPr>
              <a:defRPr sz="2625" b="0">
                <a:solidFill>
                  <a:srgbClr val="A3EAC9"/>
                </a:solidFill>
                <a:latin typeface="Arial"/>
                <a:ea typeface="Arial"/>
                <a:cs typeface="Arial"/>
              </a:defRPr>
            </a:lvl2pPr>
            <a:lvl3pPr>
              <a:defRPr sz="2625" b="0">
                <a:solidFill>
                  <a:srgbClr val="A3EAC9"/>
                </a:solidFill>
                <a:latin typeface="Arial"/>
                <a:ea typeface="Arial"/>
                <a:cs typeface="Arial"/>
              </a:defRPr>
            </a:lvl3pPr>
            <a:lvl4pPr>
              <a:defRPr sz="2625" b="0">
                <a:solidFill>
                  <a:srgbClr val="A3EAC9"/>
                </a:solidFill>
                <a:latin typeface="Arial"/>
                <a:ea typeface="Arial"/>
                <a:cs typeface="Arial"/>
              </a:defRPr>
            </a:lvl4pPr>
            <a:lvl5pPr>
              <a:defRPr sz="2625" b="0">
                <a:solidFill>
                  <a:srgbClr val="A3EAC9"/>
                </a:solidFill>
                <a:latin typeface="Arial"/>
                <a:ea typeface="Arial"/>
                <a:cs typeface="Arial"/>
              </a:defRPr>
            </a:lvl5pPr>
            <a:lvl6pPr>
              <a:defRPr sz="2625" b="0">
                <a:solidFill>
                  <a:srgbClr val="A3EAC9"/>
                </a:solidFill>
                <a:latin typeface="Arial"/>
                <a:ea typeface="Arial"/>
                <a:cs typeface="Arial"/>
              </a:defRPr>
            </a:lvl6pPr>
            <a:lvl7pPr>
              <a:defRPr sz="2625" b="0">
                <a:solidFill>
                  <a:srgbClr val="A3EAC9"/>
                </a:solidFill>
                <a:latin typeface="Arial"/>
                <a:ea typeface="Arial"/>
                <a:cs typeface="Arial"/>
              </a:defRPr>
            </a:lvl7pPr>
            <a:lvl8pPr>
              <a:defRPr sz="2625" b="0">
                <a:solidFill>
                  <a:srgbClr val="A3EAC9"/>
                </a:solidFill>
                <a:latin typeface="Arial"/>
                <a:ea typeface="Arial"/>
                <a:cs typeface="Arial"/>
              </a:defRPr>
            </a:lvl8pPr>
            <a:lvl9pPr>
              <a:defRPr sz="2625" b="0">
                <a:solidFill>
                  <a:srgbClr val="A3EAC9"/>
                </a:solidFill>
                <a:latin typeface="Arial"/>
                <a:ea typeface="Arial"/>
                <a:cs typeface="Arial"/>
              </a:defRPr>
            </a:lvl9pPr>
          </a:lstStyle>
          <a:p xmlns:a="http://schemas.openxmlformats.org/drawingml/2006/main">
            <a:pPr>
              <a:defRPr sz="2625" b="0">
                <a:solidFill>
                  <a:srgbClr val="A3EAC9"/>
                </a:solidFill>
                <a:latin typeface="Arial"/>
                <a:ea typeface="Arial"/>
                <a:cs typeface="Arial"/>
              </a:defRPr>
            </a:pPr>
            <a:r>
              <a:rPr sz="2625" b="0">
                <a:solidFill>
                  <a:srgbClr val="A3EAC9"/>
                </a:solidFill>
                <a:latin typeface="Arial"/>
                <a:ea typeface="Arial"/>
                <a:cs typeface="Arial"/>
              </a:rPr>
              <a:t>Next: try it with a researcher.</a:t>
            </a:r>
          </a:p>
        </p:txBody>
      </p:sp>
    </p:spTree>
    <p:extLst>
      <p:ext uri="{BB962C8B-B14F-4D97-AF65-F5344CB8AC3E}">
        <p14:creationId xmlns:p14="http://schemas.microsoft.com/office/powerpoint/2010/main" val="11684669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2026-10-17T02:59:45.9510000Z</dcterms:created>
  <dcterms:modified xsi:type="dcterms:W3CDTF">2026-10-17T02:59:45.9510000Z</dcterms:modified>
</coreProperties>
</file>