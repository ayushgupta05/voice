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88f8ba079147cd" /><Relationship Type="http://schemas.openxmlformats.org/officeDocument/2006/relationships/extended-properties" Target="/docProps/app.xml" Id="R600be4c15fee4a2a" /><Relationship Type="http://schemas.openxmlformats.org/officeDocument/2006/relationships/officeDocument" Target="/ppt/presentation.xml" Id="R04d7c438e6c44e80" /></Relationships>
</file>

<file path=ppt/presentation.xml><?xml version="1.0" encoding="utf-8"?>
<p:presentation xmlns:p="http://schemas.openxmlformats.org/presentationml/2006/main">
  <p:sldMasterIdLst>
    <p:sldMasterId xmlns:r="http://schemas.openxmlformats.org/officeDocument/2006/relationships" id="2147483648" r:id="R0d93d72c2b8e4c0a"/>
  </p:sldMasterIdLst>
  <p:notesMasterIdLst>
    <p:notesMasterId xmlns:r="http://schemas.openxmlformats.org/officeDocument/2006/relationships" r:id="R5a1a38abad044a16"/>
  </p:notesMasterIdLst>
  <p:sldIdLst>
    <p:sldId xmlns:r="http://schemas.openxmlformats.org/officeDocument/2006/relationships" id="256" r:id="Rf4f440f541ac4ada"/>
    <p:sldId xmlns:r="http://schemas.openxmlformats.org/officeDocument/2006/relationships" id="257" r:id="R8e15f5d68f7a4068"/>
    <p:sldId xmlns:r="http://schemas.openxmlformats.org/officeDocument/2006/relationships" id="258" r:id="R8bbb35e2f647459d"/>
    <p:sldId xmlns:r="http://schemas.openxmlformats.org/officeDocument/2006/relationships" id="259" r:id="R35a6016a606a4b34"/>
    <p:sldId xmlns:r="http://schemas.openxmlformats.org/officeDocument/2006/relationships" id="260" r:id="R5d993e7e2b0f479b"/>
    <p:sldId xmlns:r="http://schemas.openxmlformats.org/officeDocument/2006/relationships" id="261" r:id="R35d3e76e2677468a"/>
    <p:sldId xmlns:r="http://schemas.openxmlformats.org/officeDocument/2006/relationships" id="262" r:id="R541381f4178e42c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a92677604442d5" /><Relationship Type="http://schemas.openxmlformats.org/officeDocument/2006/relationships/slideMaster" Target="/ppt/slideMasters/slideMaster1.xml" Id="R0d93d72c2b8e4c0a" /><Relationship Type="http://schemas.openxmlformats.org/officeDocument/2006/relationships/notesMaster" Target="/ppt/notesMasters/notesMaster1.xml" Id="R5a1a38abad044a16" /><Relationship Type="http://schemas.openxmlformats.org/officeDocument/2006/relationships/presProps" Target="/ppt/presProps.xml" Id="R7910e81468bd4fb5" /><Relationship Type="http://schemas.openxmlformats.org/officeDocument/2006/relationships/tableStyles" Target="/ppt/tableStyles.xml" Id="Rc8b159351cf740de" /><Relationship Type="http://schemas.openxmlformats.org/officeDocument/2006/relationships/slide" Target="/ppt/slides/slide1.xml" Id="Rf4f440f541ac4ada" /><Relationship Type="http://schemas.openxmlformats.org/officeDocument/2006/relationships/slide" Target="/ppt/slides/slide2.xml" Id="R8e15f5d68f7a4068" /><Relationship Type="http://schemas.openxmlformats.org/officeDocument/2006/relationships/slide" Target="/ppt/slides/slide3.xml" Id="R8bbb35e2f647459d" /><Relationship Type="http://schemas.openxmlformats.org/officeDocument/2006/relationships/slide" Target="/ppt/slides/slide4.xml" Id="R35a6016a606a4b34" /><Relationship Type="http://schemas.openxmlformats.org/officeDocument/2006/relationships/slide" Target="/ppt/slides/slide5.xml" Id="R5d993e7e2b0f479b" /><Relationship Type="http://schemas.openxmlformats.org/officeDocument/2006/relationships/slide" Target="/ppt/slides/slide6.xml" Id="R35d3e76e2677468a" /><Relationship Type="http://schemas.openxmlformats.org/officeDocument/2006/relationships/slide" Target="/ppt/slides/slide7.xml" Id="R541381f4178e42c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507e45c33640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be5683ec184418" /><Relationship Type="http://schemas.openxmlformats.org/officeDocument/2006/relationships/notesMaster" Target="/ppt/notesMasters/notesMaster1.xml" Id="R093e96c88f1b4406"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9c7e55769c418d" /><Relationship Type="http://schemas.openxmlformats.org/officeDocument/2006/relationships/notesMaster" Target="/ppt/notesMasters/notesMaster1.xml" Id="Rde62de0977624365"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3b3cc5faee4a09" /><Relationship Type="http://schemas.openxmlformats.org/officeDocument/2006/relationships/notesMaster" Target="/ppt/notesMasters/notesMaster1.xml" Id="Rebacd8fe68cd4a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557f29316f42f4" /><Relationship Type="http://schemas.openxmlformats.org/officeDocument/2006/relationships/notesMaster" Target="/ppt/notesMasters/notesMaster1.xml" Id="Re3b857d7159241e1" /></Relationships>
</file>

<file path=ppt/notesSlides/_rels/notesSlide5.xml.rels>&#65279;<?xml version="1.0" encoding="utf-8"?><Relationships xmlns="http://schemas.openxmlformats.org/package/2006/relationships"><Relationship Type="http://schemas.openxmlformats.org/officeDocument/2006/relationships/slide" Target="/ppt/slides/slide5.xml" Id="Rc9e562c936b94ae4" /><Relationship Type="http://schemas.openxmlformats.org/officeDocument/2006/relationships/notesMaster" Target="/ppt/notesMasters/notesMaster1.xml" Id="R4ede8709415b48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3180a7e62d4279" /><Relationship Type="http://schemas.openxmlformats.org/officeDocument/2006/relationships/notesMaster" Target="/ppt/notesMasters/notesMaster1.xml" Id="Re717dc2844944e6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8945dbe25949dd" /><Relationship Type="http://schemas.openxmlformats.org/officeDocument/2006/relationships/notesMaster" Target="/ppt/notesMasters/notesMaster1.xml" Id="Rbb2defff4ccc436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Luma makes the interface to established scientific applications conversational. The current prototype targets QuPath. The visual is an actual QuPath viewer capture of public OpenSlide OS-2.ndpi, not a generated scientific result. Source: https://openslide.cs.cmu.edu/download/openslide-testdata/Hamamatsu/ . Interaction reference: https://github.com/farzaa/clicky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statement comes from the project brief and hackathon scope. We have not yet measured time savings or validated usability with researchers. Source: https://luma.com/vdq0qw9u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proposed product experience combines continuous voice with an application adapter. Current verified capabilities include semantic context, MCP, native companion, approvals, actual cell analysis and hierarchy recovery. The separate Realtime and GPT-Live transports have local protocol tests. Actual AWS-credit OpenAI text has focused the real viewer through companion routing and completed the fixed scientific analysis through the shared backend/Runtime. The proposed continuous spoken interaction remains separate from those text results. Production voice remains disabled because AWS-credit coverage is unverified. The phrases on this slide are intended demo requests, not evidence of a completed funded voice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OpenAI scientific-agent test, 17 October 2026, 05:53 BST. The credit-checked GPT-OSS-120B backend executed H-DAB, the fixed ROI x=50000 y=26000 w=2200 h=2200, watershed cell detection, Nucleus: DAB OD mean &gt;=0.2 classification, comparison and empty-baseline restoration. Independent actual QuPath observations: 899 cells, 49 Positive, 850 Negative. The structured model answer matched. This single predefined workflow took 21,471 ms and eight model requests with five test-only simulated decisions under explicit user authorization. Ordinary production changes still require human approval. The image is the earlier real public-slide capture for this same ROI and algorithm/threshold, not a new screenshot of the model run. Counts verify software execution; segmentation/biology/clinical validity is unestablished. Sources: docs/pitch/analysis-model-evidence.json, docs/pitch/integration-evidence.json, docs/SCIENTIFIC-AGENT-TEST.md and https://openslide.cs.cmu.edu/download/openslide-testdata/Hamamatsu/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gateway and application adapter enforce approvals. An approval binds exact arguments and the observed image/selection/hierarchy state. Native control approvals also bind reviewed dialog state. An interrupted or rejected proposal does not automatically execute. The actual OpenAI test compared counts and restored the empty baseline. Its five automatic decisions were confined to the explicitly preauthorized disposable fixture. The first real attempt stopped on invalid later arguments after detection and trusted cleanup restored its known baseline; the corrected run completed all steps. Production candidate-count previews now distinguish existing-class filters from assigned Positive/Negative labels, with contract and actual empty-scope refusal checks. Foreground layout of new review content is not yet checked. Hierarchy checkpoints do not undo file writes, image settings, arbitrary scripts or external plugin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repository exposes 32 MCP tools, a live menu catalog, visible JavaFX dialog inspection, an approval-gated Groovy escape hatch, a qupath://guide resource and a prompt. The current pinned local documentation corpus contains 67 authored/upstream documents. Read-only API lookup also indexes 879 Java files directly from the pinned Git commit; it does not execute the reference source. Seven newer import/navigation/summary tools pass actual-library synthetic contracts and gateway approval tests, while their new native application flows await manual unlock and disposable-instance authorization. These give discoverable breadth but do not prove every command or third-party plugin works end to end. Other application adapters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Prototype status at 17 October 2026, 06:20 BST: the real credit-checked OpenAI backend completed the fixed public QuPath analysis/classification/comparison/restoration sequence with independent 899/49/850 counts and a restored empty hierarchy. It took eight requests/21,471 ms with five preauthorized test-only simulated approvals; this is not a live-voice or researcher-completion benchmark. An earlier six-request attempt stopped at argument validation and restored safely; both attempts are included. Cumulative 26 completed model requests estimate $0.02179905 token usage, with all $26 conservative attempt reserves retained under the unchanged $200 cap. Invoice/credit settlement is unreconciled. No new project cloud resource/model agreement or direct cash fallback. Actual companion WebSocket text focus and pinned API declaration retrieval are separately verified. Original stock QuPath bundle matches the verified package and retains its signature; Luma uses a separate extension/launcher/companion. New native/import flows still need normal reload, manual unlock and scoped test approval. GPT-Live remains disabled because no AWS-credit-covered frontend endpoint is verified. Native microphone/playback hardware and production voice wiring remain. Sources: docs/pitch/analysis-model-evidence.json, docs/pitch/analysis-model-initial-failure.json, docs/pitch/qupath-preservation-evidence.json, docs/FUNDING.md and docs/CAPABILITIES.md. Repo: https://github.com/AyushGupta05/Voice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ee563b86b848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40122ba1fc746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2b5ac51ee674d4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3a7246f8cc44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a4bb1d1bb42490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7fcbfc12e95430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DDBA40-F922-4A34-8FF3-E5CE3DE736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6BD38C0-FFB0-405D-8484-3DF3827F1F7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B393ED0-0486-4B5D-A736-11407894C0B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9216353-81D4-4247-BD5C-ECEC027E6E9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840B890-6FBE-4CBF-B2E4-F2136302E04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40FF3E4-A684-4A8A-BCD9-A402C35AB4A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24AD508-D649-469E-99D0-211A7FE678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F3E8084-B5B0-4D77-A39E-BEFB5BC6AF4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AC7171-A9EC-4BC2-8C89-5112617D1C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8BD84F-6F45-4879-B10F-B2162A35D6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a7f3a99753645bb" /><Relationship Type="http://schemas.openxmlformats.org/officeDocument/2006/relationships/slideLayout" Target="/ppt/slideLayouts/slideLayout1.xml" Id="R1b4f3befc33e4af3" /><Relationship Type="http://schemas.openxmlformats.org/officeDocument/2006/relationships/slideLayout" Target="/ppt/slideLayouts/slideLayout2.xml" Id="Ra1fc6121758d4d1c" /><Relationship Type="http://schemas.openxmlformats.org/officeDocument/2006/relationships/slideLayout" Target="/ppt/slideLayouts/slideLayout3.xml" Id="Ra623ae206f4c42b5" /><Relationship Type="http://schemas.openxmlformats.org/officeDocument/2006/relationships/slideLayout" Target="/ppt/slideLayouts/slideLayout4.xml" Id="R0cf26f49f36f4c68" /><Relationship Type="http://schemas.openxmlformats.org/officeDocument/2006/relationships/slideLayout" Target="/ppt/slideLayouts/slideLayout5.xml" Id="R6f7964777a054907" /><Relationship Type="http://schemas.openxmlformats.org/officeDocument/2006/relationships/slideLayout" Target="/ppt/slideLayouts/slideLayout6.xml" Id="Rf51944b56ca142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4f3befc33e4af3"/>
    <p:sldLayoutId xmlns:r="http://schemas.openxmlformats.org/officeDocument/2006/relationships" id="2147483650" r:id="Ra1fc6121758d4d1c"/>
    <p:sldLayoutId xmlns:r="http://schemas.openxmlformats.org/officeDocument/2006/relationships" id="2147483651" r:id="Ra623ae206f4c42b5"/>
    <p:sldLayoutId xmlns:r="http://schemas.openxmlformats.org/officeDocument/2006/relationships" id="2147483652" r:id="R0cf26f49f36f4c68"/>
    <p:sldLayoutId xmlns:r="http://schemas.openxmlformats.org/officeDocument/2006/relationships" id="2147483653" r:id="R6f7964777a054907"/>
    <p:sldLayoutId xmlns:r="http://schemas.openxmlformats.org/officeDocument/2006/relationships" id="2147483654" r:id="Rf51944b56ca142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de75415ff954108" /><Relationship Type="http://schemas.openxmlformats.org/officeDocument/2006/relationships/image" Target="/ppt/media/image.png" Id="Rc969ea968a454ab7" /><Relationship Type="http://schemas.openxmlformats.org/officeDocument/2006/relationships/notesSlide" Target="/ppt/notesSlides/notesSlide1.xml" Id="Rb639fb0f001d45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f6fc16f4aa047cc" /><Relationship Type="http://schemas.openxmlformats.org/officeDocument/2006/relationships/notesSlide" Target="/ppt/notesSlides/notesSlide2.xml" Id="Ra8b7677da22e4bc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60369f44bdf4441" /><Relationship Type="http://schemas.openxmlformats.org/officeDocument/2006/relationships/notesSlide" Target="/ppt/notesSlides/notesSlide3.xml" Id="R49251e482a4e4d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a54484741bc4b65" /><Relationship Type="http://schemas.openxmlformats.org/officeDocument/2006/relationships/image" Target="/ppt/media/image2.png" Id="Rc35382b300874a97" /><Relationship Type="http://schemas.openxmlformats.org/officeDocument/2006/relationships/notesSlide" Target="/ppt/notesSlides/notesSlide4.xml" Id="Rfeb9f06f5b0b4c2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254708f10a24fbc" /><Relationship Type="http://schemas.openxmlformats.org/officeDocument/2006/relationships/notesSlide" Target="/ppt/notesSlides/notesSlide5.xml" Id="Rd13e9b922bb74c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782f76a8b740b0" /><Relationship Type="http://schemas.openxmlformats.org/officeDocument/2006/relationships/notesSlide" Target="/ppt/notesSlides/notesSlide6.xml" Id="R06a68ff074974c9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c6f6af67ce743c8" /><Relationship Type="http://schemas.openxmlformats.org/officeDocument/2006/relationships/notesSlide" Target="/ppt/notesSlides/notesSlide7.xml" Id="Rfe53caa7ff574a52" /></Relationships>
</file>

<file path=ppt/slides/slide1.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4E4150-43CE-4033-9F55-00C1D6C78ED2}"/>
              </a:ext>
            </a:extLst>
          </p:cNvPr>
          <p:cNvSpPr>
            <a:spLocks xmlns:a="http://schemas.openxmlformats.org/drawingml/2006/main" noGrp="1"/>
          </p:cNvSpPr>
          <p:nvPr/>
        </p:nvSpPr>
        <p:spPr>
          <a:xfrm xmlns:a="http://schemas.openxmlformats.org/drawingml/2006/main">
            <a:off x="609600" y="590550"/>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A3EAC9"/>
                </a:solidFill>
                <a:latin typeface="Arial"/>
                <a:ea typeface="Arial"/>
                <a:cs typeface="Arial"/>
              </a:defRPr>
            </a:defPPr>
            <a:lvl1pPr>
              <a:defRPr sz="6600" b="1">
                <a:solidFill>
                  <a:srgbClr val="A3EAC9"/>
                </a:solidFill>
                <a:latin typeface="Arial"/>
                <a:ea typeface="Arial"/>
                <a:cs typeface="Arial"/>
              </a:defRPr>
            </a:lvl1pPr>
            <a:lvl2pPr>
              <a:defRPr sz="6600" b="1">
                <a:solidFill>
                  <a:srgbClr val="A3EAC9"/>
                </a:solidFill>
                <a:latin typeface="Arial"/>
                <a:ea typeface="Arial"/>
                <a:cs typeface="Arial"/>
              </a:defRPr>
            </a:lvl2pPr>
            <a:lvl3pPr>
              <a:defRPr sz="6600" b="1">
                <a:solidFill>
                  <a:srgbClr val="A3EAC9"/>
                </a:solidFill>
                <a:latin typeface="Arial"/>
                <a:ea typeface="Arial"/>
                <a:cs typeface="Arial"/>
              </a:defRPr>
            </a:lvl3pPr>
            <a:lvl4pPr>
              <a:defRPr sz="6600" b="1">
                <a:solidFill>
                  <a:srgbClr val="A3EAC9"/>
                </a:solidFill>
                <a:latin typeface="Arial"/>
                <a:ea typeface="Arial"/>
                <a:cs typeface="Arial"/>
              </a:defRPr>
            </a:lvl4pPr>
            <a:lvl5pPr>
              <a:defRPr sz="6600" b="1">
                <a:solidFill>
                  <a:srgbClr val="A3EAC9"/>
                </a:solidFill>
                <a:latin typeface="Arial"/>
                <a:ea typeface="Arial"/>
                <a:cs typeface="Arial"/>
              </a:defRPr>
            </a:lvl5pPr>
            <a:lvl6pPr>
              <a:defRPr sz="6600" b="1">
                <a:solidFill>
                  <a:srgbClr val="A3EAC9"/>
                </a:solidFill>
                <a:latin typeface="Arial"/>
                <a:ea typeface="Arial"/>
                <a:cs typeface="Arial"/>
              </a:defRPr>
            </a:lvl6pPr>
            <a:lvl7pPr>
              <a:defRPr sz="6600" b="1">
                <a:solidFill>
                  <a:srgbClr val="A3EAC9"/>
                </a:solidFill>
                <a:latin typeface="Arial"/>
                <a:ea typeface="Arial"/>
                <a:cs typeface="Arial"/>
              </a:defRPr>
            </a:lvl7pPr>
            <a:lvl8pPr>
              <a:defRPr sz="6600" b="1">
                <a:solidFill>
                  <a:srgbClr val="A3EAC9"/>
                </a:solidFill>
                <a:latin typeface="Arial"/>
                <a:ea typeface="Arial"/>
                <a:cs typeface="Arial"/>
              </a:defRPr>
            </a:lvl8pPr>
            <a:lvl9pPr>
              <a:defRPr sz="6600" b="1">
                <a:solidFill>
                  <a:srgbClr val="A3EAC9"/>
                </a:solidFill>
                <a:latin typeface="Arial"/>
                <a:ea typeface="Arial"/>
                <a:cs typeface="Arial"/>
              </a:defRPr>
            </a:lvl9pPr>
          </a:lstStyle>
          <a:p xmlns:a="http://schemas.openxmlformats.org/drawingml/2006/main">
            <a:pPr>
              <a:defRPr sz="6600" b="1">
                <a:solidFill>
                  <a:srgbClr val="A3EAC9"/>
                </a:solidFill>
                <a:latin typeface="Arial"/>
                <a:ea typeface="Arial"/>
                <a:cs typeface="Arial"/>
              </a:defRPr>
            </a:pPr>
            <a:r>
              <a:rPr sz="6600" b="1">
                <a:solidFill>
                  <a:srgbClr val="A3EAC9"/>
                </a:solidFill>
                <a:latin typeface="Arial"/>
                <a:ea typeface="Arial"/>
                <a:cs typeface="Arial"/>
              </a:rPr>
              <a:t>luma</a:t>
            </a:r>
          </a:p>
        </p:txBody>
      </p:sp>
      <p:sp>
        <p:nvSpPr>
          <p:cNvPr id="2" name="">
            <a:extLst xmlns:a="http://schemas.openxmlformats.org/drawingml/2006/main">
              <a:ext uri="{FF2B5EF4-FFF2-40B4-BE49-F238E27FC236}">
                <a16:creationId xmlns:a16="http://schemas.microsoft.com/office/drawing/2014/main" id="{BAE74DA5-B814-4E2C-B3EC-1B5FD10E4142}"/>
              </a:ext>
            </a:extLst>
          </p:cNvPr>
          <p:cNvSpPr>
            <a:spLocks xmlns:a="http://schemas.openxmlformats.org/drawingml/2006/main" noGrp="1"/>
          </p:cNvSpPr>
          <p:nvPr/>
        </p:nvSpPr>
        <p:spPr>
          <a:xfrm xmlns:a="http://schemas.openxmlformats.org/drawingml/2006/main">
            <a:off x="647700" y="2266950"/>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Scientific software,</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in conversation</a:t>
            </a:r>
          </a:p>
        </p:txBody>
      </p:sp>
      <p:sp>
        <p:nvSpPr>
          <p:cNvPr id="3" name="">
            <a:extLst xmlns:a="http://schemas.openxmlformats.org/drawingml/2006/main">
              <a:ext uri="{FF2B5EF4-FFF2-40B4-BE49-F238E27FC236}">
                <a16:creationId xmlns:a16="http://schemas.microsoft.com/office/drawing/2014/main" id="{A1651758-2627-4796-9AC4-400DE24E5463}"/>
              </a:ext>
            </a:extLst>
          </p:cNvPr>
          <p:cNvSpPr>
            <a:spLocks xmlns:a="http://schemas.openxmlformats.org/drawingml/2006/main" noGrp="1"/>
          </p:cNvSpPr>
          <p:nvPr/>
        </p:nvSpPr>
        <p:spPr>
          <a:xfrm xmlns:a="http://schemas.openxmlformats.org/drawingml/2006/main">
            <a:off x="666750" y="5334000"/>
            <a:ext cx="5238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A voice-native companion for QuPath</a:t>
            </a:r>
          </a:p>
        </p:txBody>
      </p:sp>
      <p:pic>
        <p:nvPicPr>
          <p:cNvPr id="4" name="">
            <a:extLst xmlns:a="http://schemas.openxmlformats.org/drawingml/2006/main">
              <a:ext uri="{FF2B5EF4-FFF2-40B4-BE49-F238E27FC236}">
                <a16:creationId xmlns:a16="http://schemas.microsoft.com/office/drawing/2014/main" id="{0A9F1A93-37FE-4655-A7D3-73A7FB48EF99}"/>
              </a:ext>
            </a:extLst>
          </p:cNvPr>
          <p:cNvPicPr>
            <a:picLocks xmlns:a="http://schemas.openxmlformats.org/drawingml/2006/main" noChangeAspect="1"/>
          </p:cNvPicPr>
          <p:nvPr/>
        </p:nvPicPr>
        <p:blipFill>
          <a:blip xmlns:r="http://schemas.openxmlformats.org/officeDocument/2006/relationships" xmlns:a="http://schemas.openxmlformats.org/drawingml/2006/main" r:embed="Rc969ea968a454ab7"/>
          <a:stretch xmlns:a="http://schemas.openxmlformats.org/drawingml/2006/main"/>
        </p:blipFill>
        <p:spPr>
          <a:xfrm xmlns:a="http://schemas.openxmlformats.org/drawingml/2006/main">
            <a:off x="6286500" y="1092113"/>
            <a:ext cx="5429250" cy="4388024"/>
          </a:xfrm>
          <a:prstGeom xmlns:a="http://schemas.openxmlformats.org/drawingml/2006/main" prst="rect">
            <a:avLst/>
          </a:prstGeom>
        </p:spPr>
      </p:pic>
    </p:spTree>
    <p:extLst>
      <p:ext uri="{BB962C8B-B14F-4D97-AF65-F5344CB8AC3E}">
        <p14:creationId xmlns:p14="http://schemas.microsoft.com/office/powerpoint/2010/main" val="1806215355"/>
      </p:ext>
    </p:extLst>
  </p:cSld>
</p:sld>
</file>

<file path=ppt/slides/slide2.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35EB004-12C9-4873-9A23-8AC5ADA34A85}"/>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learning gap</a:t>
            </a:r>
          </a:p>
        </p:txBody>
      </p:sp>
      <p:sp>
        <p:nvSpPr>
          <p:cNvPr id="2" name="">
            <a:extLst xmlns:a="http://schemas.openxmlformats.org/drawingml/2006/main">
              <a:ext uri="{FF2B5EF4-FFF2-40B4-BE49-F238E27FC236}">
                <a16:creationId xmlns:a16="http://schemas.microsoft.com/office/drawing/2014/main" id="{509C8049-F808-47D3-904F-24F043D63609}"/>
              </a:ext>
            </a:extLst>
          </p:cNvPr>
          <p:cNvSpPr>
            <a:spLocks xmlns:a="http://schemas.openxmlformats.org/drawingml/2006/main" noGrp="1"/>
          </p:cNvSpPr>
          <p:nvPr/>
        </p:nvSpPr>
        <p:spPr>
          <a:xfrm xmlns:a="http://schemas.openxmlformats.org/drawingml/2006/main">
            <a:off x="647700" y="1809750"/>
            <a:ext cx="10477500" cy="2476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00" b="0">
                <a:solidFill>
                  <a:srgbClr val="F4F5F4"/>
                </a:solidFill>
                <a:latin typeface="Arial"/>
                <a:ea typeface="Arial"/>
                <a:cs typeface="Arial"/>
              </a:defRPr>
            </a:defPPr>
            <a:lvl1pPr>
              <a:defRPr sz="3900" b="0">
                <a:solidFill>
                  <a:srgbClr val="F4F5F4"/>
                </a:solidFill>
                <a:latin typeface="Arial"/>
                <a:ea typeface="Arial"/>
                <a:cs typeface="Arial"/>
              </a:defRPr>
            </a:lvl1pPr>
            <a:lvl2pPr>
              <a:defRPr sz="3900" b="0">
                <a:solidFill>
                  <a:srgbClr val="F4F5F4"/>
                </a:solidFill>
                <a:latin typeface="Arial"/>
                <a:ea typeface="Arial"/>
                <a:cs typeface="Arial"/>
              </a:defRPr>
            </a:lvl2pPr>
            <a:lvl3pPr>
              <a:defRPr sz="3900" b="0">
                <a:solidFill>
                  <a:srgbClr val="F4F5F4"/>
                </a:solidFill>
                <a:latin typeface="Arial"/>
                <a:ea typeface="Arial"/>
                <a:cs typeface="Arial"/>
              </a:defRPr>
            </a:lvl3pPr>
            <a:lvl4pPr>
              <a:defRPr sz="3900" b="0">
                <a:solidFill>
                  <a:srgbClr val="F4F5F4"/>
                </a:solidFill>
                <a:latin typeface="Arial"/>
                <a:ea typeface="Arial"/>
                <a:cs typeface="Arial"/>
              </a:defRPr>
            </a:lvl4pPr>
            <a:lvl5pPr>
              <a:defRPr sz="3900" b="0">
                <a:solidFill>
                  <a:srgbClr val="F4F5F4"/>
                </a:solidFill>
                <a:latin typeface="Arial"/>
                <a:ea typeface="Arial"/>
                <a:cs typeface="Arial"/>
              </a:defRPr>
            </a:lvl5pPr>
            <a:lvl6pPr>
              <a:defRPr sz="3900" b="0">
                <a:solidFill>
                  <a:srgbClr val="F4F5F4"/>
                </a:solidFill>
                <a:latin typeface="Arial"/>
                <a:ea typeface="Arial"/>
                <a:cs typeface="Arial"/>
              </a:defRPr>
            </a:lvl6pPr>
            <a:lvl7pPr>
              <a:defRPr sz="3900" b="0">
                <a:solidFill>
                  <a:srgbClr val="F4F5F4"/>
                </a:solidFill>
                <a:latin typeface="Arial"/>
                <a:ea typeface="Arial"/>
                <a:cs typeface="Arial"/>
              </a:defRPr>
            </a:lvl7pPr>
            <a:lvl8pPr>
              <a:defRPr sz="3900" b="0">
                <a:solidFill>
                  <a:srgbClr val="F4F5F4"/>
                </a:solidFill>
                <a:latin typeface="Arial"/>
                <a:ea typeface="Arial"/>
                <a:cs typeface="Arial"/>
              </a:defRPr>
            </a:lvl8pPr>
            <a:lvl9pPr>
              <a:defRPr sz="3900" b="0">
                <a:solidFill>
                  <a:srgbClr val="F4F5F4"/>
                </a:solidFill>
                <a:latin typeface="Arial"/>
                <a:ea typeface="Arial"/>
                <a:cs typeface="Arial"/>
              </a:defRPr>
            </a:lvl9pPr>
          </a:lstStyle>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Researchers know the question.</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The software still demands</a:t>
            </a:r>
          </a:p>
          <a:p xmlns:a="http://schemas.openxmlformats.org/drawingml/2006/main">
            <a:pPr>
              <a:defRPr sz="3900" b="0">
                <a:solidFill>
                  <a:srgbClr val="F4F5F4"/>
                </a:solidFill>
                <a:latin typeface="Arial"/>
                <a:ea typeface="Arial"/>
                <a:cs typeface="Arial"/>
              </a:defRPr>
            </a:pPr>
            <a:r>
              <a:rPr sz="3900" b="0">
                <a:solidFill>
                  <a:srgbClr val="F4F5F4"/>
                </a:solidFill>
                <a:latin typeface="Arial"/>
                <a:ea typeface="Arial"/>
                <a:cs typeface="Arial"/>
              </a:rPr>
              <a:t>its own language.</a:t>
            </a:r>
          </a:p>
        </p:txBody>
      </p:sp>
      <p:sp>
        <p:nvSpPr>
          <p:cNvPr id="3" name="">
            <a:extLst xmlns:a="http://schemas.openxmlformats.org/drawingml/2006/main">
              <a:ext uri="{FF2B5EF4-FFF2-40B4-BE49-F238E27FC236}">
                <a16:creationId xmlns:a16="http://schemas.microsoft.com/office/drawing/2014/main" id="{D928EAD6-69D7-4888-BCC2-7CED8AB1A91A}"/>
              </a:ext>
            </a:extLst>
          </p:cNvPr>
          <p:cNvSpPr>
            <a:spLocks xmlns:a="http://schemas.openxmlformats.org/drawingml/2006/main" noGrp="1"/>
          </p:cNvSpPr>
          <p:nvPr/>
        </p:nvSpPr>
        <p:spPr>
          <a:xfrm xmlns:a="http://schemas.openxmlformats.org/drawingml/2006/main">
            <a:off x="666750" y="5143500"/>
            <a:ext cx="981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Menus, parameters and scripts stand between a scientific question and an action.</a:t>
            </a:r>
          </a:p>
        </p:txBody>
      </p:sp>
    </p:spTree>
    <p:extLst>
      <p:ext uri="{BB962C8B-B14F-4D97-AF65-F5344CB8AC3E}">
        <p14:creationId xmlns:p14="http://schemas.microsoft.com/office/powerpoint/2010/main" val="1640876826"/>
      </p:ext>
    </p:extLst>
  </p:cSld>
</p:sld>
</file>

<file path=ppt/slides/slide3.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37B37B-D653-4326-BFCC-61159D23270C}"/>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interaction</a:t>
            </a:r>
          </a:p>
        </p:txBody>
      </p:sp>
      <p:sp>
        <p:nvSpPr>
          <p:cNvPr id="2" name="">
            <a:extLst xmlns:a="http://schemas.openxmlformats.org/drawingml/2006/main">
              <a:ext uri="{FF2B5EF4-FFF2-40B4-BE49-F238E27FC236}">
                <a16:creationId xmlns:a16="http://schemas.microsoft.com/office/drawing/2014/main" id="{ED7DBE3A-C545-4F50-9D04-1CCD080125EE}"/>
              </a:ext>
            </a:extLst>
          </p:cNvPr>
          <p:cNvSpPr>
            <a:spLocks xmlns:a="http://schemas.openxmlformats.org/drawingml/2006/main" noGrp="1"/>
          </p:cNvSpPr>
          <p:nvPr/>
        </p:nvSpPr>
        <p:spPr>
          <a:xfrm xmlns:a="http://schemas.openxmlformats.org/drawingml/2006/main">
            <a:off x="666750" y="1952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“Find the cells in this region.”</a:t>
            </a:r>
          </a:p>
        </p:txBody>
      </p:sp>
      <p:sp>
        <p:nvSpPr>
          <p:cNvPr id="3" name="">
            <a:extLst xmlns:a="http://schemas.openxmlformats.org/drawingml/2006/main">
              <a:ext uri="{FF2B5EF4-FFF2-40B4-BE49-F238E27FC236}">
                <a16:creationId xmlns:a16="http://schemas.microsoft.com/office/drawing/2014/main" id="{8280991C-2C0B-4959-BDD1-FE97D316F732}"/>
              </a:ext>
            </a:extLst>
          </p:cNvPr>
          <p:cNvSpPr>
            <a:spLocks xmlns:a="http://schemas.openxmlformats.org/drawingml/2006/main" noGrp="1"/>
          </p:cNvSpPr>
          <p:nvPr/>
        </p:nvSpPr>
        <p:spPr>
          <a:xfrm xmlns:a="http://schemas.openxmlformats.org/drawingml/2006/main">
            <a:off x="666750" y="3095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“Only highlight the positive ones.”</a:t>
            </a:r>
          </a:p>
        </p:txBody>
      </p:sp>
      <p:sp>
        <p:nvSpPr>
          <p:cNvPr id="4" name="">
            <a:extLst xmlns:a="http://schemas.openxmlformats.org/drawingml/2006/main">
              <a:ext uri="{FF2B5EF4-FFF2-40B4-BE49-F238E27FC236}">
                <a16:creationId xmlns:a16="http://schemas.microsoft.com/office/drawing/2014/main" id="{8E2C3FF8-4DDE-4BB0-84B2-AFB6F51F925A}"/>
              </a:ext>
            </a:extLst>
          </p:cNvPr>
          <p:cNvSpPr>
            <a:spLocks xmlns:a="http://schemas.openxmlformats.org/drawingml/2006/main" noGrp="1"/>
          </p:cNvSpPr>
          <p:nvPr/>
        </p:nvSpPr>
        <p:spPr>
          <a:xfrm xmlns:a="http://schemas.openxmlformats.org/drawingml/2006/main">
            <a:off x="666750" y="42386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75" b="0">
                <a:solidFill>
                  <a:srgbClr val="F4F5F4"/>
                </a:solidFill>
                <a:latin typeface="Arial"/>
                <a:ea typeface="Arial"/>
                <a:cs typeface="Arial"/>
              </a:defRPr>
            </a:defPPr>
            <a:lvl1pPr>
              <a:defRPr sz="3375" b="0">
                <a:solidFill>
                  <a:srgbClr val="F4F5F4"/>
                </a:solidFill>
                <a:latin typeface="Arial"/>
                <a:ea typeface="Arial"/>
                <a:cs typeface="Arial"/>
              </a:defRPr>
            </a:lvl1pPr>
            <a:lvl2pPr>
              <a:defRPr sz="3375" b="0">
                <a:solidFill>
                  <a:srgbClr val="F4F5F4"/>
                </a:solidFill>
                <a:latin typeface="Arial"/>
                <a:ea typeface="Arial"/>
                <a:cs typeface="Arial"/>
              </a:defRPr>
            </a:lvl2pPr>
            <a:lvl3pPr>
              <a:defRPr sz="3375" b="0">
                <a:solidFill>
                  <a:srgbClr val="F4F5F4"/>
                </a:solidFill>
                <a:latin typeface="Arial"/>
                <a:ea typeface="Arial"/>
                <a:cs typeface="Arial"/>
              </a:defRPr>
            </a:lvl3pPr>
            <a:lvl4pPr>
              <a:defRPr sz="3375" b="0">
                <a:solidFill>
                  <a:srgbClr val="F4F5F4"/>
                </a:solidFill>
                <a:latin typeface="Arial"/>
                <a:ea typeface="Arial"/>
                <a:cs typeface="Arial"/>
              </a:defRPr>
            </a:lvl4pPr>
            <a:lvl5pPr>
              <a:defRPr sz="3375" b="0">
                <a:solidFill>
                  <a:srgbClr val="F4F5F4"/>
                </a:solidFill>
                <a:latin typeface="Arial"/>
                <a:ea typeface="Arial"/>
                <a:cs typeface="Arial"/>
              </a:defRPr>
            </a:lvl5pPr>
            <a:lvl6pPr>
              <a:defRPr sz="3375" b="0">
                <a:solidFill>
                  <a:srgbClr val="F4F5F4"/>
                </a:solidFill>
                <a:latin typeface="Arial"/>
                <a:ea typeface="Arial"/>
                <a:cs typeface="Arial"/>
              </a:defRPr>
            </a:lvl6pPr>
            <a:lvl7pPr>
              <a:defRPr sz="3375" b="0">
                <a:solidFill>
                  <a:srgbClr val="F4F5F4"/>
                </a:solidFill>
                <a:latin typeface="Arial"/>
                <a:ea typeface="Arial"/>
                <a:cs typeface="Arial"/>
              </a:defRPr>
            </a:lvl7pPr>
            <a:lvl8pPr>
              <a:defRPr sz="3375" b="0">
                <a:solidFill>
                  <a:srgbClr val="F4F5F4"/>
                </a:solidFill>
                <a:latin typeface="Arial"/>
                <a:ea typeface="Arial"/>
                <a:cs typeface="Arial"/>
              </a:defRPr>
            </a:lvl8pPr>
            <a:lvl9pPr>
              <a:defRPr sz="3375" b="0">
                <a:solidFill>
                  <a:srgbClr val="F4F5F4"/>
                </a:solidFill>
                <a:latin typeface="Arial"/>
                <a:ea typeface="Arial"/>
                <a:cs typeface="Arial"/>
              </a:defRPr>
            </a:lvl9pPr>
          </a:lstStyle>
          <a:p xmlns:a="http://schemas.openxmlformats.org/drawingml/2006/main">
            <a:pPr>
              <a:defRPr sz="3375" b="0">
                <a:solidFill>
                  <a:srgbClr val="F4F5F4"/>
                </a:solidFill>
                <a:latin typeface="Arial"/>
                <a:ea typeface="Arial"/>
                <a:cs typeface="Arial"/>
              </a:defRPr>
            </a:pPr>
            <a:r>
              <a:rPr sz="3375" b="0">
                <a:solidFill>
                  <a:srgbClr val="F4F5F4"/>
                </a:solidFill>
                <a:latin typeface="Arial"/>
                <a:ea typeface="Arial"/>
                <a:cs typeface="Arial"/>
              </a:rPr>
              <a:t>“Compare that with the earlier result.”</a:t>
            </a:r>
          </a:p>
        </p:txBody>
      </p:sp>
      <p:sp>
        <p:nvSpPr>
          <p:cNvPr id="5" name="">
            <a:extLst xmlns:a="http://schemas.openxmlformats.org/drawingml/2006/main">
              <a:ext uri="{FF2B5EF4-FFF2-40B4-BE49-F238E27FC236}">
                <a16:creationId xmlns:a16="http://schemas.microsoft.com/office/drawing/2014/main" id="{1E612B82-9739-46DF-A246-AE2B559F7648}"/>
              </a:ext>
            </a:extLst>
          </p:cNvPr>
          <p:cNvSpPr>
            <a:spLocks xmlns:a="http://schemas.openxmlformats.org/drawingml/2006/main" noGrp="1"/>
          </p:cNvSpPr>
          <p:nvPr/>
        </p:nvSpPr>
        <p:spPr>
          <a:xfrm xmlns:a="http://schemas.openxmlformats.org/drawingml/2006/main">
            <a:off x="666750" y="5810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A1AFAB"/>
                </a:solidFill>
                <a:latin typeface="Arial"/>
                <a:ea typeface="Arial"/>
                <a:cs typeface="Arial"/>
              </a:defRPr>
            </a:defPPr>
            <a:lvl1pPr>
              <a:defRPr sz="1800" b="0">
                <a:solidFill>
                  <a:srgbClr val="A1AFAB"/>
                </a:solidFill>
                <a:latin typeface="Arial"/>
                <a:ea typeface="Arial"/>
                <a:cs typeface="Arial"/>
              </a:defRPr>
            </a:lvl1pPr>
            <a:lvl2pPr>
              <a:defRPr sz="1800" b="0">
                <a:solidFill>
                  <a:srgbClr val="A1AFAB"/>
                </a:solidFill>
                <a:latin typeface="Arial"/>
                <a:ea typeface="Arial"/>
                <a:cs typeface="Arial"/>
              </a:defRPr>
            </a:lvl2pPr>
            <a:lvl3pPr>
              <a:defRPr sz="1800" b="0">
                <a:solidFill>
                  <a:srgbClr val="A1AFAB"/>
                </a:solidFill>
                <a:latin typeface="Arial"/>
                <a:ea typeface="Arial"/>
                <a:cs typeface="Arial"/>
              </a:defRPr>
            </a:lvl3pPr>
            <a:lvl4pPr>
              <a:defRPr sz="1800" b="0">
                <a:solidFill>
                  <a:srgbClr val="A1AFAB"/>
                </a:solidFill>
                <a:latin typeface="Arial"/>
                <a:ea typeface="Arial"/>
                <a:cs typeface="Arial"/>
              </a:defRPr>
            </a:lvl4pPr>
            <a:lvl5pPr>
              <a:defRPr sz="1800" b="0">
                <a:solidFill>
                  <a:srgbClr val="A1AFAB"/>
                </a:solidFill>
                <a:latin typeface="Arial"/>
                <a:ea typeface="Arial"/>
                <a:cs typeface="Arial"/>
              </a:defRPr>
            </a:lvl5pPr>
            <a:lvl6pPr>
              <a:defRPr sz="1800" b="0">
                <a:solidFill>
                  <a:srgbClr val="A1AFAB"/>
                </a:solidFill>
                <a:latin typeface="Arial"/>
                <a:ea typeface="Arial"/>
                <a:cs typeface="Arial"/>
              </a:defRPr>
            </a:lvl6pPr>
            <a:lvl7pPr>
              <a:defRPr sz="1800" b="0">
                <a:solidFill>
                  <a:srgbClr val="A1AFAB"/>
                </a:solidFill>
                <a:latin typeface="Arial"/>
                <a:ea typeface="Arial"/>
                <a:cs typeface="Arial"/>
              </a:defRPr>
            </a:lvl7pPr>
            <a:lvl8pPr>
              <a:defRPr sz="1800" b="0">
                <a:solidFill>
                  <a:srgbClr val="A1AFAB"/>
                </a:solidFill>
                <a:latin typeface="Arial"/>
                <a:ea typeface="Arial"/>
                <a:cs typeface="Arial"/>
              </a:defRPr>
            </a:lvl8pPr>
            <a:lvl9pPr>
              <a:defRPr sz="1800" b="0">
                <a:solidFill>
                  <a:srgbClr val="A1AFAB"/>
                </a:solidFill>
                <a:latin typeface="Arial"/>
                <a:ea typeface="Arial"/>
                <a:cs typeface="Arial"/>
              </a:defRPr>
            </a:lvl9pPr>
          </a:lstStyle>
          <a:p xmlns:a="http://schemas.openxmlformats.org/drawingml/2006/main">
            <a:pPr>
              <a:defRPr sz="1800" b="0">
                <a:solidFill>
                  <a:srgbClr val="A1AFAB"/>
                </a:solidFill>
                <a:latin typeface="Arial"/>
                <a:ea typeface="Arial"/>
                <a:cs typeface="Arial"/>
              </a:defRPr>
            </a:pPr>
            <a:r>
              <a:rPr sz="1800" b="0">
                <a:solidFill>
                  <a:srgbClr val="A1AFAB"/>
                </a:solidFill>
                <a:latin typeface="Arial"/>
                <a:ea typeface="Arial"/>
                <a:cs typeface="Arial"/>
              </a:rPr>
              <a:t>The researcher keeps working in the original application.</a:t>
            </a:r>
          </a:p>
        </p:txBody>
      </p:sp>
    </p:spTree>
    <p:extLst>
      <p:ext uri="{BB962C8B-B14F-4D97-AF65-F5344CB8AC3E}">
        <p14:creationId xmlns:p14="http://schemas.microsoft.com/office/powerpoint/2010/main" val="240268808"/>
      </p:ext>
    </p:extLst>
  </p:cSld>
</p:sld>
</file>

<file path=ppt/slides/slide4.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270BCC0-615F-4E75-A8A1-F43ECC3FF876}"/>
              </a:ext>
            </a:extLst>
          </p:cNvPr>
          <p:cNvSpPr>
            <a:spLocks xmlns:a="http://schemas.openxmlformats.org/drawingml/2006/main" noGrp="1"/>
          </p:cNvSpPr>
          <p:nvPr/>
        </p:nvSpPr>
        <p:spPr>
          <a:xfrm xmlns:a="http://schemas.openxmlformats.org/drawingml/2006/main">
            <a:off x="609600" y="49530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Real OpenAI analysis in QuPath</a:t>
            </a:r>
          </a:p>
        </p:txBody>
      </p:sp>
      <p:pic>
        <p:nvPicPr>
          <p:cNvPr id="2" name="">
            <a:extLst xmlns:a="http://schemas.openxmlformats.org/drawingml/2006/main">
              <a:ext uri="{FF2B5EF4-FFF2-40B4-BE49-F238E27FC236}">
                <a16:creationId xmlns:a16="http://schemas.microsoft.com/office/drawing/2014/main" id="{27D0439F-256A-40A9-B1E9-76BAF8E911C5}"/>
              </a:ext>
            </a:extLst>
          </p:cNvPr>
          <p:cNvPicPr>
            <a:picLocks xmlns:a="http://schemas.openxmlformats.org/drawingml/2006/main" noChangeAspect="1"/>
          </p:cNvPicPr>
          <p:nvPr/>
        </p:nvPicPr>
        <p:blipFill>
          <a:blip xmlns:r="http://schemas.openxmlformats.org/officeDocument/2006/relationships" xmlns:a="http://schemas.openxmlformats.org/drawingml/2006/main" r:embed="Rc35382b300874a97"/>
          <a:stretch xmlns:a="http://schemas.openxmlformats.org/drawingml/2006/main"/>
        </p:blipFill>
        <p:spPr>
          <a:xfrm xmlns:a="http://schemas.openxmlformats.org/drawingml/2006/main">
            <a:off x="1054208" y="1524000"/>
            <a:ext cx="5892585" cy="47625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9092FDD-1F78-4F87-B258-A3712AC26925}"/>
              </a:ext>
            </a:extLst>
          </p:cNvPr>
          <p:cNvSpPr>
            <a:spLocks xmlns:a="http://schemas.openxmlformats.org/drawingml/2006/main" noGrp="1"/>
          </p:cNvSpPr>
          <p:nvPr/>
        </p:nvSpPr>
        <p:spPr>
          <a:xfrm xmlns:a="http://schemas.openxmlformats.org/drawingml/2006/main">
            <a:off x="8096250" y="200025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300" b="1">
                <a:solidFill>
                  <a:srgbClr val="F4F5F4"/>
                </a:solidFill>
                <a:latin typeface="Arial"/>
                <a:ea typeface="Arial"/>
                <a:cs typeface="Arial"/>
              </a:defRPr>
            </a:defPPr>
            <a:lvl1pPr>
              <a:defRPr sz="6300" b="1">
                <a:solidFill>
                  <a:srgbClr val="F4F5F4"/>
                </a:solidFill>
                <a:latin typeface="Arial"/>
                <a:ea typeface="Arial"/>
                <a:cs typeface="Arial"/>
              </a:defRPr>
            </a:lvl1pPr>
            <a:lvl2pPr>
              <a:defRPr sz="6300" b="1">
                <a:solidFill>
                  <a:srgbClr val="F4F5F4"/>
                </a:solidFill>
                <a:latin typeface="Arial"/>
                <a:ea typeface="Arial"/>
                <a:cs typeface="Arial"/>
              </a:defRPr>
            </a:lvl2pPr>
            <a:lvl3pPr>
              <a:defRPr sz="6300" b="1">
                <a:solidFill>
                  <a:srgbClr val="F4F5F4"/>
                </a:solidFill>
                <a:latin typeface="Arial"/>
                <a:ea typeface="Arial"/>
                <a:cs typeface="Arial"/>
              </a:defRPr>
            </a:lvl3pPr>
            <a:lvl4pPr>
              <a:defRPr sz="6300" b="1">
                <a:solidFill>
                  <a:srgbClr val="F4F5F4"/>
                </a:solidFill>
                <a:latin typeface="Arial"/>
                <a:ea typeface="Arial"/>
                <a:cs typeface="Arial"/>
              </a:defRPr>
            </a:lvl4pPr>
            <a:lvl5pPr>
              <a:defRPr sz="6300" b="1">
                <a:solidFill>
                  <a:srgbClr val="F4F5F4"/>
                </a:solidFill>
                <a:latin typeface="Arial"/>
                <a:ea typeface="Arial"/>
                <a:cs typeface="Arial"/>
              </a:defRPr>
            </a:lvl5pPr>
            <a:lvl6pPr>
              <a:defRPr sz="6300" b="1">
                <a:solidFill>
                  <a:srgbClr val="F4F5F4"/>
                </a:solidFill>
                <a:latin typeface="Arial"/>
                <a:ea typeface="Arial"/>
                <a:cs typeface="Arial"/>
              </a:defRPr>
            </a:lvl6pPr>
            <a:lvl7pPr>
              <a:defRPr sz="6300" b="1">
                <a:solidFill>
                  <a:srgbClr val="F4F5F4"/>
                </a:solidFill>
                <a:latin typeface="Arial"/>
                <a:ea typeface="Arial"/>
                <a:cs typeface="Arial"/>
              </a:defRPr>
            </a:lvl7pPr>
            <a:lvl8pPr>
              <a:defRPr sz="6300" b="1">
                <a:solidFill>
                  <a:srgbClr val="F4F5F4"/>
                </a:solidFill>
                <a:latin typeface="Arial"/>
                <a:ea typeface="Arial"/>
                <a:cs typeface="Arial"/>
              </a:defRPr>
            </a:lvl8pPr>
            <a:lvl9pPr>
              <a:defRPr sz="6300" b="1">
                <a:solidFill>
                  <a:srgbClr val="F4F5F4"/>
                </a:solidFill>
                <a:latin typeface="Arial"/>
                <a:ea typeface="Arial"/>
                <a:cs typeface="Arial"/>
              </a:defRPr>
            </a:lvl9pPr>
          </a:lstStyle>
          <a:p xmlns:a="http://schemas.openxmlformats.org/drawingml/2006/main">
            <a:pPr>
              <a:defRPr sz="6300" b="1">
                <a:solidFill>
                  <a:srgbClr val="F4F5F4"/>
                </a:solidFill>
                <a:latin typeface="Arial"/>
                <a:ea typeface="Arial"/>
                <a:cs typeface="Arial"/>
              </a:defRPr>
            </a:pPr>
            <a:r>
              <a:rPr sz="6300" b="1">
                <a:solidFill>
                  <a:srgbClr val="F4F5F4"/>
                </a:solidFill>
                <a:latin typeface="Arial"/>
                <a:ea typeface="Arial"/>
                <a:cs typeface="Arial"/>
              </a:rPr>
              <a:t>899</a:t>
            </a:r>
          </a:p>
        </p:txBody>
      </p:sp>
      <p:sp>
        <p:nvSpPr>
          <p:cNvPr id="4" name="">
            <a:extLst xmlns:a="http://schemas.openxmlformats.org/drawingml/2006/main">
              <a:ext uri="{FF2B5EF4-FFF2-40B4-BE49-F238E27FC236}">
                <a16:creationId xmlns:a16="http://schemas.microsoft.com/office/drawing/2014/main" id="{CC364A58-0E94-4617-9B33-FF8EA0D8865C}"/>
              </a:ext>
            </a:extLst>
          </p:cNvPr>
          <p:cNvSpPr>
            <a:spLocks xmlns:a="http://schemas.openxmlformats.org/drawingml/2006/main" noGrp="1"/>
          </p:cNvSpPr>
          <p:nvPr/>
        </p:nvSpPr>
        <p:spPr>
          <a:xfrm xmlns:a="http://schemas.openxmlformats.org/drawingml/2006/main">
            <a:off x="8143875" y="3000375"/>
            <a:ext cx="314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detected cells</a:t>
            </a:r>
          </a:p>
        </p:txBody>
      </p:sp>
      <p:sp>
        <p:nvSpPr>
          <p:cNvPr id="5" name="">
            <a:extLst xmlns:a="http://schemas.openxmlformats.org/drawingml/2006/main">
              <a:ext uri="{FF2B5EF4-FFF2-40B4-BE49-F238E27FC236}">
                <a16:creationId xmlns:a16="http://schemas.microsoft.com/office/drawing/2014/main" id="{7C664D03-868D-4635-8FE9-4465E47DFB70}"/>
              </a:ext>
            </a:extLst>
          </p:cNvPr>
          <p:cNvSpPr>
            <a:spLocks xmlns:a="http://schemas.openxmlformats.org/drawingml/2006/main" noGrp="1"/>
          </p:cNvSpPr>
          <p:nvPr/>
        </p:nvSpPr>
        <p:spPr>
          <a:xfrm xmlns:a="http://schemas.openxmlformats.org/drawingml/2006/main">
            <a:off x="8096250" y="4000500"/>
            <a:ext cx="3143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A3EAC9"/>
                </a:solidFill>
                <a:latin typeface="Arial"/>
                <a:ea typeface="Arial"/>
                <a:cs typeface="Arial"/>
              </a:defRPr>
            </a:defPPr>
            <a:lvl1pPr>
              <a:defRPr sz="5400" b="1">
                <a:solidFill>
                  <a:srgbClr val="A3EAC9"/>
                </a:solidFill>
                <a:latin typeface="Arial"/>
                <a:ea typeface="Arial"/>
                <a:cs typeface="Arial"/>
              </a:defRPr>
            </a:lvl1pPr>
            <a:lvl2pPr>
              <a:defRPr sz="5400" b="1">
                <a:solidFill>
                  <a:srgbClr val="A3EAC9"/>
                </a:solidFill>
                <a:latin typeface="Arial"/>
                <a:ea typeface="Arial"/>
                <a:cs typeface="Arial"/>
              </a:defRPr>
            </a:lvl2pPr>
            <a:lvl3pPr>
              <a:defRPr sz="5400" b="1">
                <a:solidFill>
                  <a:srgbClr val="A3EAC9"/>
                </a:solidFill>
                <a:latin typeface="Arial"/>
                <a:ea typeface="Arial"/>
                <a:cs typeface="Arial"/>
              </a:defRPr>
            </a:lvl3pPr>
            <a:lvl4pPr>
              <a:defRPr sz="5400" b="1">
                <a:solidFill>
                  <a:srgbClr val="A3EAC9"/>
                </a:solidFill>
                <a:latin typeface="Arial"/>
                <a:ea typeface="Arial"/>
                <a:cs typeface="Arial"/>
              </a:defRPr>
            </a:lvl4pPr>
            <a:lvl5pPr>
              <a:defRPr sz="5400" b="1">
                <a:solidFill>
                  <a:srgbClr val="A3EAC9"/>
                </a:solidFill>
                <a:latin typeface="Arial"/>
                <a:ea typeface="Arial"/>
                <a:cs typeface="Arial"/>
              </a:defRPr>
            </a:lvl5pPr>
            <a:lvl6pPr>
              <a:defRPr sz="5400" b="1">
                <a:solidFill>
                  <a:srgbClr val="A3EAC9"/>
                </a:solidFill>
                <a:latin typeface="Arial"/>
                <a:ea typeface="Arial"/>
                <a:cs typeface="Arial"/>
              </a:defRPr>
            </a:lvl6pPr>
            <a:lvl7pPr>
              <a:defRPr sz="5400" b="1">
                <a:solidFill>
                  <a:srgbClr val="A3EAC9"/>
                </a:solidFill>
                <a:latin typeface="Arial"/>
                <a:ea typeface="Arial"/>
                <a:cs typeface="Arial"/>
              </a:defRPr>
            </a:lvl7pPr>
            <a:lvl8pPr>
              <a:defRPr sz="5400" b="1">
                <a:solidFill>
                  <a:srgbClr val="A3EAC9"/>
                </a:solidFill>
                <a:latin typeface="Arial"/>
                <a:ea typeface="Arial"/>
                <a:cs typeface="Arial"/>
              </a:defRPr>
            </a:lvl8pPr>
            <a:lvl9pPr>
              <a:defRPr sz="5400" b="1">
                <a:solidFill>
                  <a:srgbClr val="A3EAC9"/>
                </a:solidFill>
                <a:latin typeface="Arial"/>
                <a:ea typeface="Arial"/>
                <a:cs typeface="Arial"/>
              </a:defRPr>
            </a:lvl9pPr>
          </a:lstStyle>
          <a:p xmlns:a="http://schemas.openxmlformats.org/drawingml/2006/main">
            <a:pPr>
              <a:defRPr sz="5400" b="1">
                <a:solidFill>
                  <a:srgbClr val="A3EAC9"/>
                </a:solidFill>
                <a:latin typeface="Arial"/>
                <a:ea typeface="Arial"/>
                <a:cs typeface="Arial"/>
              </a:defRPr>
            </a:pPr>
            <a:r>
              <a:rPr sz="5400" b="1">
                <a:solidFill>
                  <a:srgbClr val="A3EAC9"/>
                </a:solidFill>
                <a:latin typeface="Arial"/>
                <a:ea typeface="Arial"/>
                <a:cs typeface="Arial"/>
              </a:rPr>
              <a:t>49</a:t>
            </a:r>
          </a:p>
        </p:txBody>
      </p:sp>
      <p:sp>
        <p:nvSpPr>
          <p:cNvPr id="6" name="">
            <a:extLst xmlns:a="http://schemas.openxmlformats.org/drawingml/2006/main">
              <a:ext uri="{FF2B5EF4-FFF2-40B4-BE49-F238E27FC236}">
                <a16:creationId xmlns:a16="http://schemas.microsoft.com/office/drawing/2014/main" id="{594C82EC-840E-48EE-BE67-C9A8E0B6D2FD}"/>
              </a:ext>
            </a:extLst>
          </p:cNvPr>
          <p:cNvSpPr>
            <a:spLocks xmlns:a="http://schemas.openxmlformats.org/drawingml/2006/main" noGrp="1"/>
          </p:cNvSpPr>
          <p:nvPr/>
        </p:nvSpPr>
        <p:spPr>
          <a:xfrm xmlns:a="http://schemas.openxmlformats.org/drawingml/2006/main">
            <a:off x="8143875" y="4905375"/>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A1AFAB"/>
                </a:solidFill>
                <a:latin typeface="Arial"/>
                <a:ea typeface="Arial"/>
                <a:cs typeface="Arial"/>
              </a:defRPr>
            </a:defPPr>
            <a:lvl1pPr>
              <a:defRPr sz="1950" b="0">
                <a:solidFill>
                  <a:srgbClr val="A1AFAB"/>
                </a:solidFill>
                <a:latin typeface="Arial"/>
                <a:ea typeface="Arial"/>
                <a:cs typeface="Arial"/>
              </a:defRPr>
            </a:lvl1pPr>
            <a:lvl2pPr>
              <a:defRPr sz="1950" b="0">
                <a:solidFill>
                  <a:srgbClr val="A1AFAB"/>
                </a:solidFill>
                <a:latin typeface="Arial"/>
                <a:ea typeface="Arial"/>
                <a:cs typeface="Arial"/>
              </a:defRPr>
            </a:lvl2pPr>
            <a:lvl3pPr>
              <a:defRPr sz="1950" b="0">
                <a:solidFill>
                  <a:srgbClr val="A1AFAB"/>
                </a:solidFill>
                <a:latin typeface="Arial"/>
                <a:ea typeface="Arial"/>
                <a:cs typeface="Arial"/>
              </a:defRPr>
            </a:lvl3pPr>
            <a:lvl4pPr>
              <a:defRPr sz="1950" b="0">
                <a:solidFill>
                  <a:srgbClr val="A1AFAB"/>
                </a:solidFill>
                <a:latin typeface="Arial"/>
                <a:ea typeface="Arial"/>
                <a:cs typeface="Arial"/>
              </a:defRPr>
            </a:lvl4pPr>
            <a:lvl5pPr>
              <a:defRPr sz="1950" b="0">
                <a:solidFill>
                  <a:srgbClr val="A1AFAB"/>
                </a:solidFill>
                <a:latin typeface="Arial"/>
                <a:ea typeface="Arial"/>
                <a:cs typeface="Arial"/>
              </a:defRPr>
            </a:lvl5pPr>
            <a:lvl6pPr>
              <a:defRPr sz="1950" b="0">
                <a:solidFill>
                  <a:srgbClr val="A1AFAB"/>
                </a:solidFill>
                <a:latin typeface="Arial"/>
                <a:ea typeface="Arial"/>
                <a:cs typeface="Arial"/>
              </a:defRPr>
            </a:lvl6pPr>
            <a:lvl7pPr>
              <a:defRPr sz="1950" b="0">
                <a:solidFill>
                  <a:srgbClr val="A1AFAB"/>
                </a:solidFill>
                <a:latin typeface="Arial"/>
                <a:ea typeface="Arial"/>
                <a:cs typeface="Arial"/>
              </a:defRPr>
            </a:lvl7pPr>
            <a:lvl8pPr>
              <a:defRPr sz="1950" b="0">
                <a:solidFill>
                  <a:srgbClr val="A1AFAB"/>
                </a:solidFill>
                <a:latin typeface="Arial"/>
                <a:ea typeface="Arial"/>
                <a:cs typeface="Arial"/>
              </a:defRPr>
            </a:lvl8pPr>
            <a:lvl9pPr>
              <a:defRPr sz="1950" b="0">
                <a:solidFill>
                  <a:srgbClr val="A1AFAB"/>
                </a:solidFill>
                <a:latin typeface="Arial"/>
                <a:ea typeface="Arial"/>
                <a:cs typeface="Arial"/>
              </a:defRPr>
            </a:lvl9pPr>
          </a:lstStyle>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above the chosen</a:t>
            </a:r>
          </a:p>
          <a:p xmlns:a="http://schemas.openxmlformats.org/drawingml/2006/main">
            <a:pPr>
              <a:defRPr sz="1950" b="0">
                <a:solidFill>
                  <a:srgbClr val="A1AFAB"/>
                </a:solidFill>
                <a:latin typeface="Arial"/>
                <a:ea typeface="Arial"/>
                <a:cs typeface="Arial"/>
              </a:defRPr>
            </a:pPr>
            <a:r>
              <a:rPr sz="1950" b="0">
                <a:solidFill>
                  <a:srgbClr val="A1AFAB"/>
                </a:solidFill>
                <a:latin typeface="Arial"/>
                <a:ea typeface="Arial"/>
                <a:cs typeface="Arial"/>
              </a:rPr>
              <a:t>DAB threshold</a:t>
            </a:r>
          </a:p>
        </p:txBody>
      </p:sp>
      <p:sp>
        <p:nvSpPr>
          <p:cNvPr id="7" name="">
            <a:extLst xmlns:a="http://schemas.openxmlformats.org/drawingml/2006/main">
              <a:ext uri="{FF2B5EF4-FFF2-40B4-BE49-F238E27FC236}">
                <a16:creationId xmlns:a16="http://schemas.microsoft.com/office/drawing/2014/main" id="{6357DC4C-1587-45DF-BBA4-57A07DC23826}"/>
              </a:ext>
            </a:extLst>
          </p:cNvPr>
          <p:cNvSpPr>
            <a:spLocks xmlns:a="http://schemas.openxmlformats.org/drawingml/2006/main" noGrp="1"/>
          </p:cNvSpPr>
          <p:nvPr/>
        </p:nvSpPr>
        <p:spPr>
          <a:xfrm xmlns:a="http://schemas.openxmlformats.org/drawingml/2006/main">
            <a:off x="8096250" y="5953125"/>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1">
                <a:solidFill>
                  <a:srgbClr val="F4F5F4"/>
                </a:solidFill>
                <a:latin typeface="Arial"/>
                <a:ea typeface="Arial"/>
                <a:cs typeface="Arial"/>
              </a:defRPr>
            </a:defPPr>
            <a:lvl1pPr>
              <a:defRPr sz="2700" b="1">
                <a:solidFill>
                  <a:srgbClr val="F4F5F4"/>
                </a:solidFill>
                <a:latin typeface="Arial"/>
                <a:ea typeface="Arial"/>
                <a:cs typeface="Arial"/>
              </a:defRPr>
            </a:lvl1pPr>
            <a:lvl2pPr>
              <a:defRPr sz="2700" b="1">
                <a:solidFill>
                  <a:srgbClr val="F4F5F4"/>
                </a:solidFill>
                <a:latin typeface="Arial"/>
                <a:ea typeface="Arial"/>
                <a:cs typeface="Arial"/>
              </a:defRPr>
            </a:lvl2pPr>
            <a:lvl3pPr>
              <a:defRPr sz="2700" b="1">
                <a:solidFill>
                  <a:srgbClr val="F4F5F4"/>
                </a:solidFill>
                <a:latin typeface="Arial"/>
                <a:ea typeface="Arial"/>
                <a:cs typeface="Arial"/>
              </a:defRPr>
            </a:lvl3pPr>
            <a:lvl4pPr>
              <a:defRPr sz="2700" b="1">
                <a:solidFill>
                  <a:srgbClr val="F4F5F4"/>
                </a:solidFill>
                <a:latin typeface="Arial"/>
                <a:ea typeface="Arial"/>
                <a:cs typeface="Arial"/>
              </a:defRPr>
            </a:lvl4pPr>
            <a:lvl5pPr>
              <a:defRPr sz="2700" b="1">
                <a:solidFill>
                  <a:srgbClr val="F4F5F4"/>
                </a:solidFill>
                <a:latin typeface="Arial"/>
                <a:ea typeface="Arial"/>
                <a:cs typeface="Arial"/>
              </a:defRPr>
            </a:lvl5pPr>
            <a:lvl6pPr>
              <a:defRPr sz="2700" b="1">
                <a:solidFill>
                  <a:srgbClr val="F4F5F4"/>
                </a:solidFill>
                <a:latin typeface="Arial"/>
                <a:ea typeface="Arial"/>
                <a:cs typeface="Arial"/>
              </a:defRPr>
            </a:lvl6pPr>
            <a:lvl7pPr>
              <a:defRPr sz="2700" b="1">
                <a:solidFill>
                  <a:srgbClr val="F4F5F4"/>
                </a:solidFill>
                <a:latin typeface="Arial"/>
                <a:ea typeface="Arial"/>
                <a:cs typeface="Arial"/>
              </a:defRPr>
            </a:lvl7pPr>
            <a:lvl8pPr>
              <a:defRPr sz="2700" b="1">
                <a:solidFill>
                  <a:srgbClr val="F4F5F4"/>
                </a:solidFill>
                <a:latin typeface="Arial"/>
                <a:ea typeface="Arial"/>
                <a:cs typeface="Arial"/>
              </a:defRPr>
            </a:lvl8pPr>
            <a:lvl9pPr>
              <a:defRPr sz="2700" b="1">
                <a:solidFill>
                  <a:srgbClr val="F4F5F4"/>
                </a:solidFill>
                <a:latin typeface="Arial"/>
                <a:ea typeface="Arial"/>
                <a:cs typeface="Arial"/>
              </a:defRPr>
            </a:lvl9pPr>
          </a:lstStyle>
          <a:p xmlns:a="http://schemas.openxmlformats.org/drawingml/2006/main">
            <a:pPr>
              <a:defRPr sz="2700" b="1">
                <a:solidFill>
                  <a:srgbClr val="F4F5F4"/>
                </a:solidFill>
                <a:latin typeface="Arial"/>
                <a:ea typeface="Arial"/>
                <a:cs typeface="Arial"/>
              </a:defRPr>
            </a:pPr>
            <a:r>
              <a:rPr sz="2700" b="1">
                <a:solidFill>
                  <a:srgbClr val="F4F5F4"/>
                </a:solidFill>
                <a:latin typeface="Arial"/>
                <a:ea typeface="Arial"/>
                <a:cs typeface="Arial"/>
              </a:rPr>
              <a:t>21.5 s</a:t>
            </a:r>
          </a:p>
        </p:txBody>
      </p:sp>
      <p:sp>
        <p:nvSpPr>
          <p:cNvPr id="8" name="">
            <a:extLst xmlns:a="http://schemas.openxmlformats.org/drawingml/2006/main">
              <a:ext uri="{FF2B5EF4-FFF2-40B4-BE49-F238E27FC236}">
                <a16:creationId xmlns:a16="http://schemas.microsoft.com/office/drawing/2014/main" id="{66E96FD6-064F-4ACE-825A-CF3BF22CE5E1}"/>
              </a:ext>
            </a:extLst>
          </p:cNvPr>
          <p:cNvSpPr>
            <a:spLocks xmlns:a="http://schemas.openxmlformats.org/drawingml/2006/main" noGrp="1"/>
          </p:cNvSpPr>
          <p:nvPr/>
        </p:nvSpPr>
        <p:spPr>
          <a:xfrm xmlns:a="http://schemas.openxmlformats.org/drawingml/2006/main">
            <a:off x="8143875" y="645795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1AFAB"/>
                </a:solidFill>
                <a:latin typeface="Arial"/>
                <a:ea typeface="Arial"/>
                <a:cs typeface="Arial"/>
              </a:defRPr>
            </a:defPPr>
            <a:lvl1pPr>
              <a:defRPr sz="1275" b="0">
                <a:solidFill>
                  <a:srgbClr val="A1AFAB"/>
                </a:solidFill>
                <a:latin typeface="Arial"/>
                <a:ea typeface="Arial"/>
                <a:cs typeface="Arial"/>
              </a:defRPr>
            </a:lvl1pPr>
            <a:lvl2pPr>
              <a:defRPr sz="1275" b="0">
                <a:solidFill>
                  <a:srgbClr val="A1AFAB"/>
                </a:solidFill>
                <a:latin typeface="Arial"/>
                <a:ea typeface="Arial"/>
                <a:cs typeface="Arial"/>
              </a:defRPr>
            </a:lvl2pPr>
            <a:lvl3pPr>
              <a:defRPr sz="1275" b="0">
                <a:solidFill>
                  <a:srgbClr val="A1AFAB"/>
                </a:solidFill>
                <a:latin typeface="Arial"/>
                <a:ea typeface="Arial"/>
                <a:cs typeface="Arial"/>
              </a:defRPr>
            </a:lvl3pPr>
            <a:lvl4pPr>
              <a:defRPr sz="1275" b="0">
                <a:solidFill>
                  <a:srgbClr val="A1AFAB"/>
                </a:solidFill>
                <a:latin typeface="Arial"/>
                <a:ea typeface="Arial"/>
                <a:cs typeface="Arial"/>
              </a:defRPr>
            </a:lvl4pPr>
            <a:lvl5pPr>
              <a:defRPr sz="1275" b="0">
                <a:solidFill>
                  <a:srgbClr val="A1AFAB"/>
                </a:solidFill>
                <a:latin typeface="Arial"/>
                <a:ea typeface="Arial"/>
                <a:cs typeface="Arial"/>
              </a:defRPr>
            </a:lvl5pPr>
            <a:lvl6pPr>
              <a:defRPr sz="1275" b="0">
                <a:solidFill>
                  <a:srgbClr val="A1AFAB"/>
                </a:solidFill>
                <a:latin typeface="Arial"/>
                <a:ea typeface="Arial"/>
                <a:cs typeface="Arial"/>
              </a:defRPr>
            </a:lvl6pPr>
            <a:lvl7pPr>
              <a:defRPr sz="1275" b="0">
                <a:solidFill>
                  <a:srgbClr val="A1AFAB"/>
                </a:solidFill>
                <a:latin typeface="Arial"/>
                <a:ea typeface="Arial"/>
                <a:cs typeface="Arial"/>
              </a:defRPr>
            </a:lvl7pPr>
            <a:lvl8pPr>
              <a:defRPr sz="1275" b="0">
                <a:solidFill>
                  <a:srgbClr val="A1AFAB"/>
                </a:solidFill>
                <a:latin typeface="Arial"/>
                <a:ea typeface="Arial"/>
                <a:cs typeface="Arial"/>
              </a:defRPr>
            </a:lvl8pPr>
            <a:lvl9pPr>
              <a:defRPr sz="1275" b="0">
                <a:solidFill>
                  <a:srgbClr val="A1AFAB"/>
                </a:solidFill>
                <a:latin typeface="Arial"/>
                <a:ea typeface="Arial"/>
                <a:cs typeface="Arial"/>
              </a:defRPr>
            </a:lvl9pPr>
          </a:lstStyle>
          <a:p xmlns:a="http://schemas.openxmlformats.org/drawingml/2006/main">
            <a:pPr>
              <a:defRPr sz="1275" b="0">
                <a:solidFill>
                  <a:srgbClr val="A1AFAB"/>
                </a:solidFill>
                <a:latin typeface="Arial"/>
                <a:ea typeface="Arial"/>
                <a:cs typeface="Arial"/>
              </a:defRPr>
            </a:pPr>
            <a:r>
              <a:rPr sz="1275" b="0">
                <a:solidFill>
                  <a:srgbClr val="A1AFAB"/>
                </a:solidFill>
                <a:latin typeface="Arial"/>
                <a:ea typeface="Arial"/>
                <a:cs typeface="Arial"/>
              </a:rPr>
              <a:t>with test-only simulated approvals</a:t>
            </a:r>
          </a:p>
        </p:txBody>
      </p:sp>
      <p:sp>
        <p:nvSpPr>
          <p:cNvPr id="9" name="">
            <a:extLst xmlns:a="http://schemas.openxmlformats.org/drawingml/2006/main">
              <a:ext uri="{FF2B5EF4-FFF2-40B4-BE49-F238E27FC236}">
                <a16:creationId xmlns:a16="http://schemas.microsoft.com/office/drawing/2014/main" id="{BC45723D-DF43-4C38-B879-C012E2F2E7F1}"/>
              </a:ext>
            </a:extLst>
          </p:cNvPr>
          <p:cNvSpPr>
            <a:spLocks xmlns:a="http://schemas.openxmlformats.org/drawingml/2006/main" noGrp="1"/>
          </p:cNvSpPr>
          <p:nvPr/>
        </p:nvSpPr>
        <p:spPr>
          <a:xfrm xmlns:a="http://schemas.openxmlformats.org/drawingml/2006/main">
            <a:off x="666750" y="6515100"/>
            <a:ext cx="666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A1AFAB"/>
                </a:solidFill>
                <a:latin typeface="Arial"/>
                <a:ea typeface="Arial"/>
                <a:cs typeface="Arial"/>
              </a:defRPr>
            </a:defPPr>
            <a:lvl1pPr>
              <a:defRPr sz="1275" b="0">
                <a:solidFill>
                  <a:srgbClr val="A1AFAB"/>
                </a:solidFill>
                <a:latin typeface="Arial"/>
                <a:ea typeface="Arial"/>
                <a:cs typeface="Arial"/>
              </a:defRPr>
            </a:lvl1pPr>
            <a:lvl2pPr>
              <a:defRPr sz="1275" b="0">
                <a:solidFill>
                  <a:srgbClr val="A1AFAB"/>
                </a:solidFill>
                <a:latin typeface="Arial"/>
                <a:ea typeface="Arial"/>
                <a:cs typeface="Arial"/>
              </a:defRPr>
            </a:lvl2pPr>
            <a:lvl3pPr>
              <a:defRPr sz="1275" b="0">
                <a:solidFill>
                  <a:srgbClr val="A1AFAB"/>
                </a:solidFill>
                <a:latin typeface="Arial"/>
                <a:ea typeface="Arial"/>
                <a:cs typeface="Arial"/>
              </a:defRPr>
            </a:lvl3pPr>
            <a:lvl4pPr>
              <a:defRPr sz="1275" b="0">
                <a:solidFill>
                  <a:srgbClr val="A1AFAB"/>
                </a:solidFill>
                <a:latin typeface="Arial"/>
                <a:ea typeface="Arial"/>
                <a:cs typeface="Arial"/>
              </a:defRPr>
            </a:lvl4pPr>
            <a:lvl5pPr>
              <a:defRPr sz="1275" b="0">
                <a:solidFill>
                  <a:srgbClr val="A1AFAB"/>
                </a:solidFill>
                <a:latin typeface="Arial"/>
                <a:ea typeface="Arial"/>
                <a:cs typeface="Arial"/>
              </a:defRPr>
            </a:lvl5pPr>
            <a:lvl6pPr>
              <a:defRPr sz="1275" b="0">
                <a:solidFill>
                  <a:srgbClr val="A1AFAB"/>
                </a:solidFill>
                <a:latin typeface="Arial"/>
                <a:ea typeface="Arial"/>
                <a:cs typeface="Arial"/>
              </a:defRPr>
            </a:lvl6pPr>
            <a:lvl7pPr>
              <a:defRPr sz="1275" b="0">
                <a:solidFill>
                  <a:srgbClr val="A1AFAB"/>
                </a:solidFill>
                <a:latin typeface="Arial"/>
                <a:ea typeface="Arial"/>
                <a:cs typeface="Arial"/>
              </a:defRPr>
            </a:lvl7pPr>
            <a:lvl8pPr>
              <a:defRPr sz="1275" b="0">
                <a:solidFill>
                  <a:srgbClr val="A1AFAB"/>
                </a:solidFill>
                <a:latin typeface="Arial"/>
                <a:ea typeface="Arial"/>
                <a:cs typeface="Arial"/>
              </a:defRPr>
            </a:lvl8pPr>
            <a:lvl9pPr>
              <a:defRPr sz="1275" b="0">
                <a:solidFill>
                  <a:srgbClr val="A1AFAB"/>
                </a:solidFill>
                <a:latin typeface="Arial"/>
                <a:ea typeface="Arial"/>
                <a:cs typeface="Arial"/>
              </a:defRPr>
            </a:lvl9pPr>
          </a:lstStyle>
          <a:p xmlns:a="http://schemas.openxmlformats.org/drawingml/2006/main">
            <a:pPr>
              <a:defRPr sz="1275" b="0">
                <a:solidFill>
                  <a:srgbClr val="A1AFAB"/>
                </a:solidFill>
                <a:latin typeface="Arial"/>
                <a:ea typeface="Arial"/>
                <a:cs typeface="Arial"/>
              </a:defRPr>
            </a:pPr>
            <a:r>
              <a:rPr sz="1275" b="0">
                <a:solidFill>
                  <a:srgbClr val="A1AFAB"/>
                </a:solidFill>
                <a:latin typeface="Arial"/>
                <a:ea typeface="Arial"/>
                <a:cs typeface="Arial"/>
              </a:rPr>
              <a:t>Fixed public sample. Segmentation validity unverified.</a:t>
            </a:r>
          </a:p>
        </p:txBody>
      </p:sp>
    </p:spTree>
    <p:extLst>
      <p:ext uri="{BB962C8B-B14F-4D97-AF65-F5344CB8AC3E}">
        <p14:creationId xmlns:p14="http://schemas.microsoft.com/office/powerpoint/2010/main" val="2056252201"/>
      </p:ext>
    </p:extLst>
  </p:cSld>
</p:sld>
</file>

<file path=ppt/slides/slide5.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4A2CC8-7EAC-4859-92F8-315ED3F2D7C2}"/>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Researcher control</a:t>
            </a:r>
          </a:p>
        </p:txBody>
      </p:sp>
      <p:sp>
        <p:nvSpPr>
          <p:cNvPr id="2" name="">
            <a:extLst xmlns:a="http://schemas.openxmlformats.org/drawingml/2006/main">
              <a:ext uri="{FF2B5EF4-FFF2-40B4-BE49-F238E27FC236}">
                <a16:creationId xmlns:a16="http://schemas.microsoft.com/office/drawing/2014/main" id="{86C27536-AAE4-4574-AC79-A474DB78270C}"/>
              </a:ext>
            </a:extLst>
          </p:cNvPr>
          <p:cNvSpPr>
            <a:spLocks xmlns:a="http://schemas.openxmlformats.org/drawingml/2006/main" noGrp="1"/>
          </p:cNvSpPr>
          <p:nvPr/>
        </p:nvSpPr>
        <p:spPr>
          <a:xfrm xmlns:a="http://schemas.openxmlformats.org/drawingml/2006/main">
            <a:off x="666750" y="1809750"/>
            <a:ext cx="1028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Exact actions and candidate counts for review</a:t>
            </a:r>
          </a:p>
        </p:txBody>
      </p:sp>
      <p:sp>
        <p:nvSpPr>
          <p:cNvPr id="3" name="">
            <a:extLst xmlns:a="http://schemas.openxmlformats.org/drawingml/2006/main">
              <a:ext uri="{FF2B5EF4-FFF2-40B4-BE49-F238E27FC236}">
                <a16:creationId xmlns:a16="http://schemas.microsoft.com/office/drawing/2014/main" id="{D3C353F7-D1FA-46AE-8E21-D3B1873B8DE1}"/>
              </a:ext>
            </a:extLst>
          </p:cNvPr>
          <p:cNvSpPr>
            <a:spLocks xmlns:a="http://schemas.openxmlformats.org/drawingml/2006/main" noGrp="1"/>
          </p:cNvSpPr>
          <p:nvPr/>
        </p:nvSpPr>
        <p:spPr>
          <a:xfrm xmlns:a="http://schemas.openxmlformats.org/drawingml/2006/main">
            <a:off x="666750" y="2600325"/>
            <a:ext cx="10191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Changes to the image or selection invalidate stale approval.</a:t>
            </a:r>
          </a:p>
        </p:txBody>
      </p:sp>
      <p:sp>
        <p:nvSpPr>
          <p:cNvPr id="4" name="">
            <a:extLst xmlns:a="http://schemas.openxmlformats.org/drawingml/2006/main">
              <a:ext uri="{FF2B5EF4-FFF2-40B4-BE49-F238E27FC236}">
                <a16:creationId xmlns:a16="http://schemas.microsoft.com/office/drawing/2014/main" id="{0110704D-31E9-4E1E-89B4-B19C529CB174}"/>
              </a:ext>
            </a:extLst>
          </p:cNvPr>
          <p:cNvSpPr>
            <a:spLocks xmlns:a="http://schemas.openxmlformats.org/drawingml/2006/main" noGrp="1"/>
          </p:cNvSpPr>
          <p:nvPr/>
        </p:nvSpPr>
        <p:spPr>
          <a:xfrm xmlns:a="http://schemas.openxmlformats.org/drawingml/2006/main">
            <a:off x="666750" y="38100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0">
                <a:solidFill>
                  <a:srgbClr val="F4F5F4"/>
                </a:solidFill>
                <a:latin typeface="Arial"/>
                <a:ea typeface="Arial"/>
                <a:cs typeface="Arial"/>
              </a:defRPr>
            </a:defPPr>
            <a:lvl1pPr>
              <a:defRPr sz="3000" b="0">
                <a:solidFill>
                  <a:srgbClr val="F4F5F4"/>
                </a:solidFill>
                <a:latin typeface="Arial"/>
                <a:ea typeface="Arial"/>
                <a:cs typeface="Arial"/>
              </a:defRPr>
            </a:lvl1pPr>
            <a:lvl2pPr>
              <a:defRPr sz="3000" b="0">
                <a:solidFill>
                  <a:srgbClr val="F4F5F4"/>
                </a:solidFill>
                <a:latin typeface="Arial"/>
                <a:ea typeface="Arial"/>
                <a:cs typeface="Arial"/>
              </a:defRPr>
            </a:lvl2pPr>
            <a:lvl3pPr>
              <a:defRPr sz="3000" b="0">
                <a:solidFill>
                  <a:srgbClr val="F4F5F4"/>
                </a:solidFill>
                <a:latin typeface="Arial"/>
                <a:ea typeface="Arial"/>
                <a:cs typeface="Arial"/>
              </a:defRPr>
            </a:lvl3pPr>
            <a:lvl4pPr>
              <a:defRPr sz="3000" b="0">
                <a:solidFill>
                  <a:srgbClr val="F4F5F4"/>
                </a:solidFill>
                <a:latin typeface="Arial"/>
                <a:ea typeface="Arial"/>
                <a:cs typeface="Arial"/>
              </a:defRPr>
            </a:lvl4pPr>
            <a:lvl5pPr>
              <a:defRPr sz="3000" b="0">
                <a:solidFill>
                  <a:srgbClr val="F4F5F4"/>
                </a:solidFill>
                <a:latin typeface="Arial"/>
                <a:ea typeface="Arial"/>
                <a:cs typeface="Arial"/>
              </a:defRPr>
            </a:lvl5pPr>
            <a:lvl6pPr>
              <a:defRPr sz="3000" b="0">
                <a:solidFill>
                  <a:srgbClr val="F4F5F4"/>
                </a:solidFill>
                <a:latin typeface="Arial"/>
                <a:ea typeface="Arial"/>
                <a:cs typeface="Arial"/>
              </a:defRPr>
            </a:lvl6pPr>
            <a:lvl7pPr>
              <a:defRPr sz="3000" b="0">
                <a:solidFill>
                  <a:srgbClr val="F4F5F4"/>
                </a:solidFill>
                <a:latin typeface="Arial"/>
                <a:ea typeface="Arial"/>
                <a:cs typeface="Arial"/>
              </a:defRPr>
            </a:lvl7pPr>
            <a:lvl8pPr>
              <a:defRPr sz="3000" b="0">
                <a:solidFill>
                  <a:srgbClr val="F4F5F4"/>
                </a:solidFill>
                <a:latin typeface="Arial"/>
                <a:ea typeface="Arial"/>
                <a:cs typeface="Arial"/>
              </a:defRPr>
            </a:lvl8pPr>
            <a:lvl9pPr>
              <a:defRPr sz="3000" b="0">
                <a:solidFill>
                  <a:srgbClr val="F4F5F4"/>
                </a:solidFill>
                <a:latin typeface="Arial"/>
                <a:ea typeface="Arial"/>
                <a:cs typeface="Arial"/>
              </a:defRPr>
            </a:lvl9pPr>
          </a:lstStyle>
          <a:p xmlns:a="http://schemas.openxmlformats.org/drawingml/2006/main">
            <a:pPr>
              <a:defRPr sz="3000" b="0">
                <a:solidFill>
                  <a:srgbClr val="F4F5F4"/>
                </a:solidFill>
                <a:latin typeface="Arial"/>
                <a:ea typeface="Arial"/>
                <a:cs typeface="Arial"/>
              </a:defRPr>
            </a:pPr>
            <a:r>
              <a:rPr sz="3000" b="0">
                <a:solidFill>
                  <a:srgbClr val="F4F5F4"/>
                </a:solidFill>
                <a:latin typeface="Arial"/>
                <a:ea typeface="Arial"/>
                <a:cs typeface="Arial"/>
              </a:rPr>
              <a:t>Measured results and recoverable object state</a:t>
            </a:r>
          </a:p>
        </p:txBody>
      </p:sp>
      <p:sp>
        <p:nvSpPr>
          <p:cNvPr id="5" name="">
            <a:extLst xmlns:a="http://schemas.openxmlformats.org/drawingml/2006/main">
              <a:ext uri="{FF2B5EF4-FFF2-40B4-BE49-F238E27FC236}">
                <a16:creationId xmlns:a16="http://schemas.microsoft.com/office/drawing/2014/main" id="{E392DB6F-8ABB-4667-9FF6-0A4A9B8A04C1}"/>
              </a:ext>
            </a:extLst>
          </p:cNvPr>
          <p:cNvSpPr>
            <a:spLocks xmlns:a="http://schemas.openxmlformats.org/drawingml/2006/main" noGrp="1"/>
          </p:cNvSpPr>
          <p:nvPr/>
        </p:nvSpPr>
        <p:spPr>
          <a:xfrm xmlns:a="http://schemas.openxmlformats.org/drawingml/2006/main">
            <a:off x="666750" y="4600575"/>
            <a:ext cx="1038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The test restored the original empty hierarchy.</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File and external effects remain outside that recovery boundary.</a:t>
            </a:r>
          </a:p>
        </p:txBody>
      </p:sp>
    </p:spTree>
    <p:extLst>
      <p:ext uri="{BB962C8B-B14F-4D97-AF65-F5344CB8AC3E}">
        <p14:creationId xmlns:p14="http://schemas.microsoft.com/office/powerpoint/2010/main" val="350502848"/>
      </p:ext>
    </p:extLst>
  </p:cSld>
</p:sld>
</file>

<file path=ppt/slides/slide6.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5683AB2-89A4-4226-B2F4-2CFDFFF2144F}"/>
              </a:ext>
            </a:extLst>
          </p:cNvPr>
          <p:cNvSpPr>
            <a:spLocks xmlns:a="http://schemas.openxmlformats.org/drawingml/2006/main" noGrp="1"/>
          </p:cNvSpPr>
          <p:nvPr/>
        </p:nvSpPr>
        <p:spPr>
          <a:xfrm xmlns:a="http://schemas.openxmlformats.org/drawingml/2006/main">
            <a:off x="609600" y="55245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A reusable application layer</a:t>
            </a:r>
          </a:p>
        </p:txBody>
      </p:sp>
      <p:sp>
        <p:nvSpPr>
          <p:cNvPr id="2" name="">
            <a:extLst xmlns:a="http://schemas.openxmlformats.org/drawingml/2006/main">
              <a:ext uri="{FF2B5EF4-FFF2-40B4-BE49-F238E27FC236}">
                <a16:creationId xmlns:a16="http://schemas.microsoft.com/office/drawing/2014/main" id="{CC04FDF8-5409-4740-BB89-81D7846AFF0B}"/>
              </a:ext>
            </a:extLst>
          </p:cNvPr>
          <p:cNvSpPr>
            <a:spLocks xmlns:a="http://schemas.openxmlformats.org/drawingml/2006/main" noGrp="1"/>
          </p:cNvSpPr>
          <p:nvPr/>
        </p:nvSpPr>
        <p:spPr>
          <a:xfrm xmlns:a="http://schemas.openxmlformats.org/drawingml/2006/main">
            <a:off x="666750" y="1857375"/>
            <a:ext cx="4000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8400" b="1">
                <a:solidFill>
                  <a:srgbClr val="F4F5F4"/>
                </a:solidFill>
                <a:latin typeface="Arial"/>
                <a:ea typeface="Arial"/>
                <a:cs typeface="Arial"/>
              </a:defRPr>
            </a:defPPr>
            <a:lvl1pPr>
              <a:defRPr sz="8400" b="1">
                <a:solidFill>
                  <a:srgbClr val="F4F5F4"/>
                </a:solidFill>
                <a:latin typeface="Arial"/>
                <a:ea typeface="Arial"/>
                <a:cs typeface="Arial"/>
              </a:defRPr>
            </a:lvl1pPr>
            <a:lvl2pPr>
              <a:defRPr sz="8400" b="1">
                <a:solidFill>
                  <a:srgbClr val="F4F5F4"/>
                </a:solidFill>
                <a:latin typeface="Arial"/>
                <a:ea typeface="Arial"/>
                <a:cs typeface="Arial"/>
              </a:defRPr>
            </a:lvl2pPr>
            <a:lvl3pPr>
              <a:defRPr sz="8400" b="1">
                <a:solidFill>
                  <a:srgbClr val="F4F5F4"/>
                </a:solidFill>
                <a:latin typeface="Arial"/>
                <a:ea typeface="Arial"/>
                <a:cs typeface="Arial"/>
              </a:defRPr>
            </a:lvl3pPr>
            <a:lvl4pPr>
              <a:defRPr sz="8400" b="1">
                <a:solidFill>
                  <a:srgbClr val="F4F5F4"/>
                </a:solidFill>
                <a:latin typeface="Arial"/>
                <a:ea typeface="Arial"/>
                <a:cs typeface="Arial"/>
              </a:defRPr>
            </a:lvl4pPr>
            <a:lvl5pPr>
              <a:defRPr sz="8400" b="1">
                <a:solidFill>
                  <a:srgbClr val="F4F5F4"/>
                </a:solidFill>
                <a:latin typeface="Arial"/>
                <a:ea typeface="Arial"/>
                <a:cs typeface="Arial"/>
              </a:defRPr>
            </a:lvl5pPr>
            <a:lvl6pPr>
              <a:defRPr sz="8400" b="1">
                <a:solidFill>
                  <a:srgbClr val="F4F5F4"/>
                </a:solidFill>
                <a:latin typeface="Arial"/>
                <a:ea typeface="Arial"/>
                <a:cs typeface="Arial"/>
              </a:defRPr>
            </a:lvl6pPr>
            <a:lvl7pPr>
              <a:defRPr sz="8400" b="1">
                <a:solidFill>
                  <a:srgbClr val="F4F5F4"/>
                </a:solidFill>
                <a:latin typeface="Arial"/>
                <a:ea typeface="Arial"/>
                <a:cs typeface="Arial"/>
              </a:defRPr>
            </a:lvl7pPr>
            <a:lvl8pPr>
              <a:defRPr sz="8400" b="1">
                <a:solidFill>
                  <a:srgbClr val="F4F5F4"/>
                </a:solidFill>
                <a:latin typeface="Arial"/>
                <a:ea typeface="Arial"/>
                <a:cs typeface="Arial"/>
              </a:defRPr>
            </a:lvl8pPr>
            <a:lvl9pPr>
              <a:defRPr sz="8400" b="1">
                <a:solidFill>
                  <a:srgbClr val="F4F5F4"/>
                </a:solidFill>
                <a:latin typeface="Arial"/>
                <a:ea typeface="Arial"/>
                <a:cs typeface="Arial"/>
              </a:defRPr>
            </a:lvl9pPr>
          </a:lstStyle>
          <a:p xmlns:a="http://schemas.openxmlformats.org/drawingml/2006/main">
            <a:pPr>
              <a:defRPr sz="8400" b="1">
                <a:solidFill>
                  <a:srgbClr val="F4F5F4"/>
                </a:solidFill>
                <a:latin typeface="Arial"/>
                <a:ea typeface="Arial"/>
                <a:cs typeface="Arial"/>
              </a:defRPr>
            </a:pPr>
            <a:r>
              <a:rPr sz="8400" b="1">
                <a:solidFill>
                  <a:srgbClr val="F4F5F4"/>
                </a:solidFill>
                <a:latin typeface="Arial"/>
                <a:ea typeface="Arial"/>
                <a:cs typeface="Arial"/>
              </a:rPr>
              <a:t>32</a:t>
            </a:r>
          </a:p>
        </p:txBody>
      </p:sp>
      <p:sp>
        <p:nvSpPr>
          <p:cNvPr id="3" name="">
            <a:extLst xmlns:a="http://schemas.openxmlformats.org/drawingml/2006/main">
              <a:ext uri="{FF2B5EF4-FFF2-40B4-BE49-F238E27FC236}">
                <a16:creationId xmlns:a16="http://schemas.microsoft.com/office/drawing/2014/main" id="{F793BD58-5A64-4337-8063-71D8D4378C89}"/>
              </a:ext>
            </a:extLst>
          </p:cNvPr>
          <p:cNvSpPr>
            <a:spLocks xmlns:a="http://schemas.openxmlformats.org/drawingml/2006/main" noGrp="1"/>
          </p:cNvSpPr>
          <p:nvPr/>
        </p:nvSpPr>
        <p:spPr>
          <a:xfrm xmlns:a="http://schemas.openxmlformats.org/drawingml/2006/main">
            <a:off x="742950" y="352425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F4F5F4"/>
                </a:solidFill>
                <a:latin typeface="Arial"/>
                <a:ea typeface="Arial"/>
                <a:cs typeface="Arial"/>
              </a:defRPr>
            </a:defPPr>
            <a:lvl1pPr>
              <a:defRPr sz="2400" b="0">
                <a:solidFill>
                  <a:srgbClr val="F4F5F4"/>
                </a:solidFill>
                <a:latin typeface="Arial"/>
                <a:ea typeface="Arial"/>
                <a:cs typeface="Arial"/>
              </a:defRPr>
            </a:lvl1pPr>
            <a:lvl2pPr>
              <a:defRPr sz="2400" b="0">
                <a:solidFill>
                  <a:srgbClr val="F4F5F4"/>
                </a:solidFill>
                <a:latin typeface="Arial"/>
                <a:ea typeface="Arial"/>
                <a:cs typeface="Arial"/>
              </a:defRPr>
            </a:lvl2pPr>
            <a:lvl3pPr>
              <a:defRPr sz="2400" b="0">
                <a:solidFill>
                  <a:srgbClr val="F4F5F4"/>
                </a:solidFill>
                <a:latin typeface="Arial"/>
                <a:ea typeface="Arial"/>
                <a:cs typeface="Arial"/>
              </a:defRPr>
            </a:lvl3pPr>
            <a:lvl4pPr>
              <a:defRPr sz="2400" b="0">
                <a:solidFill>
                  <a:srgbClr val="F4F5F4"/>
                </a:solidFill>
                <a:latin typeface="Arial"/>
                <a:ea typeface="Arial"/>
                <a:cs typeface="Arial"/>
              </a:defRPr>
            </a:lvl4pPr>
            <a:lvl5pPr>
              <a:defRPr sz="2400" b="0">
                <a:solidFill>
                  <a:srgbClr val="F4F5F4"/>
                </a:solidFill>
                <a:latin typeface="Arial"/>
                <a:ea typeface="Arial"/>
                <a:cs typeface="Arial"/>
              </a:defRPr>
            </a:lvl5pPr>
            <a:lvl6pPr>
              <a:defRPr sz="2400" b="0">
                <a:solidFill>
                  <a:srgbClr val="F4F5F4"/>
                </a:solidFill>
                <a:latin typeface="Arial"/>
                <a:ea typeface="Arial"/>
                <a:cs typeface="Arial"/>
              </a:defRPr>
            </a:lvl6pPr>
            <a:lvl7pPr>
              <a:defRPr sz="2400" b="0">
                <a:solidFill>
                  <a:srgbClr val="F4F5F4"/>
                </a:solidFill>
                <a:latin typeface="Arial"/>
                <a:ea typeface="Arial"/>
                <a:cs typeface="Arial"/>
              </a:defRPr>
            </a:lvl7pPr>
            <a:lvl8pPr>
              <a:defRPr sz="2400" b="0">
                <a:solidFill>
                  <a:srgbClr val="F4F5F4"/>
                </a:solidFill>
                <a:latin typeface="Arial"/>
                <a:ea typeface="Arial"/>
                <a:cs typeface="Arial"/>
              </a:defRPr>
            </a:lvl8pPr>
            <a:lvl9pPr>
              <a:defRPr sz="2400" b="0">
                <a:solidFill>
                  <a:srgbClr val="F4F5F4"/>
                </a:solidFill>
                <a:latin typeface="Arial"/>
                <a:ea typeface="Arial"/>
                <a:cs typeface="Arial"/>
              </a:defRPr>
            </a:lvl9pPr>
          </a:lstStyle>
          <a:p xmlns:a="http://schemas.openxmlformats.org/drawingml/2006/main">
            <a:pPr>
              <a:defRPr sz="2400" b="0">
                <a:solidFill>
                  <a:srgbClr val="F4F5F4"/>
                </a:solidFill>
                <a:latin typeface="Arial"/>
                <a:ea typeface="Arial"/>
                <a:cs typeface="Arial"/>
              </a:defRPr>
            </a:pPr>
            <a:r>
              <a:rPr sz="2400" b="0">
                <a:solidFill>
                  <a:srgbClr val="F4F5F4"/>
                </a:solidFill>
                <a:latin typeface="Arial"/>
                <a:ea typeface="Arial"/>
                <a:cs typeface="Arial"/>
              </a:rPr>
              <a:t>MCP tools for QuPath</a:t>
            </a:r>
          </a:p>
        </p:txBody>
      </p:sp>
      <p:sp>
        <p:nvSpPr>
          <p:cNvPr id="4" name="">
            <a:extLst xmlns:a="http://schemas.openxmlformats.org/drawingml/2006/main">
              <a:ext uri="{FF2B5EF4-FFF2-40B4-BE49-F238E27FC236}">
                <a16:creationId xmlns:a16="http://schemas.microsoft.com/office/drawing/2014/main" id="{CA75BFF6-0D13-410A-806B-265EF4DD12BA}"/>
              </a:ext>
            </a:extLst>
          </p:cNvPr>
          <p:cNvSpPr>
            <a:spLocks xmlns:a="http://schemas.openxmlformats.org/drawingml/2006/main" noGrp="1"/>
          </p:cNvSpPr>
          <p:nvPr/>
        </p:nvSpPr>
        <p:spPr>
          <a:xfrm xmlns:a="http://schemas.openxmlformats.org/drawingml/2006/main">
            <a:off x="742950" y="4552950"/>
            <a:ext cx="10382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A1AFAB"/>
                </a:solidFill>
                <a:latin typeface="Arial"/>
                <a:ea typeface="Arial"/>
                <a:cs typeface="Arial"/>
              </a:defRPr>
            </a:defPPr>
            <a:lvl1pPr>
              <a:defRPr sz="2250" b="0">
                <a:solidFill>
                  <a:srgbClr val="A1AFAB"/>
                </a:solidFill>
                <a:latin typeface="Arial"/>
                <a:ea typeface="Arial"/>
                <a:cs typeface="Arial"/>
              </a:defRPr>
            </a:lvl1pPr>
            <a:lvl2pPr>
              <a:defRPr sz="2250" b="0">
                <a:solidFill>
                  <a:srgbClr val="A1AFAB"/>
                </a:solidFill>
                <a:latin typeface="Arial"/>
                <a:ea typeface="Arial"/>
                <a:cs typeface="Arial"/>
              </a:defRPr>
            </a:lvl2pPr>
            <a:lvl3pPr>
              <a:defRPr sz="2250" b="0">
                <a:solidFill>
                  <a:srgbClr val="A1AFAB"/>
                </a:solidFill>
                <a:latin typeface="Arial"/>
                <a:ea typeface="Arial"/>
                <a:cs typeface="Arial"/>
              </a:defRPr>
            </a:lvl3pPr>
            <a:lvl4pPr>
              <a:defRPr sz="2250" b="0">
                <a:solidFill>
                  <a:srgbClr val="A1AFAB"/>
                </a:solidFill>
                <a:latin typeface="Arial"/>
                <a:ea typeface="Arial"/>
                <a:cs typeface="Arial"/>
              </a:defRPr>
            </a:lvl4pPr>
            <a:lvl5pPr>
              <a:defRPr sz="2250" b="0">
                <a:solidFill>
                  <a:srgbClr val="A1AFAB"/>
                </a:solidFill>
                <a:latin typeface="Arial"/>
                <a:ea typeface="Arial"/>
                <a:cs typeface="Arial"/>
              </a:defRPr>
            </a:lvl5pPr>
            <a:lvl6pPr>
              <a:defRPr sz="2250" b="0">
                <a:solidFill>
                  <a:srgbClr val="A1AFAB"/>
                </a:solidFill>
                <a:latin typeface="Arial"/>
                <a:ea typeface="Arial"/>
                <a:cs typeface="Arial"/>
              </a:defRPr>
            </a:lvl6pPr>
            <a:lvl7pPr>
              <a:defRPr sz="2250" b="0">
                <a:solidFill>
                  <a:srgbClr val="A1AFAB"/>
                </a:solidFill>
                <a:latin typeface="Arial"/>
                <a:ea typeface="Arial"/>
                <a:cs typeface="Arial"/>
              </a:defRPr>
            </a:lvl7pPr>
            <a:lvl8pPr>
              <a:defRPr sz="2250" b="0">
                <a:solidFill>
                  <a:srgbClr val="A1AFAB"/>
                </a:solidFill>
                <a:latin typeface="Arial"/>
                <a:ea typeface="Arial"/>
                <a:cs typeface="Arial"/>
              </a:defRPr>
            </a:lvl8pPr>
            <a:lvl9pPr>
              <a:defRPr sz="2250" b="0">
                <a:solidFill>
                  <a:srgbClr val="A1AFAB"/>
                </a:solidFill>
                <a:latin typeface="Arial"/>
                <a:ea typeface="Arial"/>
                <a:cs typeface="Arial"/>
              </a:defRPr>
            </a:lvl9pPr>
          </a:lstStyle>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879 pinned source files and searchable task knowledge</a:t>
            </a:r>
          </a:p>
          <a:p xmlns:a="http://schemas.openxmlformats.org/drawingml/2006/main">
            <a:pPr>
              <a:defRPr sz="2250" b="0">
                <a:solidFill>
                  <a:srgbClr val="A1AFAB"/>
                </a:solidFill>
                <a:latin typeface="Arial"/>
                <a:ea typeface="Arial"/>
                <a:cs typeface="Arial"/>
              </a:defRPr>
            </a:pPr>
            <a:r>
              <a:rPr sz="2250" b="0">
                <a:solidFill>
                  <a:srgbClr val="A1AFAB"/>
                </a:solidFill>
                <a:latin typeface="Arial"/>
                <a:ea typeface="Arial"/>
                <a:cs typeface="Arial"/>
              </a:rPr>
              <a:t>help an agent verify unfamiliar operations.</a:t>
            </a:r>
          </a:p>
        </p:txBody>
      </p:sp>
    </p:spTree>
    <p:extLst>
      <p:ext uri="{BB962C8B-B14F-4D97-AF65-F5344CB8AC3E}">
        <p14:creationId xmlns:p14="http://schemas.microsoft.com/office/powerpoint/2010/main" val="535129058"/>
      </p:ext>
    </p:extLst>
  </p:cSld>
</p:sld>
</file>

<file path=ppt/slides/slide7.xml><?xml version="1.0" encoding="utf-8"?>
<p:sld xmlns:p="http://schemas.openxmlformats.org/presentationml/2006/main">
  <p:cSld>
    <p:bg>
      <p:bgPr>
        <a:solidFill xmlns:a="http://schemas.openxmlformats.org/drawingml/2006/main">
          <a:srgbClr val="11171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89BA50E-EE43-4849-9225-B2F4A77D28BB}"/>
              </a:ext>
            </a:extLst>
          </p:cNvPr>
          <p:cNvSpPr>
            <a:spLocks xmlns:a="http://schemas.openxmlformats.org/drawingml/2006/main" noGrp="1"/>
          </p:cNvSpPr>
          <p:nvPr/>
        </p:nvSpPr>
        <p:spPr>
          <a:xfrm xmlns:a="http://schemas.openxmlformats.org/drawingml/2006/main">
            <a:off x="609600" y="552450"/>
            <a:ext cx="10477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0">
                <a:solidFill>
                  <a:srgbClr val="A3EAC9"/>
                </a:solidFill>
                <a:latin typeface="Arial"/>
                <a:ea typeface="Arial"/>
                <a:cs typeface="Arial"/>
              </a:defRPr>
            </a:defPPr>
            <a:lvl1pPr>
              <a:defRPr sz="3600" b="0">
                <a:solidFill>
                  <a:srgbClr val="A3EAC9"/>
                </a:solidFill>
                <a:latin typeface="Arial"/>
                <a:ea typeface="Arial"/>
                <a:cs typeface="Arial"/>
              </a:defRPr>
            </a:lvl1pPr>
            <a:lvl2pPr>
              <a:defRPr sz="3600" b="0">
                <a:solidFill>
                  <a:srgbClr val="A3EAC9"/>
                </a:solidFill>
                <a:latin typeface="Arial"/>
                <a:ea typeface="Arial"/>
                <a:cs typeface="Arial"/>
              </a:defRPr>
            </a:lvl2pPr>
            <a:lvl3pPr>
              <a:defRPr sz="3600" b="0">
                <a:solidFill>
                  <a:srgbClr val="A3EAC9"/>
                </a:solidFill>
                <a:latin typeface="Arial"/>
                <a:ea typeface="Arial"/>
                <a:cs typeface="Arial"/>
              </a:defRPr>
            </a:lvl3pPr>
            <a:lvl4pPr>
              <a:defRPr sz="3600" b="0">
                <a:solidFill>
                  <a:srgbClr val="A3EAC9"/>
                </a:solidFill>
                <a:latin typeface="Arial"/>
                <a:ea typeface="Arial"/>
                <a:cs typeface="Arial"/>
              </a:defRPr>
            </a:lvl4pPr>
            <a:lvl5pPr>
              <a:defRPr sz="3600" b="0">
                <a:solidFill>
                  <a:srgbClr val="A3EAC9"/>
                </a:solidFill>
                <a:latin typeface="Arial"/>
                <a:ea typeface="Arial"/>
                <a:cs typeface="Arial"/>
              </a:defRPr>
            </a:lvl5pPr>
            <a:lvl6pPr>
              <a:defRPr sz="3600" b="0">
                <a:solidFill>
                  <a:srgbClr val="A3EAC9"/>
                </a:solidFill>
                <a:latin typeface="Arial"/>
                <a:ea typeface="Arial"/>
                <a:cs typeface="Arial"/>
              </a:defRPr>
            </a:lvl6pPr>
            <a:lvl7pPr>
              <a:defRPr sz="3600" b="0">
                <a:solidFill>
                  <a:srgbClr val="A3EAC9"/>
                </a:solidFill>
                <a:latin typeface="Arial"/>
                <a:ea typeface="Arial"/>
                <a:cs typeface="Arial"/>
              </a:defRPr>
            </a:lvl7pPr>
            <a:lvl8pPr>
              <a:defRPr sz="3600" b="0">
                <a:solidFill>
                  <a:srgbClr val="A3EAC9"/>
                </a:solidFill>
                <a:latin typeface="Arial"/>
                <a:ea typeface="Arial"/>
                <a:cs typeface="Arial"/>
              </a:defRPr>
            </a:lvl8pPr>
            <a:lvl9pPr>
              <a:defRPr sz="3600" b="0">
                <a:solidFill>
                  <a:srgbClr val="A3EAC9"/>
                </a:solidFill>
                <a:latin typeface="Arial"/>
                <a:ea typeface="Arial"/>
                <a:cs typeface="Arial"/>
              </a:defRPr>
            </a:lvl9pPr>
          </a:lstStyle>
          <a:p xmlns:a="http://schemas.openxmlformats.org/drawingml/2006/main">
            <a:pPr>
              <a:defRPr sz="3600" b="0">
                <a:solidFill>
                  <a:srgbClr val="A3EAC9"/>
                </a:solidFill>
                <a:latin typeface="Arial"/>
                <a:ea typeface="Arial"/>
                <a:cs typeface="Arial"/>
              </a:defRPr>
            </a:pPr>
            <a:r>
              <a:rPr sz="3600" b="0">
                <a:solidFill>
                  <a:srgbClr val="A3EAC9"/>
                </a:solidFill>
                <a:latin typeface="Arial"/>
                <a:ea typeface="Arial"/>
                <a:cs typeface="Arial"/>
              </a:rPr>
              <a:t>The prototype today</a:t>
            </a:r>
          </a:p>
        </p:txBody>
      </p:sp>
      <p:sp>
        <p:nvSpPr>
          <p:cNvPr id="2" name="">
            <a:extLst xmlns:a="http://schemas.openxmlformats.org/drawingml/2006/main">
              <a:ext uri="{FF2B5EF4-FFF2-40B4-BE49-F238E27FC236}">
                <a16:creationId xmlns:a16="http://schemas.microsoft.com/office/drawing/2014/main" id="{FC728B1F-5DF5-4720-8C72-9C194E833C63}"/>
              </a:ext>
            </a:extLst>
          </p:cNvPr>
          <p:cNvSpPr>
            <a:spLocks xmlns:a="http://schemas.openxmlformats.org/drawingml/2006/main" noGrp="1"/>
          </p:cNvSpPr>
          <p:nvPr/>
        </p:nvSpPr>
        <p:spPr>
          <a:xfrm xmlns:a="http://schemas.openxmlformats.org/drawingml/2006/main">
            <a:off x="666750" y="1809750"/>
            <a:ext cx="10572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75" b="0">
                <a:solidFill>
                  <a:srgbClr val="F4F5F4"/>
                </a:solidFill>
                <a:latin typeface="Arial"/>
                <a:ea typeface="Arial"/>
                <a:cs typeface="Arial"/>
              </a:defRPr>
            </a:defPPr>
            <a:lvl1pPr>
              <a:defRPr sz="3675" b="0">
                <a:solidFill>
                  <a:srgbClr val="F4F5F4"/>
                </a:solidFill>
                <a:latin typeface="Arial"/>
                <a:ea typeface="Arial"/>
                <a:cs typeface="Arial"/>
              </a:defRPr>
            </a:lvl1pPr>
            <a:lvl2pPr>
              <a:defRPr sz="3675" b="0">
                <a:solidFill>
                  <a:srgbClr val="F4F5F4"/>
                </a:solidFill>
                <a:latin typeface="Arial"/>
                <a:ea typeface="Arial"/>
                <a:cs typeface="Arial"/>
              </a:defRPr>
            </a:lvl2pPr>
            <a:lvl3pPr>
              <a:defRPr sz="3675" b="0">
                <a:solidFill>
                  <a:srgbClr val="F4F5F4"/>
                </a:solidFill>
                <a:latin typeface="Arial"/>
                <a:ea typeface="Arial"/>
                <a:cs typeface="Arial"/>
              </a:defRPr>
            </a:lvl3pPr>
            <a:lvl4pPr>
              <a:defRPr sz="3675" b="0">
                <a:solidFill>
                  <a:srgbClr val="F4F5F4"/>
                </a:solidFill>
                <a:latin typeface="Arial"/>
                <a:ea typeface="Arial"/>
                <a:cs typeface="Arial"/>
              </a:defRPr>
            </a:lvl4pPr>
            <a:lvl5pPr>
              <a:defRPr sz="3675" b="0">
                <a:solidFill>
                  <a:srgbClr val="F4F5F4"/>
                </a:solidFill>
                <a:latin typeface="Arial"/>
                <a:ea typeface="Arial"/>
                <a:cs typeface="Arial"/>
              </a:defRPr>
            </a:lvl5pPr>
            <a:lvl6pPr>
              <a:defRPr sz="3675" b="0">
                <a:solidFill>
                  <a:srgbClr val="F4F5F4"/>
                </a:solidFill>
                <a:latin typeface="Arial"/>
                <a:ea typeface="Arial"/>
                <a:cs typeface="Arial"/>
              </a:defRPr>
            </a:lvl6pPr>
            <a:lvl7pPr>
              <a:defRPr sz="3675" b="0">
                <a:solidFill>
                  <a:srgbClr val="F4F5F4"/>
                </a:solidFill>
                <a:latin typeface="Arial"/>
                <a:ea typeface="Arial"/>
                <a:cs typeface="Arial"/>
              </a:defRPr>
            </a:lvl7pPr>
            <a:lvl8pPr>
              <a:defRPr sz="3675" b="0">
                <a:solidFill>
                  <a:srgbClr val="F4F5F4"/>
                </a:solidFill>
                <a:latin typeface="Arial"/>
                <a:ea typeface="Arial"/>
                <a:cs typeface="Arial"/>
              </a:defRPr>
            </a:lvl8pPr>
            <a:lvl9pPr>
              <a:defRPr sz="3675" b="0">
                <a:solidFill>
                  <a:srgbClr val="F4F5F4"/>
                </a:solidFill>
                <a:latin typeface="Arial"/>
                <a:ea typeface="Arial"/>
                <a:cs typeface="Arial"/>
              </a:defRPr>
            </a:lvl9pPr>
          </a:lstStyle>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An OpenAI text agent runs</a:t>
            </a:r>
          </a:p>
          <a:p xmlns:a="http://schemas.openxmlformats.org/drawingml/2006/main">
            <a:pPr>
              <a:defRPr sz="3675" b="0">
                <a:solidFill>
                  <a:srgbClr val="F4F5F4"/>
                </a:solidFill>
                <a:latin typeface="Arial"/>
                <a:ea typeface="Arial"/>
                <a:cs typeface="Arial"/>
              </a:defRPr>
            </a:pPr>
            <a:r>
              <a:rPr sz="3675" b="0">
                <a:solidFill>
                  <a:srgbClr val="F4F5F4"/>
                </a:solidFill>
                <a:latin typeface="Arial"/>
                <a:ea typeface="Arial"/>
                <a:cs typeface="Arial"/>
              </a:rPr>
              <a:t>a complete QuPath workflow.</a:t>
            </a:r>
          </a:p>
        </p:txBody>
      </p:sp>
      <p:sp>
        <p:nvSpPr>
          <p:cNvPr id="3" name="">
            <a:extLst xmlns:a="http://schemas.openxmlformats.org/drawingml/2006/main">
              <a:ext uri="{FF2B5EF4-FFF2-40B4-BE49-F238E27FC236}">
                <a16:creationId xmlns:a16="http://schemas.microsoft.com/office/drawing/2014/main" id="{0FDBD0E6-C54C-4050-9B41-15D6F7D9C82F}"/>
              </a:ext>
            </a:extLst>
          </p:cNvPr>
          <p:cNvSpPr>
            <a:spLocks xmlns:a="http://schemas.openxmlformats.org/drawingml/2006/main" noGrp="1"/>
          </p:cNvSpPr>
          <p:nvPr/>
        </p:nvSpPr>
        <p:spPr>
          <a:xfrm xmlns:a="http://schemas.openxmlformats.org/drawingml/2006/main">
            <a:off x="685800" y="38100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A1AFAB"/>
                </a:solidFill>
                <a:latin typeface="Arial"/>
                <a:ea typeface="Arial"/>
                <a:cs typeface="Arial"/>
              </a:defRPr>
            </a:defPPr>
            <a:lvl1pPr>
              <a:defRPr sz="2100" b="0">
                <a:solidFill>
                  <a:srgbClr val="A1AFAB"/>
                </a:solidFill>
                <a:latin typeface="Arial"/>
                <a:ea typeface="Arial"/>
                <a:cs typeface="Arial"/>
              </a:defRPr>
            </a:lvl1pPr>
            <a:lvl2pPr>
              <a:defRPr sz="2100" b="0">
                <a:solidFill>
                  <a:srgbClr val="A1AFAB"/>
                </a:solidFill>
                <a:latin typeface="Arial"/>
                <a:ea typeface="Arial"/>
                <a:cs typeface="Arial"/>
              </a:defRPr>
            </a:lvl2pPr>
            <a:lvl3pPr>
              <a:defRPr sz="2100" b="0">
                <a:solidFill>
                  <a:srgbClr val="A1AFAB"/>
                </a:solidFill>
                <a:latin typeface="Arial"/>
                <a:ea typeface="Arial"/>
                <a:cs typeface="Arial"/>
              </a:defRPr>
            </a:lvl3pPr>
            <a:lvl4pPr>
              <a:defRPr sz="2100" b="0">
                <a:solidFill>
                  <a:srgbClr val="A1AFAB"/>
                </a:solidFill>
                <a:latin typeface="Arial"/>
                <a:ea typeface="Arial"/>
                <a:cs typeface="Arial"/>
              </a:defRPr>
            </a:lvl4pPr>
            <a:lvl5pPr>
              <a:defRPr sz="2100" b="0">
                <a:solidFill>
                  <a:srgbClr val="A1AFAB"/>
                </a:solidFill>
                <a:latin typeface="Arial"/>
                <a:ea typeface="Arial"/>
                <a:cs typeface="Arial"/>
              </a:defRPr>
            </a:lvl5pPr>
            <a:lvl6pPr>
              <a:defRPr sz="2100" b="0">
                <a:solidFill>
                  <a:srgbClr val="A1AFAB"/>
                </a:solidFill>
                <a:latin typeface="Arial"/>
                <a:ea typeface="Arial"/>
                <a:cs typeface="Arial"/>
              </a:defRPr>
            </a:lvl6pPr>
            <a:lvl7pPr>
              <a:defRPr sz="2100" b="0">
                <a:solidFill>
                  <a:srgbClr val="A1AFAB"/>
                </a:solidFill>
                <a:latin typeface="Arial"/>
                <a:ea typeface="Arial"/>
                <a:cs typeface="Arial"/>
              </a:defRPr>
            </a:lvl7pPr>
            <a:lvl8pPr>
              <a:defRPr sz="2100" b="0">
                <a:solidFill>
                  <a:srgbClr val="A1AFAB"/>
                </a:solidFill>
                <a:latin typeface="Arial"/>
                <a:ea typeface="Arial"/>
                <a:cs typeface="Arial"/>
              </a:defRPr>
            </a:lvl8pPr>
            <a:lvl9pPr>
              <a:defRPr sz="2100" b="0">
                <a:solidFill>
                  <a:srgbClr val="A1AFAB"/>
                </a:solidFill>
                <a:latin typeface="Arial"/>
                <a:ea typeface="Arial"/>
                <a:cs typeface="Arial"/>
              </a:defRPr>
            </a:lvl9pPr>
          </a:lstStyle>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The original application and its algorithms stay intact.</a:t>
            </a:r>
          </a:p>
          <a:p xmlns:a="http://schemas.openxmlformats.org/drawingml/2006/main">
            <a:pPr>
              <a:defRPr sz="2100" b="0">
                <a:solidFill>
                  <a:srgbClr val="A1AFAB"/>
                </a:solidFill>
                <a:latin typeface="Arial"/>
                <a:ea typeface="Arial"/>
                <a:cs typeface="Arial"/>
              </a:defRPr>
            </a:pPr>
            <a:r>
              <a:rPr sz="2100" b="0">
                <a:solidFill>
                  <a:srgbClr val="A1AFAB"/>
                </a:solidFill>
                <a:latin typeface="Arial"/>
                <a:ea typeface="Arial"/>
                <a:cs typeface="Arial"/>
              </a:rPr>
              <a:t>Live voice still needs a credit-covered endpoint.</a:t>
            </a:r>
          </a:p>
        </p:txBody>
      </p:sp>
      <p:sp>
        <p:nvSpPr>
          <p:cNvPr id="4" name="">
            <a:extLst xmlns:a="http://schemas.openxmlformats.org/drawingml/2006/main">
              <a:ext uri="{FF2B5EF4-FFF2-40B4-BE49-F238E27FC236}">
                <a16:creationId xmlns:a16="http://schemas.microsoft.com/office/drawing/2014/main" id="{F23E465E-F623-4B59-925D-76CE9AD7045F}"/>
              </a:ext>
            </a:extLst>
          </p:cNvPr>
          <p:cNvSpPr>
            <a:spLocks xmlns:a="http://schemas.openxmlformats.org/drawingml/2006/main" noGrp="1"/>
          </p:cNvSpPr>
          <p:nvPr/>
        </p:nvSpPr>
        <p:spPr>
          <a:xfrm xmlns:a="http://schemas.openxmlformats.org/drawingml/2006/main">
            <a:off x="685800" y="5219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A3EAC9"/>
                </a:solidFill>
                <a:latin typeface="Arial"/>
                <a:ea typeface="Arial"/>
                <a:cs typeface="Arial"/>
              </a:defRPr>
            </a:defPPr>
            <a:lvl1pPr>
              <a:defRPr sz="2625" b="0">
                <a:solidFill>
                  <a:srgbClr val="A3EAC9"/>
                </a:solidFill>
                <a:latin typeface="Arial"/>
                <a:ea typeface="Arial"/>
                <a:cs typeface="Arial"/>
              </a:defRPr>
            </a:lvl1pPr>
            <a:lvl2pPr>
              <a:defRPr sz="2625" b="0">
                <a:solidFill>
                  <a:srgbClr val="A3EAC9"/>
                </a:solidFill>
                <a:latin typeface="Arial"/>
                <a:ea typeface="Arial"/>
                <a:cs typeface="Arial"/>
              </a:defRPr>
            </a:lvl2pPr>
            <a:lvl3pPr>
              <a:defRPr sz="2625" b="0">
                <a:solidFill>
                  <a:srgbClr val="A3EAC9"/>
                </a:solidFill>
                <a:latin typeface="Arial"/>
                <a:ea typeface="Arial"/>
                <a:cs typeface="Arial"/>
              </a:defRPr>
            </a:lvl3pPr>
            <a:lvl4pPr>
              <a:defRPr sz="2625" b="0">
                <a:solidFill>
                  <a:srgbClr val="A3EAC9"/>
                </a:solidFill>
                <a:latin typeface="Arial"/>
                <a:ea typeface="Arial"/>
                <a:cs typeface="Arial"/>
              </a:defRPr>
            </a:lvl4pPr>
            <a:lvl5pPr>
              <a:defRPr sz="2625" b="0">
                <a:solidFill>
                  <a:srgbClr val="A3EAC9"/>
                </a:solidFill>
                <a:latin typeface="Arial"/>
                <a:ea typeface="Arial"/>
                <a:cs typeface="Arial"/>
              </a:defRPr>
            </a:lvl5pPr>
            <a:lvl6pPr>
              <a:defRPr sz="2625" b="0">
                <a:solidFill>
                  <a:srgbClr val="A3EAC9"/>
                </a:solidFill>
                <a:latin typeface="Arial"/>
                <a:ea typeface="Arial"/>
                <a:cs typeface="Arial"/>
              </a:defRPr>
            </a:lvl6pPr>
            <a:lvl7pPr>
              <a:defRPr sz="2625" b="0">
                <a:solidFill>
                  <a:srgbClr val="A3EAC9"/>
                </a:solidFill>
                <a:latin typeface="Arial"/>
                <a:ea typeface="Arial"/>
                <a:cs typeface="Arial"/>
              </a:defRPr>
            </a:lvl7pPr>
            <a:lvl8pPr>
              <a:defRPr sz="2625" b="0">
                <a:solidFill>
                  <a:srgbClr val="A3EAC9"/>
                </a:solidFill>
                <a:latin typeface="Arial"/>
                <a:ea typeface="Arial"/>
                <a:cs typeface="Arial"/>
              </a:defRPr>
            </a:lvl8pPr>
            <a:lvl9pPr>
              <a:defRPr sz="2625" b="0">
                <a:solidFill>
                  <a:srgbClr val="A3EAC9"/>
                </a:solidFill>
                <a:latin typeface="Arial"/>
                <a:ea typeface="Arial"/>
                <a:cs typeface="Arial"/>
              </a:defRPr>
            </a:lvl9pPr>
          </a:lstStyle>
          <a:p xmlns:a="http://schemas.openxmlformats.org/drawingml/2006/main">
            <a:pPr>
              <a:defRPr sz="2625" b="0">
                <a:solidFill>
                  <a:srgbClr val="A3EAC9"/>
                </a:solidFill>
                <a:latin typeface="Arial"/>
                <a:ea typeface="Arial"/>
                <a:cs typeface="Arial"/>
              </a:defRPr>
            </a:pPr>
            <a:r>
              <a:rPr sz="2625" b="0">
                <a:solidFill>
                  <a:srgbClr val="A3EAC9"/>
                </a:solidFill>
                <a:latin typeface="Arial"/>
                <a:ea typeface="Arial"/>
                <a:cs typeface="Arial"/>
              </a:rPr>
              <a:t>Next: researcher tasks and live voice.</a:t>
            </a:r>
          </a:p>
        </p:txBody>
      </p:sp>
    </p:spTree>
    <p:extLst>
      <p:ext uri="{BB962C8B-B14F-4D97-AF65-F5344CB8AC3E}">
        <p14:creationId xmlns:p14="http://schemas.microsoft.com/office/powerpoint/2010/main" val="8933635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2026-10-17T05:22:36.8820000Z</dcterms:created>
  <dcterms:modified xsi:type="dcterms:W3CDTF">2026-10-17T05:22:36.8820000Z</dcterms:modified>
</coreProperties>
</file>