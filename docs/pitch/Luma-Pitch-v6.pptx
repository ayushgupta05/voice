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6d74e7bf2a47eb" /><Relationship Type="http://schemas.openxmlformats.org/officeDocument/2006/relationships/extended-properties" Target="/docProps/app.xml" Id="R985f3d9838c44399" /><Relationship Type="http://schemas.openxmlformats.org/officeDocument/2006/relationships/officeDocument" Target="/ppt/presentation.xml" Id="Rff13b0386743444a" /></Relationships>
</file>

<file path=ppt/presentation.xml><?xml version="1.0" encoding="utf-8"?>
<p:presentation xmlns:p="http://schemas.openxmlformats.org/presentationml/2006/main">
  <p:sldMasterIdLst>
    <p:sldMasterId xmlns:r="http://schemas.openxmlformats.org/officeDocument/2006/relationships" id="2147483648" r:id="R8581d72f01de40a8"/>
  </p:sldMasterIdLst>
  <p:notesMasterIdLst>
    <p:notesMasterId xmlns:r="http://schemas.openxmlformats.org/officeDocument/2006/relationships" r:id="Rb8d2c9ed0377454b"/>
  </p:notesMasterIdLst>
  <p:sldIdLst>
    <p:sldId xmlns:r="http://schemas.openxmlformats.org/officeDocument/2006/relationships" id="256" r:id="Ra6de43d1d3614f2a"/>
    <p:sldId xmlns:r="http://schemas.openxmlformats.org/officeDocument/2006/relationships" id="257" r:id="Rbb32f0ed09094404"/>
    <p:sldId xmlns:r="http://schemas.openxmlformats.org/officeDocument/2006/relationships" id="258" r:id="R415330cb61614d77"/>
    <p:sldId xmlns:r="http://schemas.openxmlformats.org/officeDocument/2006/relationships" id="259" r:id="Rbab1a4e2509d42d2"/>
    <p:sldId xmlns:r="http://schemas.openxmlformats.org/officeDocument/2006/relationships" id="260" r:id="R1d827c1dad6b4102"/>
    <p:sldId xmlns:r="http://schemas.openxmlformats.org/officeDocument/2006/relationships" id="261" r:id="R0281de3c7c07436c"/>
    <p:sldId xmlns:r="http://schemas.openxmlformats.org/officeDocument/2006/relationships" id="262" r:id="Rb7732ae5739f40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91b5f90ffe4c12" /><Relationship Type="http://schemas.openxmlformats.org/officeDocument/2006/relationships/slideMaster" Target="/ppt/slideMasters/slideMaster1.xml" Id="R8581d72f01de40a8" /><Relationship Type="http://schemas.openxmlformats.org/officeDocument/2006/relationships/notesMaster" Target="/ppt/notesMasters/notesMaster1.xml" Id="Rb8d2c9ed0377454b" /><Relationship Type="http://schemas.openxmlformats.org/officeDocument/2006/relationships/presProps" Target="/ppt/presProps.xml" Id="Ra0e2961680184ab0" /><Relationship Type="http://schemas.openxmlformats.org/officeDocument/2006/relationships/tableStyles" Target="/ppt/tableStyles.xml" Id="Ra61e81ecbac1492c" /><Relationship Type="http://schemas.openxmlformats.org/officeDocument/2006/relationships/slide" Target="/ppt/slides/slide1.xml" Id="Ra6de43d1d3614f2a" /><Relationship Type="http://schemas.openxmlformats.org/officeDocument/2006/relationships/slide" Target="/ppt/slides/slide2.xml" Id="Rbb32f0ed09094404" /><Relationship Type="http://schemas.openxmlformats.org/officeDocument/2006/relationships/slide" Target="/ppt/slides/slide3.xml" Id="R415330cb61614d77" /><Relationship Type="http://schemas.openxmlformats.org/officeDocument/2006/relationships/slide" Target="/ppt/slides/slide4.xml" Id="Rbab1a4e2509d42d2" /><Relationship Type="http://schemas.openxmlformats.org/officeDocument/2006/relationships/slide" Target="/ppt/slides/slide5.xml" Id="R1d827c1dad6b4102" /><Relationship Type="http://schemas.openxmlformats.org/officeDocument/2006/relationships/slide" Target="/ppt/slides/slide6.xml" Id="R0281de3c7c07436c" /><Relationship Type="http://schemas.openxmlformats.org/officeDocument/2006/relationships/slide" Target="/ppt/slides/slide7.xml" Id="Rb7732ae5739f40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e8f2c1202a48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e6adc630314309" /><Relationship Type="http://schemas.openxmlformats.org/officeDocument/2006/relationships/notesMaster" Target="/ppt/notesMasters/notesMaster1.xml" Id="R7e133034d8154f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6adc063f1e451f" /><Relationship Type="http://schemas.openxmlformats.org/officeDocument/2006/relationships/notesMaster" Target="/ppt/notesMasters/notesMaster1.xml" Id="Rc107088f61aa4f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85ba9cfad14bd4" /><Relationship Type="http://schemas.openxmlformats.org/officeDocument/2006/relationships/notesMaster" Target="/ppt/notesMasters/notesMaster1.xml" Id="R1939f06f2e2f4f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85fd6144d0d452d" /><Relationship Type="http://schemas.openxmlformats.org/officeDocument/2006/relationships/notesMaster" Target="/ppt/notesMasters/notesMaster1.xml" Id="R8b84602fb7b743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e0b3e15aeb4299" /><Relationship Type="http://schemas.openxmlformats.org/officeDocument/2006/relationships/notesMaster" Target="/ppt/notesMasters/notesMaster1.xml" Id="R36cef38c35c249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6c516664d64a29" /><Relationship Type="http://schemas.openxmlformats.org/officeDocument/2006/relationships/notesMaster" Target="/ppt/notesMasters/notesMaster1.xml" Id="R119ee81dbbff48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3a751d6a8f444e" /><Relationship Type="http://schemas.openxmlformats.org/officeDocument/2006/relationships/notesMaster" Target="/ppt/notesMasters/notesMaster1.xml" Id="R99582cff7f464e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Luma makes the interface to established scientific applications conversational. The current prototype targets QuPath. The visual is an actual QuPath viewer capture of public OpenSlide OS-2.ndpi, not a generated scientific result. Source: https://openslide.cs.cmu.edu/download/openslide-testdata/Hamamatsu/ . Interaction reference: https://github.com/farzaa/clicky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statement comes from the project brief and hackathon scope. We have not yet measured time savings or validated usability with researchers. Source: https://luma.com/vdq0qw9u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product experience combines continuous voice with an application adapter. Current verified capabilities include semantic context, MCP, native companion, approvals, actual cell analysis and hierarchy recovery. The separate Realtime and GPT-Live transports have local protocol tests. Actual AWS-credit OpenAI text has also focused the real viewer through companion conversation routing. Production voice remains disabled because AWS-credit coverage is unverified. The phrases on this slide are intended demo requests, not evidence of a completed funded voice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integration fixture, 17 October 2026. OS-2.ndpi is the freely distributable Ki-67 sample used in QuPath tutorials. ROI x=50000 y=26000 width=2200 height=2200 pixels. QuPath WatershedCellDetection created 899 cells. Threshold classification used Nucleus: DAB OD mean &gt;= 0.2, yielding 49 Positive and 850 Negative. This is a test of software operation, not a validated tumor-cell Ki67 labelling index or a clinical result. Source: docs/pitch/integration-evidence.json and https://qupath.readthedocs.io/en/0.7/docs/tutorials/cell_detection.html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gateway and application adapter enforce approvals. An approval binds exact arguments and the observed image/selection/hierarchy state. Native control approvals also bind reviewed dialog state. An interrupted or rejected proposal does not automatically execute. The authorized integration test compared counts and restored the empty baseline. Hierarchy checkpoints do not undo file writes, image settings, arbitrary scripts or external plugin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repository exposes 32 MCP tools, a live menu catalog, visible JavaFX dialog inspection, an approval-gated Groovy escape hatch, a qupath://guide resource and a prompt. The current pinned local documentation corpus contains 67 authored/upstream documents. Read-only API lookup also indexes 879 Java files directly from the pinned Git commit; it does not execute the reference source. Seven newer import/navigation/summary tools pass actual-library synthetic contracts and gateway approval tests, while their new native application flows await manual unlock and disposable-instance authorization. These give discoverable breadth but do not prove every command or third-party plugin works end to end. Other application adapters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Prototype status at 17 October 2026, 04:52 BST: native companion foundation, QuPath extension, MCP and public-slide analysis/recovery are verified locally. The new companion text/Stop controls compile and are loaded, but foreground inspection awaits manual unlock. Authenticated companion conversation routing through actual AWS-credit OpenAI GPT-OSS-120B focused the public viewer at the exact requested coordinates without changing scientific objects. Across three real text/reference fixtures: ten model requests, $0.0059721 estimated token usage, $10 conservative reserves; AWS billing settlement unreconciled. A further actual model fixture searched/read the exact pinned QP.loadPixelClassifier declaration and returned correct structured type assignments without application actions. Evidence: docs/pitch/text-model-evidence.json, docs/pitch/companion-text-evidence.json and docs/pitch/api-model-evidence.json. GPT-Live voice remains disabled because a credit-covered endpoint is unverified. No cloud infrastructure or new model agreement was created. Next validation should use researcher-selected tasks and measure completion, errors and interaction latency. Repo: https://github.com/AyushGupta05/Voice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485e2025f14e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354ee60d10b442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b2ad40881bf4c9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f285fcad1e4496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ea2b9e6549b463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8c98e4a4fb446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D31327-650D-4900-B70C-4B400921E92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3CCFE4E-59B9-4CAC-B80D-DF96D1207BC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8BDC1BA-39A2-4A73-8CD2-A069433EB23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49CA2C-FBF6-41E0-A8E5-D533C5D0D5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916B936-9DA5-4398-9342-FBDF302E193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23DC159-A2B3-4C1B-B516-A142CEEEA3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6467F7-E4A2-4F3A-829F-079CE34E0DC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2204697-DFDC-46CB-BC36-F0B2A7CABDF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55DE7C-55A2-4E5D-8C76-8C12C372B3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635936-1CEF-4E85-9199-9A612916E13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274fb0fe084ce2" /><Relationship Type="http://schemas.openxmlformats.org/officeDocument/2006/relationships/slideLayout" Target="/ppt/slideLayouts/slideLayout1.xml" Id="Rd4c2af1643d14323" /><Relationship Type="http://schemas.openxmlformats.org/officeDocument/2006/relationships/slideLayout" Target="/ppt/slideLayouts/slideLayout2.xml" Id="Rfde0ee780fd14ba2" /><Relationship Type="http://schemas.openxmlformats.org/officeDocument/2006/relationships/slideLayout" Target="/ppt/slideLayouts/slideLayout3.xml" Id="R4f383455ab5d47e6" /><Relationship Type="http://schemas.openxmlformats.org/officeDocument/2006/relationships/slideLayout" Target="/ppt/slideLayouts/slideLayout4.xml" Id="R3097054ae42d4dae" /><Relationship Type="http://schemas.openxmlformats.org/officeDocument/2006/relationships/slideLayout" Target="/ppt/slideLayouts/slideLayout5.xml" Id="R0768616626114f49" /><Relationship Type="http://schemas.openxmlformats.org/officeDocument/2006/relationships/slideLayout" Target="/ppt/slideLayouts/slideLayout6.xml" Id="Rf9dadb0d7eba4b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c2af1643d14323"/>
    <p:sldLayoutId xmlns:r="http://schemas.openxmlformats.org/officeDocument/2006/relationships" id="2147483650" r:id="Rfde0ee780fd14ba2"/>
    <p:sldLayoutId xmlns:r="http://schemas.openxmlformats.org/officeDocument/2006/relationships" id="2147483651" r:id="R4f383455ab5d47e6"/>
    <p:sldLayoutId xmlns:r="http://schemas.openxmlformats.org/officeDocument/2006/relationships" id="2147483652" r:id="R3097054ae42d4dae"/>
    <p:sldLayoutId xmlns:r="http://schemas.openxmlformats.org/officeDocument/2006/relationships" id="2147483653" r:id="R0768616626114f49"/>
    <p:sldLayoutId xmlns:r="http://schemas.openxmlformats.org/officeDocument/2006/relationships" id="2147483654" r:id="Rf9dadb0d7eba4b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8e12cb42fa5454c" /><Relationship Type="http://schemas.openxmlformats.org/officeDocument/2006/relationships/image" Target="/ppt/media/image.png" Id="R607720a976184e0f" /><Relationship Type="http://schemas.openxmlformats.org/officeDocument/2006/relationships/notesSlide" Target="/ppt/notesSlides/notesSlide1.xml" Id="Rad471daca0344d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0a591323994490f" /><Relationship Type="http://schemas.openxmlformats.org/officeDocument/2006/relationships/notesSlide" Target="/ppt/notesSlides/notesSlide2.xml" Id="R764f3bbb06aa49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012b21a31e14567" /><Relationship Type="http://schemas.openxmlformats.org/officeDocument/2006/relationships/notesSlide" Target="/ppt/notesSlides/notesSlide3.xml" Id="R236d5f2dcb4041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97e815e9f5e44c2" /><Relationship Type="http://schemas.openxmlformats.org/officeDocument/2006/relationships/image" Target="/ppt/media/image2.png" Id="R7ab6b87cc73d4d0b" /><Relationship Type="http://schemas.openxmlformats.org/officeDocument/2006/relationships/notesSlide" Target="/ppt/notesSlides/notesSlide4.xml" Id="Rc1f1cc146e084f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e9bb8d9452a4fed" /><Relationship Type="http://schemas.openxmlformats.org/officeDocument/2006/relationships/notesSlide" Target="/ppt/notesSlides/notesSlide5.xml" Id="R188044bf16b547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f00f543c4e44418" /><Relationship Type="http://schemas.openxmlformats.org/officeDocument/2006/relationships/notesSlide" Target="/ppt/notesSlides/notesSlide6.xml" Id="R0c6b1d15592148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46ecb9d104f47b2" /><Relationship Type="http://schemas.openxmlformats.org/officeDocument/2006/relationships/notesSlide" Target="/ppt/notesSlides/notesSlide7.xml" Id="Re66e9c8acc9e4c9a" /></Relationships>
</file>

<file path=ppt/slides/slide1.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B94A9DF-8130-4FE4-BDEE-6D9C0EC15291}"/>
              </a:ext>
            </a:extLst>
          </p:cNvPr>
          <p:cNvSpPr>
            <a:spLocks xmlns:a="http://schemas.openxmlformats.org/drawingml/2006/main" noGrp="1"/>
          </p:cNvSpPr>
          <p:nvPr/>
        </p:nvSpPr>
        <p:spPr>
          <a:xfrm xmlns:a="http://schemas.openxmlformats.org/drawingml/2006/main">
            <a:off x="609600" y="5905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A3EAC9"/>
                </a:solidFill>
                <a:latin typeface="Arial"/>
                <a:ea typeface="Arial"/>
                <a:cs typeface="Arial"/>
              </a:defRPr>
            </a:defPPr>
            <a:lvl1pPr>
              <a:defRPr sz="6600" b="1">
                <a:solidFill>
                  <a:srgbClr val="A3EAC9"/>
                </a:solidFill>
                <a:latin typeface="Arial"/>
                <a:ea typeface="Arial"/>
                <a:cs typeface="Arial"/>
              </a:defRPr>
            </a:lvl1pPr>
            <a:lvl2pPr>
              <a:defRPr sz="6600" b="1">
                <a:solidFill>
                  <a:srgbClr val="A3EAC9"/>
                </a:solidFill>
                <a:latin typeface="Arial"/>
                <a:ea typeface="Arial"/>
                <a:cs typeface="Arial"/>
              </a:defRPr>
            </a:lvl2pPr>
            <a:lvl3pPr>
              <a:defRPr sz="6600" b="1">
                <a:solidFill>
                  <a:srgbClr val="A3EAC9"/>
                </a:solidFill>
                <a:latin typeface="Arial"/>
                <a:ea typeface="Arial"/>
                <a:cs typeface="Arial"/>
              </a:defRPr>
            </a:lvl3pPr>
            <a:lvl4pPr>
              <a:defRPr sz="6600" b="1">
                <a:solidFill>
                  <a:srgbClr val="A3EAC9"/>
                </a:solidFill>
                <a:latin typeface="Arial"/>
                <a:ea typeface="Arial"/>
                <a:cs typeface="Arial"/>
              </a:defRPr>
            </a:lvl4pPr>
            <a:lvl5pPr>
              <a:defRPr sz="6600" b="1">
                <a:solidFill>
                  <a:srgbClr val="A3EAC9"/>
                </a:solidFill>
                <a:latin typeface="Arial"/>
                <a:ea typeface="Arial"/>
                <a:cs typeface="Arial"/>
              </a:defRPr>
            </a:lvl5pPr>
            <a:lvl6pPr>
              <a:defRPr sz="6600" b="1">
                <a:solidFill>
                  <a:srgbClr val="A3EAC9"/>
                </a:solidFill>
                <a:latin typeface="Arial"/>
                <a:ea typeface="Arial"/>
                <a:cs typeface="Arial"/>
              </a:defRPr>
            </a:lvl6pPr>
            <a:lvl7pPr>
              <a:defRPr sz="6600" b="1">
                <a:solidFill>
                  <a:srgbClr val="A3EAC9"/>
                </a:solidFill>
                <a:latin typeface="Arial"/>
                <a:ea typeface="Arial"/>
                <a:cs typeface="Arial"/>
              </a:defRPr>
            </a:lvl7pPr>
            <a:lvl8pPr>
              <a:defRPr sz="6600" b="1">
                <a:solidFill>
                  <a:srgbClr val="A3EAC9"/>
                </a:solidFill>
                <a:latin typeface="Arial"/>
                <a:ea typeface="Arial"/>
                <a:cs typeface="Arial"/>
              </a:defRPr>
            </a:lvl8pPr>
            <a:lvl9pPr>
              <a:defRPr sz="6600" b="1">
                <a:solidFill>
                  <a:srgbClr val="A3EAC9"/>
                </a:solidFill>
                <a:latin typeface="Arial"/>
                <a:ea typeface="Arial"/>
                <a:cs typeface="Arial"/>
              </a:defRPr>
            </a:lvl9pPr>
          </a:lstStyle>
          <a:p xmlns:a="http://schemas.openxmlformats.org/drawingml/2006/main">
            <a:pPr>
              <a:defRPr sz="6600" b="1">
                <a:solidFill>
                  <a:srgbClr val="A3EAC9"/>
                </a:solidFill>
                <a:latin typeface="Arial"/>
                <a:ea typeface="Arial"/>
                <a:cs typeface="Arial"/>
              </a:defRPr>
            </a:pPr>
            <a:r>
              <a:rPr sz="6600" b="1">
                <a:solidFill>
                  <a:srgbClr val="A3EAC9"/>
                </a:solidFill>
                <a:latin typeface="Arial"/>
                <a:ea typeface="Arial"/>
                <a:cs typeface="Arial"/>
              </a:rPr>
              <a:t>luma</a:t>
            </a:r>
          </a:p>
        </p:txBody>
      </p:sp>
      <p:sp>
        <p:nvSpPr>
          <p:cNvPr id="2" name="">
            <a:extLst xmlns:a="http://schemas.openxmlformats.org/drawingml/2006/main">
              <a:ext uri="{FF2B5EF4-FFF2-40B4-BE49-F238E27FC236}">
                <a16:creationId xmlns:a16="http://schemas.microsoft.com/office/drawing/2014/main" id="{8F4EC1D1-105E-4221-8098-AF401A64B3E4}"/>
              </a:ext>
            </a:extLst>
          </p:cNvPr>
          <p:cNvSpPr>
            <a:spLocks xmlns:a="http://schemas.openxmlformats.org/drawingml/2006/main" noGrp="1"/>
          </p:cNvSpPr>
          <p:nvPr/>
        </p:nvSpPr>
        <p:spPr>
          <a:xfrm xmlns:a="http://schemas.openxmlformats.org/drawingml/2006/main">
            <a:off x="647700" y="2266950"/>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F4F5F4"/>
                </a:solidFill>
                <a:latin typeface="Arial"/>
                <a:ea typeface="Arial"/>
                <a:cs typeface="Arial"/>
              </a:defRPr>
            </a:defPPr>
            <a:lvl1pPr>
              <a:defRPr sz="3900" b="0">
                <a:solidFill>
                  <a:srgbClr val="F4F5F4"/>
                </a:solidFill>
                <a:latin typeface="Arial"/>
                <a:ea typeface="Arial"/>
                <a:cs typeface="Arial"/>
              </a:defRPr>
            </a:lvl1pPr>
            <a:lvl2pPr>
              <a:defRPr sz="3900" b="0">
                <a:solidFill>
                  <a:srgbClr val="F4F5F4"/>
                </a:solidFill>
                <a:latin typeface="Arial"/>
                <a:ea typeface="Arial"/>
                <a:cs typeface="Arial"/>
              </a:defRPr>
            </a:lvl2pPr>
            <a:lvl3pPr>
              <a:defRPr sz="3900" b="0">
                <a:solidFill>
                  <a:srgbClr val="F4F5F4"/>
                </a:solidFill>
                <a:latin typeface="Arial"/>
                <a:ea typeface="Arial"/>
                <a:cs typeface="Arial"/>
              </a:defRPr>
            </a:lvl3pPr>
            <a:lvl4pPr>
              <a:defRPr sz="3900" b="0">
                <a:solidFill>
                  <a:srgbClr val="F4F5F4"/>
                </a:solidFill>
                <a:latin typeface="Arial"/>
                <a:ea typeface="Arial"/>
                <a:cs typeface="Arial"/>
              </a:defRPr>
            </a:lvl4pPr>
            <a:lvl5pPr>
              <a:defRPr sz="3900" b="0">
                <a:solidFill>
                  <a:srgbClr val="F4F5F4"/>
                </a:solidFill>
                <a:latin typeface="Arial"/>
                <a:ea typeface="Arial"/>
                <a:cs typeface="Arial"/>
              </a:defRPr>
            </a:lvl5pPr>
            <a:lvl6pPr>
              <a:defRPr sz="3900" b="0">
                <a:solidFill>
                  <a:srgbClr val="F4F5F4"/>
                </a:solidFill>
                <a:latin typeface="Arial"/>
                <a:ea typeface="Arial"/>
                <a:cs typeface="Arial"/>
              </a:defRPr>
            </a:lvl6pPr>
            <a:lvl7pPr>
              <a:defRPr sz="3900" b="0">
                <a:solidFill>
                  <a:srgbClr val="F4F5F4"/>
                </a:solidFill>
                <a:latin typeface="Arial"/>
                <a:ea typeface="Arial"/>
                <a:cs typeface="Arial"/>
              </a:defRPr>
            </a:lvl7pPr>
            <a:lvl8pPr>
              <a:defRPr sz="3900" b="0">
                <a:solidFill>
                  <a:srgbClr val="F4F5F4"/>
                </a:solidFill>
                <a:latin typeface="Arial"/>
                <a:ea typeface="Arial"/>
                <a:cs typeface="Arial"/>
              </a:defRPr>
            </a:lvl8pPr>
            <a:lvl9pPr>
              <a:defRPr sz="3900" b="0">
                <a:solidFill>
                  <a:srgbClr val="F4F5F4"/>
                </a:solidFill>
                <a:latin typeface="Arial"/>
                <a:ea typeface="Arial"/>
                <a:cs typeface="Arial"/>
              </a:defRPr>
            </a:lvl9pPr>
          </a:lstStyle>
          <a:p xmlns:a="http://schemas.openxmlformats.org/drawingml/2006/main">
            <a:pPr>
              <a:defRPr sz="3900" b="0">
                <a:solidFill>
                  <a:srgbClr val="F4F5F4"/>
                </a:solidFill>
                <a:latin typeface="Arial"/>
                <a:ea typeface="Arial"/>
                <a:cs typeface="Arial"/>
              </a:defRPr>
            </a:pPr>
            <a:r>
              <a:rPr sz="3900" b="0">
                <a:solidFill>
                  <a:srgbClr val="F4F5F4"/>
                </a:solidFill>
                <a:latin typeface="Arial"/>
                <a:ea typeface="Arial"/>
                <a:cs typeface="Arial"/>
              </a:rPr>
              <a:t>Scientific software,</a:t>
            </a:r>
          </a:p>
          <a:p xmlns:a="http://schemas.openxmlformats.org/drawingml/2006/main">
            <a:pPr>
              <a:defRPr sz="3900" b="0">
                <a:solidFill>
                  <a:srgbClr val="F4F5F4"/>
                </a:solidFill>
                <a:latin typeface="Arial"/>
                <a:ea typeface="Arial"/>
                <a:cs typeface="Arial"/>
              </a:defRPr>
            </a:pPr>
            <a:r>
              <a:rPr sz="3900" b="0">
                <a:solidFill>
                  <a:srgbClr val="F4F5F4"/>
                </a:solidFill>
                <a:latin typeface="Arial"/>
                <a:ea typeface="Arial"/>
                <a:cs typeface="Arial"/>
              </a:rPr>
              <a:t>in conversation</a:t>
            </a:r>
          </a:p>
        </p:txBody>
      </p:sp>
      <p:sp>
        <p:nvSpPr>
          <p:cNvPr id="3" name="">
            <a:extLst xmlns:a="http://schemas.openxmlformats.org/drawingml/2006/main">
              <a:ext uri="{FF2B5EF4-FFF2-40B4-BE49-F238E27FC236}">
                <a16:creationId xmlns:a16="http://schemas.microsoft.com/office/drawing/2014/main" id="{556BACCE-0019-4177-9CFD-8384AFBBEED7}"/>
              </a:ext>
            </a:extLst>
          </p:cNvPr>
          <p:cNvSpPr>
            <a:spLocks xmlns:a="http://schemas.openxmlformats.org/drawingml/2006/main" noGrp="1"/>
          </p:cNvSpPr>
          <p:nvPr/>
        </p:nvSpPr>
        <p:spPr>
          <a:xfrm xmlns:a="http://schemas.openxmlformats.org/drawingml/2006/main">
            <a:off x="666750" y="533400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1AFAB"/>
                </a:solidFill>
                <a:latin typeface="Arial"/>
                <a:ea typeface="Arial"/>
                <a:cs typeface="Arial"/>
              </a:defRPr>
            </a:defPPr>
            <a:lvl1pPr>
              <a:defRPr sz="1800" b="0">
                <a:solidFill>
                  <a:srgbClr val="A1AFAB"/>
                </a:solidFill>
                <a:latin typeface="Arial"/>
                <a:ea typeface="Arial"/>
                <a:cs typeface="Arial"/>
              </a:defRPr>
            </a:lvl1pPr>
            <a:lvl2pPr>
              <a:defRPr sz="1800" b="0">
                <a:solidFill>
                  <a:srgbClr val="A1AFAB"/>
                </a:solidFill>
                <a:latin typeface="Arial"/>
                <a:ea typeface="Arial"/>
                <a:cs typeface="Arial"/>
              </a:defRPr>
            </a:lvl2pPr>
            <a:lvl3pPr>
              <a:defRPr sz="1800" b="0">
                <a:solidFill>
                  <a:srgbClr val="A1AFAB"/>
                </a:solidFill>
                <a:latin typeface="Arial"/>
                <a:ea typeface="Arial"/>
                <a:cs typeface="Arial"/>
              </a:defRPr>
            </a:lvl3pPr>
            <a:lvl4pPr>
              <a:defRPr sz="1800" b="0">
                <a:solidFill>
                  <a:srgbClr val="A1AFAB"/>
                </a:solidFill>
                <a:latin typeface="Arial"/>
                <a:ea typeface="Arial"/>
                <a:cs typeface="Arial"/>
              </a:defRPr>
            </a:lvl4pPr>
            <a:lvl5pPr>
              <a:defRPr sz="1800" b="0">
                <a:solidFill>
                  <a:srgbClr val="A1AFAB"/>
                </a:solidFill>
                <a:latin typeface="Arial"/>
                <a:ea typeface="Arial"/>
                <a:cs typeface="Arial"/>
              </a:defRPr>
            </a:lvl5pPr>
            <a:lvl6pPr>
              <a:defRPr sz="1800" b="0">
                <a:solidFill>
                  <a:srgbClr val="A1AFAB"/>
                </a:solidFill>
                <a:latin typeface="Arial"/>
                <a:ea typeface="Arial"/>
                <a:cs typeface="Arial"/>
              </a:defRPr>
            </a:lvl6pPr>
            <a:lvl7pPr>
              <a:defRPr sz="1800" b="0">
                <a:solidFill>
                  <a:srgbClr val="A1AFAB"/>
                </a:solidFill>
                <a:latin typeface="Arial"/>
                <a:ea typeface="Arial"/>
                <a:cs typeface="Arial"/>
              </a:defRPr>
            </a:lvl7pPr>
            <a:lvl8pPr>
              <a:defRPr sz="1800" b="0">
                <a:solidFill>
                  <a:srgbClr val="A1AFAB"/>
                </a:solidFill>
                <a:latin typeface="Arial"/>
                <a:ea typeface="Arial"/>
                <a:cs typeface="Arial"/>
              </a:defRPr>
            </a:lvl8pPr>
            <a:lvl9pPr>
              <a:defRPr sz="1800" b="0">
                <a:solidFill>
                  <a:srgbClr val="A1AFAB"/>
                </a:solidFill>
                <a:latin typeface="Arial"/>
                <a:ea typeface="Arial"/>
                <a:cs typeface="Arial"/>
              </a:defRPr>
            </a:lvl9pPr>
          </a:lstStyle>
          <a:p xmlns:a="http://schemas.openxmlformats.org/drawingml/2006/main">
            <a:pPr>
              <a:defRPr sz="1800" b="0">
                <a:solidFill>
                  <a:srgbClr val="A1AFAB"/>
                </a:solidFill>
                <a:latin typeface="Arial"/>
                <a:ea typeface="Arial"/>
                <a:cs typeface="Arial"/>
              </a:defRPr>
            </a:pPr>
            <a:r>
              <a:rPr sz="1800" b="0">
                <a:solidFill>
                  <a:srgbClr val="A1AFAB"/>
                </a:solidFill>
                <a:latin typeface="Arial"/>
                <a:ea typeface="Arial"/>
                <a:cs typeface="Arial"/>
              </a:rPr>
              <a:t>A voice-native companion for QuPath</a:t>
            </a:r>
          </a:p>
        </p:txBody>
      </p:sp>
      <p:pic>
        <p:nvPicPr>
          <p:cNvPr id="4" name="">
            <a:extLst xmlns:a="http://schemas.openxmlformats.org/drawingml/2006/main">
              <a:ext uri="{FF2B5EF4-FFF2-40B4-BE49-F238E27FC236}">
                <a16:creationId xmlns:a16="http://schemas.microsoft.com/office/drawing/2014/main" id="{FF04114A-D5DF-45CB-92A6-383590781B9B}"/>
              </a:ext>
            </a:extLst>
          </p:cNvPr>
          <p:cNvPicPr>
            <a:picLocks xmlns:a="http://schemas.openxmlformats.org/drawingml/2006/main" noChangeAspect="1"/>
          </p:cNvPicPr>
          <p:nvPr/>
        </p:nvPicPr>
        <p:blipFill>
          <a:blip xmlns:r="http://schemas.openxmlformats.org/officeDocument/2006/relationships" xmlns:a="http://schemas.openxmlformats.org/drawingml/2006/main" r:embed="R607720a976184e0f"/>
          <a:stretch xmlns:a="http://schemas.openxmlformats.org/drawingml/2006/main"/>
        </p:blipFill>
        <p:spPr>
          <a:xfrm xmlns:a="http://schemas.openxmlformats.org/drawingml/2006/main">
            <a:off x="6286500" y="1092113"/>
            <a:ext cx="5429250" cy="4388024"/>
          </a:xfrm>
          <a:prstGeom xmlns:a="http://schemas.openxmlformats.org/drawingml/2006/main" prst="rect">
            <a:avLst/>
          </a:prstGeom>
        </p:spPr>
      </p:pic>
    </p:spTree>
    <p:extLst>
      <p:ext uri="{BB962C8B-B14F-4D97-AF65-F5344CB8AC3E}">
        <p14:creationId xmlns:p14="http://schemas.microsoft.com/office/powerpoint/2010/main" val="2115300572"/>
      </p:ext>
    </p:extLst>
  </p:cSld>
</p:sld>
</file>

<file path=ppt/slides/slide2.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B7225D7-3688-4ABC-8D44-33ED450C2F04}"/>
              </a:ext>
            </a:extLst>
          </p:cNvPr>
          <p:cNvSpPr>
            <a:spLocks xmlns:a="http://schemas.openxmlformats.org/drawingml/2006/main" noGrp="1"/>
          </p:cNvSpPr>
          <p:nvPr/>
        </p:nvSpPr>
        <p:spPr>
          <a:xfrm xmlns:a="http://schemas.openxmlformats.org/drawingml/2006/main">
            <a:off x="609600" y="5524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The learning gap</a:t>
            </a:r>
          </a:p>
        </p:txBody>
      </p:sp>
      <p:sp>
        <p:nvSpPr>
          <p:cNvPr id="2" name="">
            <a:extLst xmlns:a="http://schemas.openxmlformats.org/drawingml/2006/main">
              <a:ext uri="{FF2B5EF4-FFF2-40B4-BE49-F238E27FC236}">
                <a16:creationId xmlns:a16="http://schemas.microsoft.com/office/drawing/2014/main" id="{5C82905C-6BC7-4DE7-8831-7BAB3A4146A2}"/>
              </a:ext>
            </a:extLst>
          </p:cNvPr>
          <p:cNvSpPr>
            <a:spLocks xmlns:a="http://schemas.openxmlformats.org/drawingml/2006/main" noGrp="1"/>
          </p:cNvSpPr>
          <p:nvPr/>
        </p:nvSpPr>
        <p:spPr>
          <a:xfrm xmlns:a="http://schemas.openxmlformats.org/drawingml/2006/main">
            <a:off x="647700" y="1809750"/>
            <a:ext cx="10477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F4F5F4"/>
                </a:solidFill>
                <a:latin typeface="Arial"/>
                <a:ea typeface="Arial"/>
                <a:cs typeface="Arial"/>
              </a:defRPr>
            </a:defPPr>
            <a:lvl1pPr>
              <a:defRPr sz="3900" b="0">
                <a:solidFill>
                  <a:srgbClr val="F4F5F4"/>
                </a:solidFill>
                <a:latin typeface="Arial"/>
                <a:ea typeface="Arial"/>
                <a:cs typeface="Arial"/>
              </a:defRPr>
            </a:lvl1pPr>
            <a:lvl2pPr>
              <a:defRPr sz="3900" b="0">
                <a:solidFill>
                  <a:srgbClr val="F4F5F4"/>
                </a:solidFill>
                <a:latin typeface="Arial"/>
                <a:ea typeface="Arial"/>
                <a:cs typeface="Arial"/>
              </a:defRPr>
            </a:lvl2pPr>
            <a:lvl3pPr>
              <a:defRPr sz="3900" b="0">
                <a:solidFill>
                  <a:srgbClr val="F4F5F4"/>
                </a:solidFill>
                <a:latin typeface="Arial"/>
                <a:ea typeface="Arial"/>
                <a:cs typeface="Arial"/>
              </a:defRPr>
            </a:lvl3pPr>
            <a:lvl4pPr>
              <a:defRPr sz="3900" b="0">
                <a:solidFill>
                  <a:srgbClr val="F4F5F4"/>
                </a:solidFill>
                <a:latin typeface="Arial"/>
                <a:ea typeface="Arial"/>
                <a:cs typeface="Arial"/>
              </a:defRPr>
            </a:lvl4pPr>
            <a:lvl5pPr>
              <a:defRPr sz="3900" b="0">
                <a:solidFill>
                  <a:srgbClr val="F4F5F4"/>
                </a:solidFill>
                <a:latin typeface="Arial"/>
                <a:ea typeface="Arial"/>
                <a:cs typeface="Arial"/>
              </a:defRPr>
            </a:lvl5pPr>
            <a:lvl6pPr>
              <a:defRPr sz="3900" b="0">
                <a:solidFill>
                  <a:srgbClr val="F4F5F4"/>
                </a:solidFill>
                <a:latin typeface="Arial"/>
                <a:ea typeface="Arial"/>
                <a:cs typeface="Arial"/>
              </a:defRPr>
            </a:lvl6pPr>
            <a:lvl7pPr>
              <a:defRPr sz="3900" b="0">
                <a:solidFill>
                  <a:srgbClr val="F4F5F4"/>
                </a:solidFill>
                <a:latin typeface="Arial"/>
                <a:ea typeface="Arial"/>
                <a:cs typeface="Arial"/>
              </a:defRPr>
            </a:lvl7pPr>
            <a:lvl8pPr>
              <a:defRPr sz="3900" b="0">
                <a:solidFill>
                  <a:srgbClr val="F4F5F4"/>
                </a:solidFill>
                <a:latin typeface="Arial"/>
                <a:ea typeface="Arial"/>
                <a:cs typeface="Arial"/>
              </a:defRPr>
            </a:lvl8pPr>
            <a:lvl9pPr>
              <a:defRPr sz="3900" b="0">
                <a:solidFill>
                  <a:srgbClr val="F4F5F4"/>
                </a:solidFill>
                <a:latin typeface="Arial"/>
                <a:ea typeface="Arial"/>
                <a:cs typeface="Arial"/>
              </a:defRPr>
            </a:lvl9pPr>
          </a:lstStyle>
          <a:p xmlns:a="http://schemas.openxmlformats.org/drawingml/2006/main">
            <a:pPr>
              <a:defRPr sz="3900" b="0">
                <a:solidFill>
                  <a:srgbClr val="F4F5F4"/>
                </a:solidFill>
                <a:latin typeface="Arial"/>
                <a:ea typeface="Arial"/>
                <a:cs typeface="Arial"/>
              </a:defRPr>
            </a:pPr>
            <a:r>
              <a:rPr sz="3900" b="0">
                <a:solidFill>
                  <a:srgbClr val="F4F5F4"/>
                </a:solidFill>
                <a:latin typeface="Arial"/>
                <a:ea typeface="Arial"/>
                <a:cs typeface="Arial"/>
              </a:rPr>
              <a:t>Researchers know the question.</a:t>
            </a:r>
          </a:p>
          <a:p xmlns:a="http://schemas.openxmlformats.org/drawingml/2006/main">
            <a:pPr>
              <a:defRPr sz="3900" b="0">
                <a:solidFill>
                  <a:srgbClr val="F4F5F4"/>
                </a:solidFill>
                <a:latin typeface="Arial"/>
                <a:ea typeface="Arial"/>
                <a:cs typeface="Arial"/>
              </a:defRPr>
            </a:pPr>
            <a:r>
              <a:rPr sz="3900" b="0">
                <a:solidFill>
                  <a:srgbClr val="F4F5F4"/>
                </a:solidFill>
                <a:latin typeface="Arial"/>
                <a:ea typeface="Arial"/>
                <a:cs typeface="Arial"/>
              </a:rPr>
              <a:t>The software still demands</a:t>
            </a:r>
          </a:p>
          <a:p xmlns:a="http://schemas.openxmlformats.org/drawingml/2006/main">
            <a:pPr>
              <a:defRPr sz="3900" b="0">
                <a:solidFill>
                  <a:srgbClr val="F4F5F4"/>
                </a:solidFill>
                <a:latin typeface="Arial"/>
                <a:ea typeface="Arial"/>
                <a:cs typeface="Arial"/>
              </a:defRPr>
            </a:pPr>
            <a:r>
              <a:rPr sz="3900" b="0">
                <a:solidFill>
                  <a:srgbClr val="F4F5F4"/>
                </a:solidFill>
                <a:latin typeface="Arial"/>
                <a:ea typeface="Arial"/>
                <a:cs typeface="Arial"/>
              </a:rPr>
              <a:t>its own language.</a:t>
            </a:r>
          </a:p>
        </p:txBody>
      </p:sp>
      <p:sp>
        <p:nvSpPr>
          <p:cNvPr id="3" name="">
            <a:extLst xmlns:a="http://schemas.openxmlformats.org/drawingml/2006/main">
              <a:ext uri="{FF2B5EF4-FFF2-40B4-BE49-F238E27FC236}">
                <a16:creationId xmlns:a16="http://schemas.microsoft.com/office/drawing/2014/main" id="{C1A2AA09-9D9C-4ACC-A1D1-1A12645CA320}"/>
              </a:ext>
            </a:extLst>
          </p:cNvPr>
          <p:cNvSpPr>
            <a:spLocks xmlns:a="http://schemas.openxmlformats.org/drawingml/2006/main" noGrp="1"/>
          </p:cNvSpPr>
          <p:nvPr/>
        </p:nvSpPr>
        <p:spPr>
          <a:xfrm xmlns:a="http://schemas.openxmlformats.org/drawingml/2006/main">
            <a:off x="666750" y="5143500"/>
            <a:ext cx="981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A1AFAB"/>
                </a:solidFill>
                <a:latin typeface="Arial"/>
                <a:ea typeface="Arial"/>
                <a:cs typeface="Arial"/>
              </a:defRPr>
            </a:defPPr>
            <a:lvl1pPr>
              <a:defRPr sz="2100" b="0">
                <a:solidFill>
                  <a:srgbClr val="A1AFAB"/>
                </a:solidFill>
                <a:latin typeface="Arial"/>
                <a:ea typeface="Arial"/>
                <a:cs typeface="Arial"/>
              </a:defRPr>
            </a:lvl1pPr>
            <a:lvl2pPr>
              <a:defRPr sz="2100" b="0">
                <a:solidFill>
                  <a:srgbClr val="A1AFAB"/>
                </a:solidFill>
                <a:latin typeface="Arial"/>
                <a:ea typeface="Arial"/>
                <a:cs typeface="Arial"/>
              </a:defRPr>
            </a:lvl2pPr>
            <a:lvl3pPr>
              <a:defRPr sz="2100" b="0">
                <a:solidFill>
                  <a:srgbClr val="A1AFAB"/>
                </a:solidFill>
                <a:latin typeface="Arial"/>
                <a:ea typeface="Arial"/>
                <a:cs typeface="Arial"/>
              </a:defRPr>
            </a:lvl3pPr>
            <a:lvl4pPr>
              <a:defRPr sz="2100" b="0">
                <a:solidFill>
                  <a:srgbClr val="A1AFAB"/>
                </a:solidFill>
                <a:latin typeface="Arial"/>
                <a:ea typeface="Arial"/>
                <a:cs typeface="Arial"/>
              </a:defRPr>
            </a:lvl4pPr>
            <a:lvl5pPr>
              <a:defRPr sz="2100" b="0">
                <a:solidFill>
                  <a:srgbClr val="A1AFAB"/>
                </a:solidFill>
                <a:latin typeface="Arial"/>
                <a:ea typeface="Arial"/>
                <a:cs typeface="Arial"/>
              </a:defRPr>
            </a:lvl5pPr>
            <a:lvl6pPr>
              <a:defRPr sz="2100" b="0">
                <a:solidFill>
                  <a:srgbClr val="A1AFAB"/>
                </a:solidFill>
                <a:latin typeface="Arial"/>
                <a:ea typeface="Arial"/>
                <a:cs typeface="Arial"/>
              </a:defRPr>
            </a:lvl6pPr>
            <a:lvl7pPr>
              <a:defRPr sz="2100" b="0">
                <a:solidFill>
                  <a:srgbClr val="A1AFAB"/>
                </a:solidFill>
                <a:latin typeface="Arial"/>
                <a:ea typeface="Arial"/>
                <a:cs typeface="Arial"/>
              </a:defRPr>
            </a:lvl7pPr>
            <a:lvl8pPr>
              <a:defRPr sz="2100" b="0">
                <a:solidFill>
                  <a:srgbClr val="A1AFAB"/>
                </a:solidFill>
                <a:latin typeface="Arial"/>
                <a:ea typeface="Arial"/>
                <a:cs typeface="Arial"/>
              </a:defRPr>
            </a:lvl8pPr>
            <a:lvl9pPr>
              <a:defRPr sz="2100" b="0">
                <a:solidFill>
                  <a:srgbClr val="A1AFAB"/>
                </a:solidFill>
                <a:latin typeface="Arial"/>
                <a:ea typeface="Arial"/>
                <a:cs typeface="Arial"/>
              </a:defRPr>
            </a:lvl9pPr>
          </a:lstStyle>
          <a:p xmlns:a="http://schemas.openxmlformats.org/drawingml/2006/main">
            <a:pPr>
              <a:defRPr sz="2100" b="0">
                <a:solidFill>
                  <a:srgbClr val="A1AFAB"/>
                </a:solidFill>
                <a:latin typeface="Arial"/>
                <a:ea typeface="Arial"/>
                <a:cs typeface="Arial"/>
              </a:defRPr>
            </a:pPr>
            <a:r>
              <a:rPr sz="2100" b="0">
                <a:solidFill>
                  <a:srgbClr val="A1AFAB"/>
                </a:solidFill>
                <a:latin typeface="Arial"/>
                <a:ea typeface="Arial"/>
                <a:cs typeface="Arial"/>
              </a:rPr>
              <a:t>Menus, parameters and scripts stand between a scientific question and an action.</a:t>
            </a:r>
          </a:p>
        </p:txBody>
      </p:sp>
    </p:spTree>
    <p:extLst>
      <p:ext uri="{BB962C8B-B14F-4D97-AF65-F5344CB8AC3E}">
        <p14:creationId xmlns:p14="http://schemas.microsoft.com/office/powerpoint/2010/main" val="964036680"/>
      </p:ext>
    </p:extLst>
  </p:cSld>
</p:sld>
</file>

<file path=ppt/slides/slide3.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281FC4-AB3D-4E46-9C74-32CD50096B0A}"/>
              </a:ext>
            </a:extLst>
          </p:cNvPr>
          <p:cNvSpPr>
            <a:spLocks xmlns:a="http://schemas.openxmlformats.org/drawingml/2006/main" noGrp="1"/>
          </p:cNvSpPr>
          <p:nvPr/>
        </p:nvSpPr>
        <p:spPr>
          <a:xfrm xmlns:a="http://schemas.openxmlformats.org/drawingml/2006/main">
            <a:off x="609600" y="5524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The interaction</a:t>
            </a:r>
          </a:p>
        </p:txBody>
      </p:sp>
      <p:sp>
        <p:nvSpPr>
          <p:cNvPr id="2" name="">
            <a:extLst xmlns:a="http://schemas.openxmlformats.org/drawingml/2006/main">
              <a:ext uri="{FF2B5EF4-FFF2-40B4-BE49-F238E27FC236}">
                <a16:creationId xmlns:a16="http://schemas.microsoft.com/office/drawing/2014/main" id="{35ECBD88-4C43-437B-B12E-5596B07BD61D}"/>
              </a:ext>
            </a:extLst>
          </p:cNvPr>
          <p:cNvSpPr>
            <a:spLocks xmlns:a="http://schemas.openxmlformats.org/drawingml/2006/main" noGrp="1"/>
          </p:cNvSpPr>
          <p:nvPr/>
        </p:nvSpPr>
        <p:spPr>
          <a:xfrm xmlns:a="http://schemas.openxmlformats.org/drawingml/2006/main">
            <a:off x="666750" y="195262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0">
                <a:solidFill>
                  <a:srgbClr val="F4F5F4"/>
                </a:solidFill>
                <a:latin typeface="Arial"/>
                <a:ea typeface="Arial"/>
                <a:cs typeface="Arial"/>
              </a:defRPr>
            </a:defPPr>
            <a:lvl1pPr>
              <a:defRPr sz="3375" b="0">
                <a:solidFill>
                  <a:srgbClr val="F4F5F4"/>
                </a:solidFill>
                <a:latin typeface="Arial"/>
                <a:ea typeface="Arial"/>
                <a:cs typeface="Arial"/>
              </a:defRPr>
            </a:lvl1pPr>
            <a:lvl2pPr>
              <a:defRPr sz="3375" b="0">
                <a:solidFill>
                  <a:srgbClr val="F4F5F4"/>
                </a:solidFill>
                <a:latin typeface="Arial"/>
                <a:ea typeface="Arial"/>
                <a:cs typeface="Arial"/>
              </a:defRPr>
            </a:lvl2pPr>
            <a:lvl3pPr>
              <a:defRPr sz="3375" b="0">
                <a:solidFill>
                  <a:srgbClr val="F4F5F4"/>
                </a:solidFill>
                <a:latin typeface="Arial"/>
                <a:ea typeface="Arial"/>
                <a:cs typeface="Arial"/>
              </a:defRPr>
            </a:lvl3pPr>
            <a:lvl4pPr>
              <a:defRPr sz="3375" b="0">
                <a:solidFill>
                  <a:srgbClr val="F4F5F4"/>
                </a:solidFill>
                <a:latin typeface="Arial"/>
                <a:ea typeface="Arial"/>
                <a:cs typeface="Arial"/>
              </a:defRPr>
            </a:lvl4pPr>
            <a:lvl5pPr>
              <a:defRPr sz="3375" b="0">
                <a:solidFill>
                  <a:srgbClr val="F4F5F4"/>
                </a:solidFill>
                <a:latin typeface="Arial"/>
                <a:ea typeface="Arial"/>
                <a:cs typeface="Arial"/>
              </a:defRPr>
            </a:lvl5pPr>
            <a:lvl6pPr>
              <a:defRPr sz="3375" b="0">
                <a:solidFill>
                  <a:srgbClr val="F4F5F4"/>
                </a:solidFill>
                <a:latin typeface="Arial"/>
                <a:ea typeface="Arial"/>
                <a:cs typeface="Arial"/>
              </a:defRPr>
            </a:lvl6pPr>
            <a:lvl7pPr>
              <a:defRPr sz="3375" b="0">
                <a:solidFill>
                  <a:srgbClr val="F4F5F4"/>
                </a:solidFill>
                <a:latin typeface="Arial"/>
                <a:ea typeface="Arial"/>
                <a:cs typeface="Arial"/>
              </a:defRPr>
            </a:lvl7pPr>
            <a:lvl8pPr>
              <a:defRPr sz="3375" b="0">
                <a:solidFill>
                  <a:srgbClr val="F4F5F4"/>
                </a:solidFill>
                <a:latin typeface="Arial"/>
                <a:ea typeface="Arial"/>
                <a:cs typeface="Arial"/>
              </a:defRPr>
            </a:lvl8pPr>
            <a:lvl9pPr>
              <a:defRPr sz="3375" b="0">
                <a:solidFill>
                  <a:srgbClr val="F4F5F4"/>
                </a:solidFill>
                <a:latin typeface="Arial"/>
                <a:ea typeface="Arial"/>
                <a:cs typeface="Arial"/>
              </a:defRPr>
            </a:lvl9pPr>
          </a:lstStyle>
          <a:p xmlns:a="http://schemas.openxmlformats.org/drawingml/2006/main">
            <a:pPr>
              <a:defRPr sz="3375" b="0">
                <a:solidFill>
                  <a:srgbClr val="F4F5F4"/>
                </a:solidFill>
                <a:latin typeface="Arial"/>
                <a:ea typeface="Arial"/>
                <a:cs typeface="Arial"/>
              </a:defRPr>
            </a:pPr>
            <a:r>
              <a:rPr sz="3375" b="0">
                <a:solidFill>
                  <a:srgbClr val="F4F5F4"/>
                </a:solidFill>
                <a:latin typeface="Arial"/>
                <a:ea typeface="Arial"/>
                <a:cs typeface="Arial"/>
              </a:rPr>
              <a:t>“Find the cells in this region.”</a:t>
            </a:r>
          </a:p>
        </p:txBody>
      </p:sp>
      <p:sp>
        <p:nvSpPr>
          <p:cNvPr id="3" name="">
            <a:extLst xmlns:a="http://schemas.openxmlformats.org/drawingml/2006/main">
              <a:ext uri="{FF2B5EF4-FFF2-40B4-BE49-F238E27FC236}">
                <a16:creationId xmlns:a16="http://schemas.microsoft.com/office/drawing/2014/main" id="{4C8FCE87-678F-4ACF-9DF2-1029ED7E4975}"/>
              </a:ext>
            </a:extLst>
          </p:cNvPr>
          <p:cNvSpPr>
            <a:spLocks xmlns:a="http://schemas.openxmlformats.org/drawingml/2006/main" noGrp="1"/>
          </p:cNvSpPr>
          <p:nvPr/>
        </p:nvSpPr>
        <p:spPr>
          <a:xfrm xmlns:a="http://schemas.openxmlformats.org/drawingml/2006/main">
            <a:off x="666750" y="309562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0">
                <a:solidFill>
                  <a:srgbClr val="F4F5F4"/>
                </a:solidFill>
                <a:latin typeface="Arial"/>
                <a:ea typeface="Arial"/>
                <a:cs typeface="Arial"/>
              </a:defRPr>
            </a:defPPr>
            <a:lvl1pPr>
              <a:defRPr sz="3375" b="0">
                <a:solidFill>
                  <a:srgbClr val="F4F5F4"/>
                </a:solidFill>
                <a:latin typeface="Arial"/>
                <a:ea typeface="Arial"/>
                <a:cs typeface="Arial"/>
              </a:defRPr>
            </a:lvl1pPr>
            <a:lvl2pPr>
              <a:defRPr sz="3375" b="0">
                <a:solidFill>
                  <a:srgbClr val="F4F5F4"/>
                </a:solidFill>
                <a:latin typeface="Arial"/>
                <a:ea typeface="Arial"/>
                <a:cs typeface="Arial"/>
              </a:defRPr>
            </a:lvl2pPr>
            <a:lvl3pPr>
              <a:defRPr sz="3375" b="0">
                <a:solidFill>
                  <a:srgbClr val="F4F5F4"/>
                </a:solidFill>
                <a:latin typeface="Arial"/>
                <a:ea typeface="Arial"/>
                <a:cs typeface="Arial"/>
              </a:defRPr>
            </a:lvl3pPr>
            <a:lvl4pPr>
              <a:defRPr sz="3375" b="0">
                <a:solidFill>
                  <a:srgbClr val="F4F5F4"/>
                </a:solidFill>
                <a:latin typeface="Arial"/>
                <a:ea typeface="Arial"/>
                <a:cs typeface="Arial"/>
              </a:defRPr>
            </a:lvl4pPr>
            <a:lvl5pPr>
              <a:defRPr sz="3375" b="0">
                <a:solidFill>
                  <a:srgbClr val="F4F5F4"/>
                </a:solidFill>
                <a:latin typeface="Arial"/>
                <a:ea typeface="Arial"/>
                <a:cs typeface="Arial"/>
              </a:defRPr>
            </a:lvl5pPr>
            <a:lvl6pPr>
              <a:defRPr sz="3375" b="0">
                <a:solidFill>
                  <a:srgbClr val="F4F5F4"/>
                </a:solidFill>
                <a:latin typeface="Arial"/>
                <a:ea typeface="Arial"/>
                <a:cs typeface="Arial"/>
              </a:defRPr>
            </a:lvl6pPr>
            <a:lvl7pPr>
              <a:defRPr sz="3375" b="0">
                <a:solidFill>
                  <a:srgbClr val="F4F5F4"/>
                </a:solidFill>
                <a:latin typeface="Arial"/>
                <a:ea typeface="Arial"/>
                <a:cs typeface="Arial"/>
              </a:defRPr>
            </a:lvl7pPr>
            <a:lvl8pPr>
              <a:defRPr sz="3375" b="0">
                <a:solidFill>
                  <a:srgbClr val="F4F5F4"/>
                </a:solidFill>
                <a:latin typeface="Arial"/>
                <a:ea typeface="Arial"/>
                <a:cs typeface="Arial"/>
              </a:defRPr>
            </a:lvl8pPr>
            <a:lvl9pPr>
              <a:defRPr sz="3375" b="0">
                <a:solidFill>
                  <a:srgbClr val="F4F5F4"/>
                </a:solidFill>
                <a:latin typeface="Arial"/>
                <a:ea typeface="Arial"/>
                <a:cs typeface="Arial"/>
              </a:defRPr>
            </a:lvl9pPr>
          </a:lstStyle>
          <a:p xmlns:a="http://schemas.openxmlformats.org/drawingml/2006/main">
            <a:pPr>
              <a:defRPr sz="3375" b="0">
                <a:solidFill>
                  <a:srgbClr val="F4F5F4"/>
                </a:solidFill>
                <a:latin typeface="Arial"/>
                <a:ea typeface="Arial"/>
                <a:cs typeface="Arial"/>
              </a:defRPr>
            </a:pPr>
            <a:r>
              <a:rPr sz="3375" b="0">
                <a:solidFill>
                  <a:srgbClr val="F4F5F4"/>
                </a:solidFill>
                <a:latin typeface="Arial"/>
                <a:ea typeface="Arial"/>
                <a:cs typeface="Arial"/>
              </a:rPr>
              <a:t>“Only highlight the positive ones.”</a:t>
            </a:r>
          </a:p>
        </p:txBody>
      </p:sp>
      <p:sp>
        <p:nvSpPr>
          <p:cNvPr id="4" name="">
            <a:extLst xmlns:a="http://schemas.openxmlformats.org/drawingml/2006/main">
              <a:ext uri="{FF2B5EF4-FFF2-40B4-BE49-F238E27FC236}">
                <a16:creationId xmlns:a16="http://schemas.microsoft.com/office/drawing/2014/main" id="{BC3C0A57-C53E-46A2-9C37-B590A94746FE}"/>
              </a:ext>
            </a:extLst>
          </p:cNvPr>
          <p:cNvSpPr>
            <a:spLocks xmlns:a="http://schemas.openxmlformats.org/drawingml/2006/main" noGrp="1"/>
          </p:cNvSpPr>
          <p:nvPr/>
        </p:nvSpPr>
        <p:spPr>
          <a:xfrm xmlns:a="http://schemas.openxmlformats.org/drawingml/2006/main">
            <a:off x="666750" y="423862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0">
                <a:solidFill>
                  <a:srgbClr val="F4F5F4"/>
                </a:solidFill>
                <a:latin typeface="Arial"/>
                <a:ea typeface="Arial"/>
                <a:cs typeface="Arial"/>
              </a:defRPr>
            </a:defPPr>
            <a:lvl1pPr>
              <a:defRPr sz="3375" b="0">
                <a:solidFill>
                  <a:srgbClr val="F4F5F4"/>
                </a:solidFill>
                <a:latin typeface="Arial"/>
                <a:ea typeface="Arial"/>
                <a:cs typeface="Arial"/>
              </a:defRPr>
            </a:lvl1pPr>
            <a:lvl2pPr>
              <a:defRPr sz="3375" b="0">
                <a:solidFill>
                  <a:srgbClr val="F4F5F4"/>
                </a:solidFill>
                <a:latin typeface="Arial"/>
                <a:ea typeface="Arial"/>
                <a:cs typeface="Arial"/>
              </a:defRPr>
            </a:lvl2pPr>
            <a:lvl3pPr>
              <a:defRPr sz="3375" b="0">
                <a:solidFill>
                  <a:srgbClr val="F4F5F4"/>
                </a:solidFill>
                <a:latin typeface="Arial"/>
                <a:ea typeface="Arial"/>
                <a:cs typeface="Arial"/>
              </a:defRPr>
            </a:lvl3pPr>
            <a:lvl4pPr>
              <a:defRPr sz="3375" b="0">
                <a:solidFill>
                  <a:srgbClr val="F4F5F4"/>
                </a:solidFill>
                <a:latin typeface="Arial"/>
                <a:ea typeface="Arial"/>
                <a:cs typeface="Arial"/>
              </a:defRPr>
            </a:lvl4pPr>
            <a:lvl5pPr>
              <a:defRPr sz="3375" b="0">
                <a:solidFill>
                  <a:srgbClr val="F4F5F4"/>
                </a:solidFill>
                <a:latin typeface="Arial"/>
                <a:ea typeface="Arial"/>
                <a:cs typeface="Arial"/>
              </a:defRPr>
            </a:lvl5pPr>
            <a:lvl6pPr>
              <a:defRPr sz="3375" b="0">
                <a:solidFill>
                  <a:srgbClr val="F4F5F4"/>
                </a:solidFill>
                <a:latin typeface="Arial"/>
                <a:ea typeface="Arial"/>
                <a:cs typeface="Arial"/>
              </a:defRPr>
            </a:lvl6pPr>
            <a:lvl7pPr>
              <a:defRPr sz="3375" b="0">
                <a:solidFill>
                  <a:srgbClr val="F4F5F4"/>
                </a:solidFill>
                <a:latin typeface="Arial"/>
                <a:ea typeface="Arial"/>
                <a:cs typeface="Arial"/>
              </a:defRPr>
            </a:lvl7pPr>
            <a:lvl8pPr>
              <a:defRPr sz="3375" b="0">
                <a:solidFill>
                  <a:srgbClr val="F4F5F4"/>
                </a:solidFill>
                <a:latin typeface="Arial"/>
                <a:ea typeface="Arial"/>
                <a:cs typeface="Arial"/>
              </a:defRPr>
            </a:lvl8pPr>
            <a:lvl9pPr>
              <a:defRPr sz="3375" b="0">
                <a:solidFill>
                  <a:srgbClr val="F4F5F4"/>
                </a:solidFill>
                <a:latin typeface="Arial"/>
                <a:ea typeface="Arial"/>
                <a:cs typeface="Arial"/>
              </a:defRPr>
            </a:lvl9pPr>
          </a:lstStyle>
          <a:p xmlns:a="http://schemas.openxmlformats.org/drawingml/2006/main">
            <a:pPr>
              <a:defRPr sz="3375" b="0">
                <a:solidFill>
                  <a:srgbClr val="F4F5F4"/>
                </a:solidFill>
                <a:latin typeface="Arial"/>
                <a:ea typeface="Arial"/>
                <a:cs typeface="Arial"/>
              </a:defRPr>
            </a:pPr>
            <a:r>
              <a:rPr sz="3375" b="0">
                <a:solidFill>
                  <a:srgbClr val="F4F5F4"/>
                </a:solidFill>
                <a:latin typeface="Arial"/>
                <a:ea typeface="Arial"/>
                <a:cs typeface="Arial"/>
              </a:rPr>
              <a:t>“Compare that with the earlier result.”</a:t>
            </a:r>
          </a:p>
        </p:txBody>
      </p:sp>
      <p:sp>
        <p:nvSpPr>
          <p:cNvPr id="5" name="">
            <a:extLst xmlns:a="http://schemas.openxmlformats.org/drawingml/2006/main">
              <a:ext uri="{FF2B5EF4-FFF2-40B4-BE49-F238E27FC236}">
                <a16:creationId xmlns:a16="http://schemas.microsoft.com/office/drawing/2014/main" id="{349AF745-4654-4492-8532-4E5A4EEFC7AC}"/>
              </a:ext>
            </a:extLst>
          </p:cNvPr>
          <p:cNvSpPr>
            <a:spLocks xmlns:a="http://schemas.openxmlformats.org/drawingml/2006/main" noGrp="1"/>
          </p:cNvSpPr>
          <p:nvPr/>
        </p:nvSpPr>
        <p:spPr>
          <a:xfrm xmlns:a="http://schemas.openxmlformats.org/drawingml/2006/main">
            <a:off x="666750" y="5810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1AFAB"/>
                </a:solidFill>
                <a:latin typeface="Arial"/>
                <a:ea typeface="Arial"/>
                <a:cs typeface="Arial"/>
              </a:defRPr>
            </a:defPPr>
            <a:lvl1pPr>
              <a:defRPr sz="1800" b="0">
                <a:solidFill>
                  <a:srgbClr val="A1AFAB"/>
                </a:solidFill>
                <a:latin typeface="Arial"/>
                <a:ea typeface="Arial"/>
                <a:cs typeface="Arial"/>
              </a:defRPr>
            </a:lvl1pPr>
            <a:lvl2pPr>
              <a:defRPr sz="1800" b="0">
                <a:solidFill>
                  <a:srgbClr val="A1AFAB"/>
                </a:solidFill>
                <a:latin typeface="Arial"/>
                <a:ea typeface="Arial"/>
                <a:cs typeface="Arial"/>
              </a:defRPr>
            </a:lvl2pPr>
            <a:lvl3pPr>
              <a:defRPr sz="1800" b="0">
                <a:solidFill>
                  <a:srgbClr val="A1AFAB"/>
                </a:solidFill>
                <a:latin typeface="Arial"/>
                <a:ea typeface="Arial"/>
                <a:cs typeface="Arial"/>
              </a:defRPr>
            </a:lvl3pPr>
            <a:lvl4pPr>
              <a:defRPr sz="1800" b="0">
                <a:solidFill>
                  <a:srgbClr val="A1AFAB"/>
                </a:solidFill>
                <a:latin typeface="Arial"/>
                <a:ea typeface="Arial"/>
                <a:cs typeface="Arial"/>
              </a:defRPr>
            </a:lvl4pPr>
            <a:lvl5pPr>
              <a:defRPr sz="1800" b="0">
                <a:solidFill>
                  <a:srgbClr val="A1AFAB"/>
                </a:solidFill>
                <a:latin typeface="Arial"/>
                <a:ea typeface="Arial"/>
                <a:cs typeface="Arial"/>
              </a:defRPr>
            </a:lvl5pPr>
            <a:lvl6pPr>
              <a:defRPr sz="1800" b="0">
                <a:solidFill>
                  <a:srgbClr val="A1AFAB"/>
                </a:solidFill>
                <a:latin typeface="Arial"/>
                <a:ea typeface="Arial"/>
                <a:cs typeface="Arial"/>
              </a:defRPr>
            </a:lvl6pPr>
            <a:lvl7pPr>
              <a:defRPr sz="1800" b="0">
                <a:solidFill>
                  <a:srgbClr val="A1AFAB"/>
                </a:solidFill>
                <a:latin typeface="Arial"/>
                <a:ea typeface="Arial"/>
                <a:cs typeface="Arial"/>
              </a:defRPr>
            </a:lvl7pPr>
            <a:lvl8pPr>
              <a:defRPr sz="1800" b="0">
                <a:solidFill>
                  <a:srgbClr val="A1AFAB"/>
                </a:solidFill>
                <a:latin typeface="Arial"/>
                <a:ea typeface="Arial"/>
                <a:cs typeface="Arial"/>
              </a:defRPr>
            </a:lvl8pPr>
            <a:lvl9pPr>
              <a:defRPr sz="1800" b="0">
                <a:solidFill>
                  <a:srgbClr val="A1AFAB"/>
                </a:solidFill>
                <a:latin typeface="Arial"/>
                <a:ea typeface="Arial"/>
                <a:cs typeface="Arial"/>
              </a:defRPr>
            </a:lvl9pPr>
          </a:lstStyle>
          <a:p xmlns:a="http://schemas.openxmlformats.org/drawingml/2006/main">
            <a:pPr>
              <a:defRPr sz="1800" b="0">
                <a:solidFill>
                  <a:srgbClr val="A1AFAB"/>
                </a:solidFill>
                <a:latin typeface="Arial"/>
                <a:ea typeface="Arial"/>
                <a:cs typeface="Arial"/>
              </a:defRPr>
            </a:pPr>
            <a:r>
              <a:rPr sz="1800" b="0">
                <a:solidFill>
                  <a:srgbClr val="A1AFAB"/>
                </a:solidFill>
                <a:latin typeface="Arial"/>
                <a:ea typeface="Arial"/>
                <a:cs typeface="Arial"/>
              </a:rPr>
              <a:t>The researcher keeps working in the original application.</a:t>
            </a:r>
          </a:p>
        </p:txBody>
      </p:sp>
    </p:spTree>
    <p:extLst>
      <p:ext uri="{BB962C8B-B14F-4D97-AF65-F5344CB8AC3E}">
        <p14:creationId xmlns:p14="http://schemas.microsoft.com/office/powerpoint/2010/main" val="1658058570"/>
      </p:ext>
    </p:extLst>
  </p:cSld>
</p:sld>
</file>

<file path=ppt/slides/slide4.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5C4FCD1-DDDB-4B33-BD78-60B88DDA70EA}"/>
              </a:ext>
            </a:extLst>
          </p:cNvPr>
          <p:cNvSpPr>
            <a:spLocks xmlns:a="http://schemas.openxmlformats.org/drawingml/2006/main" noGrp="1"/>
          </p:cNvSpPr>
          <p:nvPr/>
        </p:nvSpPr>
        <p:spPr>
          <a:xfrm xmlns:a="http://schemas.openxmlformats.org/drawingml/2006/main">
            <a:off x="609600" y="4953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Real operations in QuPath</a:t>
            </a:r>
          </a:p>
        </p:txBody>
      </p:sp>
      <p:pic>
        <p:nvPicPr>
          <p:cNvPr id="2" name="">
            <a:extLst xmlns:a="http://schemas.openxmlformats.org/drawingml/2006/main">
              <a:ext uri="{FF2B5EF4-FFF2-40B4-BE49-F238E27FC236}">
                <a16:creationId xmlns:a16="http://schemas.microsoft.com/office/drawing/2014/main" id="{AA76266F-26F4-4F21-9DA4-6B639FFB790E}"/>
              </a:ext>
            </a:extLst>
          </p:cNvPr>
          <p:cNvPicPr>
            <a:picLocks xmlns:a="http://schemas.openxmlformats.org/drawingml/2006/main" noChangeAspect="1"/>
          </p:cNvPicPr>
          <p:nvPr/>
        </p:nvPicPr>
        <p:blipFill>
          <a:blip xmlns:r="http://schemas.openxmlformats.org/officeDocument/2006/relationships" xmlns:a="http://schemas.openxmlformats.org/drawingml/2006/main" r:embed="R7ab6b87cc73d4d0b"/>
          <a:stretch xmlns:a="http://schemas.openxmlformats.org/drawingml/2006/main"/>
        </p:blipFill>
        <p:spPr>
          <a:xfrm xmlns:a="http://schemas.openxmlformats.org/drawingml/2006/main">
            <a:off x="1054208" y="1524000"/>
            <a:ext cx="5892585" cy="4762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30DBCF5-5F5C-4BAA-AD81-BED0ED05ED07}"/>
              </a:ext>
            </a:extLst>
          </p:cNvPr>
          <p:cNvSpPr>
            <a:spLocks xmlns:a="http://schemas.openxmlformats.org/drawingml/2006/main" noGrp="1"/>
          </p:cNvSpPr>
          <p:nvPr/>
        </p:nvSpPr>
        <p:spPr>
          <a:xfrm xmlns:a="http://schemas.openxmlformats.org/drawingml/2006/main">
            <a:off x="8096250" y="20002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300" b="1">
                <a:solidFill>
                  <a:srgbClr val="F4F5F4"/>
                </a:solidFill>
                <a:latin typeface="Arial"/>
                <a:ea typeface="Arial"/>
                <a:cs typeface="Arial"/>
              </a:defRPr>
            </a:defPPr>
            <a:lvl1pPr>
              <a:defRPr sz="6300" b="1">
                <a:solidFill>
                  <a:srgbClr val="F4F5F4"/>
                </a:solidFill>
                <a:latin typeface="Arial"/>
                <a:ea typeface="Arial"/>
                <a:cs typeface="Arial"/>
              </a:defRPr>
            </a:lvl1pPr>
            <a:lvl2pPr>
              <a:defRPr sz="6300" b="1">
                <a:solidFill>
                  <a:srgbClr val="F4F5F4"/>
                </a:solidFill>
                <a:latin typeface="Arial"/>
                <a:ea typeface="Arial"/>
                <a:cs typeface="Arial"/>
              </a:defRPr>
            </a:lvl2pPr>
            <a:lvl3pPr>
              <a:defRPr sz="6300" b="1">
                <a:solidFill>
                  <a:srgbClr val="F4F5F4"/>
                </a:solidFill>
                <a:latin typeface="Arial"/>
                <a:ea typeface="Arial"/>
                <a:cs typeface="Arial"/>
              </a:defRPr>
            </a:lvl3pPr>
            <a:lvl4pPr>
              <a:defRPr sz="6300" b="1">
                <a:solidFill>
                  <a:srgbClr val="F4F5F4"/>
                </a:solidFill>
                <a:latin typeface="Arial"/>
                <a:ea typeface="Arial"/>
                <a:cs typeface="Arial"/>
              </a:defRPr>
            </a:lvl4pPr>
            <a:lvl5pPr>
              <a:defRPr sz="6300" b="1">
                <a:solidFill>
                  <a:srgbClr val="F4F5F4"/>
                </a:solidFill>
                <a:latin typeface="Arial"/>
                <a:ea typeface="Arial"/>
                <a:cs typeface="Arial"/>
              </a:defRPr>
            </a:lvl5pPr>
            <a:lvl6pPr>
              <a:defRPr sz="6300" b="1">
                <a:solidFill>
                  <a:srgbClr val="F4F5F4"/>
                </a:solidFill>
                <a:latin typeface="Arial"/>
                <a:ea typeface="Arial"/>
                <a:cs typeface="Arial"/>
              </a:defRPr>
            </a:lvl6pPr>
            <a:lvl7pPr>
              <a:defRPr sz="6300" b="1">
                <a:solidFill>
                  <a:srgbClr val="F4F5F4"/>
                </a:solidFill>
                <a:latin typeface="Arial"/>
                <a:ea typeface="Arial"/>
                <a:cs typeface="Arial"/>
              </a:defRPr>
            </a:lvl7pPr>
            <a:lvl8pPr>
              <a:defRPr sz="6300" b="1">
                <a:solidFill>
                  <a:srgbClr val="F4F5F4"/>
                </a:solidFill>
                <a:latin typeface="Arial"/>
                <a:ea typeface="Arial"/>
                <a:cs typeface="Arial"/>
              </a:defRPr>
            </a:lvl8pPr>
            <a:lvl9pPr>
              <a:defRPr sz="6300" b="1">
                <a:solidFill>
                  <a:srgbClr val="F4F5F4"/>
                </a:solidFill>
                <a:latin typeface="Arial"/>
                <a:ea typeface="Arial"/>
                <a:cs typeface="Arial"/>
              </a:defRPr>
            </a:lvl9pPr>
          </a:lstStyle>
          <a:p xmlns:a="http://schemas.openxmlformats.org/drawingml/2006/main">
            <a:pPr>
              <a:defRPr sz="6300" b="1">
                <a:solidFill>
                  <a:srgbClr val="F4F5F4"/>
                </a:solidFill>
                <a:latin typeface="Arial"/>
                <a:ea typeface="Arial"/>
                <a:cs typeface="Arial"/>
              </a:defRPr>
            </a:pPr>
            <a:r>
              <a:rPr sz="6300" b="1">
                <a:solidFill>
                  <a:srgbClr val="F4F5F4"/>
                </a:solidFill>
                <a:latin typeface="Arial"/>
                <a:ea typeface="Arial"/>
                <a:cs typeface="Arial"/>
              </a:rPr>
              <a:t>899</a:t>
            </a:r>
          </a:p>
        </p:txBody>
      </p:sp>
      <p:sp>
        <p:nvSpPr>
          <p:cNvPr id="4" name="">
            <a:extLst xmlns:a="http://schemas.openxmlformats.org/drawingml/2006/main">
              <a:ext uri="{FF2B5EF4-FFF2-40B4-BE49-F238E27FC236}">
                <a16:creationId xmlns:a16="http://schemas.microsoft.com/office/drawing/2014/main" id="{C3FF65ED-3665-4942-91BA-5F4DD9299B5A}"/>
              </a:ext>
            </a:extLst>
          </p:cNvPr>
          <p:cNvSpPr>
            <a:spLocks xmlns:a="http://schemas.openxmlformats.org/drawingml/2006/main" noGrp="1"/>
          </p:cNvSpPr>
          <p:nvPr/>
        </p:nvSpPr>
        <p:spPr>
          <a:xfrm xmlns:a="http://schemas.openxmlformats.org/drawingml/2006/main">
            <a:off x="8143875" y="300037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A1AFAB"/>
                </a:solidFill>
                <a:latin typeface="Arial"/>
                <a:ea typeface="Arial"/>
                <a:cs typeface="Arial"/>
              </a:defRPr>
            </a:defPPr>
            <a:lvl1pPr>
              <a:defRPr sz="1950" b="0">
                <a:solidFill>
                  <a:srgbClr val="A1AFAB"/>
                </a:solidFill>
                <a:latin typeface="Arial"/>
                <a:ea typeface="Arial"/>
                <a:cs typeface="Arial"/>
              </a:defRPr>
            </a:lvl1pPr>
            <a:lvl2pPr>
              <a:defRPr sz="1950" b="0">
                <a:solidFill>
                  <a:srgbClr val="A1AFAB"/>
                </a:solidFill>
                <a:latin typeface="Arial"/>
                <a:ea typeface="Arial"/>
                <a:cs typeface="Arial"/>
              </a:defRPr>
            </a:lvl2pPr>
            <a:lvl3pPr>
              <a:defRPr sz="1950" b="0">
                <a:solidFill>
                  <a:srgbClr val="A1AFAB"/>
                </a:solidFill>
                <a:latin typeface="Arial"/>
                <a:ea typeface="Arial"/>
                <a:cs typeface="Arial"/>
              </a:defRPr>
            </a:lvl3pPr>
            <a:lvl4pPr>
              <a:defRPr sz="1950" b="0">
                <a:solidFill>
                  <a:srgbClr val="A1AFAB"/>
                </a:solidFill>
                <a:latin typeface="Arial"/>
                <a:ea typeface="Arial"/>
                <a:cs typeface="Arial"/>
              </a:defRPr>
            </a:lvl4pPr>
            <a:lvl5pPr>
              <a:defRPr sz="1950" b="0">
                <a:solidFill>
                  <a:srgbClr val="A1AFAB"/>
                </a:solidFill>
                <a:latin typeface="Arial"/>
                <a:ea typeface="Arial"/>
                <a:cs typeface="Arial"/>
              </a:defRPr>
            </a:lvl5pPr>
            <a:lvl6pPr>
              <a:defRPr sz="1950" b="0">
                <a:solidFill>
                  <a:srgbClr val="A1AFAB"/>
                </a:solidFill>
                <a:latin typeface="Arial"/>
                <a:ea typeface="Arial"/>
                <a:cs typeface="Arial"/>
              </a:defRPr>
            </a:lvl6pPr>
            <a:lvl7pPr>
              <a:defRPr sz="1950" b="0">
                <a:solidFill>
                  <a:srgbClr val="A1AFAB"/>
                </a:solidFill>
                <a:latin typeface="Arial"/>
                <a:ea typeface="Arial"/>
                <a:cs typeface="Arial"/>
              </a:defRPr>
            </a:lvl7pPr>
            <a:lvl8pPr>
              <a:defRPr sz="1950" b="0">
                <a:solidFill>
                  <a:srgbClr val="A1AFAB"/>
                </a:solidFill>
                <a:latin typeface="Arial"/>
                <a:ea typeface="Arial"/>
                <a:cs typeface="Arial"/>
              </a:defRPr>
            </a:lvl8pPr>
            <a:lvl9pPr>
              <a:defRPr sz="1950" b="0">
                <a:solidFill>
                  <a:srgbClr val="A1AFAB"/>
                </a:solidFill>
                <a:latin typeface="Arial"/>
                <a:ea typeface="Arial"/>
                <a:cs typeface="Arial"/>
              </a:defRPr>
            </a:lvl9pPr>
          </a:lstStyle>
          <a:p xmlns:a="http://schemas.openxmlformats.org/drawingml/2006/main">
            <a:pPr>
              <a:defRPr sz="1950" b="0">
                <a:solidFill>
                  <a:srgbClr val="A1AFAB"/>
                </a:solidFill>
                <a:latin typeface="Arial"/>
                <a:ea typeface="Arial"/>
                <a:cs typeface="Arial"/>
              </a:defRPr>
            </a:pPr>
            <a:r>
              <a:rPr sz="1950" b="0">
                <a:solidFill>
                  <a:srgbClr val="A1AFAB"/>
                </a:solidFill>
                <a:latin typeface="Arial"/>
                <a:ea typeface="Arial"/>
                <a:cs typeface="Arial"/>
              </a:rPr>
              <a:t>detected cells</a:t>
            </a:r>
          </a:p>
        </p:txBody>
      </p:sp>
      <p:sp>
        <p:nvSpPr>
          <p:cNvPr id="5" name="">
            <a:extLst xmlns:a="http://schemas.openxmlformats.org/drawingml/2006/main">
              <a:ext uri="{FF2B5EF4-FFF2-40B4-BE49-F238E27FC236}">
                <a16:creationId xmlns:a16="http://schemas.microsoft.com/office/drawing/2014/main" id="{9FFC44D2-2560-4139-8E18-EF4F0A5406A7}"/>
              </a:ext>
            </a:extLst>
          </p:cNvPr>
          <p:cNvSpPr>
            <a:spLocks xmlns:a="http://schemas.openxmlformats.org/drawingml/2006/main" noGrp="1"/>
          </p:cNvSpPr>
          <p:nvPr/>
        </p:nvSpPr>
        <p:spPr>
          <a:xfrm xmlns:a="http://schemas.openxmlformats.org/drawingml/2006/main">
            <a:off x="8096250" y="400050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1">
                <a:solidFill>
                  <a:srgbClr val="A3EAC9"/>
                </a:solidFill>
                <a:latin typeface="Arial"/>
                <a:ea typeface="Arial"/>
                <a:cs typeface="Arial"/>
              </a:defRPr>
            </a:defPPr>
            <a:lvl1pPr>
              <a:defRPr sz="5400" b="1">
                <a:solidFill>
                  <a:srgbClr val="A3EAC9"/>
                </a:solidFill>
                <a:latin typeface="Arial"/>
                <a:ea typeface="Arial"/>
                <a:cs typeface="Arial"/>
              </a:defRPr>
            </a:lvl1pPr>
            <a:lvl2pPr>
              <a:defRPr sz="5400" b="1">
                <a:solidFill>
                  <a:srgbClr val="A3EAC9"/>
                </a:solidFill>
                <a:latin typeface="Arial"/>
                <a:ea typeface="Arial"/>
                <a:cs typeface="Arial"/>
              </a:defRPr>
            </a:lvl2pPr>
            <a:lvl3pPr>
              <a:defRPr sz="5400" b="1">
                <a:solidFill>
                  <a:srgbClr val="A3EAC9"/>
                </a:solidFill>
                <a:latin typeface="Arial"/>
                <a:ea typeface="Arial"/>
                <a:cs typeface="Arial"/>
              </a:defRPr>
            </a:lvl3pPr>
            <a:lvl4pPr>
              <a:defRPr sz="5400" b="1">
                <a:solidFill>
                  <a:srgbClr val="A3EAC9"/>
                </a:solidFill>
                <a:latin typeface="Arial"/>
                <a:ea typeface="Arial"/>
                <a:cs typeface="Arial"/>
              </a:defRPr>
            </a:lvl4pPr>
            <a:lvl5pPr>
              <a:defRPr sz="5400" b="1">
                <a:solidFill>
                  <a:srgbClr val="A3EAC9"/>
                </a:solidFill>
                <a:latin typeface="Arial"/>
                <a:ea typeface="Arial"/>
                <a:cs typeface="Arial"/>
              </a:defRPr>
            </a:lvl5pPr>
            <a:lvl6pPr>
              <a:defRPr sz="5400" b="1">
                <a:solidFill>
                  <a:srgbClr val="A3EAC9"/>
                </a:solidFill>
                <a:latin typeface="Arial"/>
                <a:ea typeface="Arial"/>
                <a:cs typeface="Arial"/>
              </a:defRPr>
            </a:lvl6pPr>
            <a:lvl7pPr>
              <a:defRPr sz="5400" b="1">
                <a:solidFill>
                  <a:srgbClr val="A3EAC9"/>
                </a:solidFill>
                <a:latin typeface="Arial"/>
                <a:ea typeface="Arial"/>
                <a:cs typeface="Arial"/>
              </a:defRPr>
            </a:lvl7pPr>
            <a:lvl8pPr>
              <a:defRPr sz="5400" b="1">
                <a:solidFill>
                  <a:srgbClr val="A3EAC9"/>
                </a:solidFill>
                <a:latin typeface="Arial"/>
                <a:ea typeface="Arial"/>
                <a:cs typeface="Arial"/>
              </a:defRPr>
            </a:lvl8pPr>
            <a:lvl9pPr>
              <a:defRPr sz="5400" b="1">
                <a:solidFill>
                  <a:srgbClr val="A3EAC9"/>
                </a:solidFill>
                <a:latin typeface="Arial"/>
                <a:ea typeface="Arial"/>
                <a:cs typeface="Arial"/>
              </a:defRPr>
            </a:lvl9pPr>
          </a:lstStyle>
          <a:p xmlns:a="http://schemas.openxmlformats.org/drawingml/2006/main">
            <a:pPr>
              <a:defRPr sz="5400" b="1">
                <a:solidFill>
                  <a:srgbClr val="A3EAC9"/>
                </a:solidFill>
                <a:latin typeface="Arial"/>
                <a:ea typeface="Arial"/>
                <a:cs typeface="Arial"/>
              </a:defRPr>
            </a:pPr>
            <a:r>
              <a:rPr sz="5400" b="1">
                <a:solidFill>
                  <a:srgbClr val="A3EAC9"/>
                </a:solidFill>
                <a:latin typeface="Arial"/>
                <a:ea typeface="Arial"/>
                <a:cs typeface="Arial"/>
              </a:rPr>
              <a:t>49</a:t>
            </a:r>
          </a:p>
        </p:txBody>
      </p:sp>
      <p:sp>
        <p:nvSpPr>
          <p:cNvPr id="6" name="">
            <a:extLst xmlns:a="http://schemas.openxmlformats.org/drawingml/2006/main">
              <a:ext uri="{FF2B5EF4-FFF2-40B4-BE49-F238E27FC236}">
                <a16:creationId xmlns:a16="http://schemas.microsoft.com/office/drawing/2014/main" id="{5328BDBC-8401-4925-AE94-44E6C26EF647}"/>
              </a:ext>
            </a:extLst>
          </p:cNvPr>
          <p:cNvSpPr>
            <a:spLocks xmlns:a="http://schemas.openxmlformats.org/drawingml/2006/main" noGrp="1"/>
          </p:cNvSpPr>
          <p:nvPr/>
        </p:nvSpPr>
        <p:spPr>
          <a:xfrm xmlns:a="http://schemas.openxmlformats.org/drawingml/2006/main">
            <a:off x="8143875" y="4905375"/>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A1AFAB"/>
                </a:solidFill>
                <a:latin typeface="Arial"/>
                <a:ea typeface="Arial"/>
                <a:cs typeface="Arial"/>
              </a:defRPr>
            </a:defPPr>
            <a:lvl1pPr>
              <a:defRPr sz="1950" b="0">
                <a:solidFill>
                  <a:srgbClr val="A1AFAB"/>
                </a:solidFill>
                <a:latin typeface="Arial"/>
                <a:ea typeface="Arial"/>
                <a:cs typeface="Arial"/>
              </a:defRPr>
            </a:lvl1pPr>
            <a:lvl2pPr>
              <a:defRPr sz="1950" b="0">
                <a:solidFill>
                  <a:srgbClr val="A1AFAB"/>
                </a:solidFill>
                <a:latin typeface="Arial"/>
                <a:ea typeface="Arial"/>
                <a:cs typeface="Arial"/>
              </a:defRPr>
            </a:lvl2pPr>
            <a:lvl3pPr>
              <a:defRPr sz="1950" b="0">
                <a:solidFill>
                  <a:srgbClr val="A1AFAB"/>
                </a:solidFill>
                <a:latin typeface="Arial"/>
                <a:ea typeface="Arial"/>
                <a:cs typeface="Arial"/>
              </a:defRPr>
            </a:lvl3pPr>
            <a:lvl4pPr>
              <a:defRPr sz="1950" b="0">
                <a:solidFill>
                  <a:srgbClr val="A1AFAB"/>
                </a:solidFill>
                <a:latin typeface="Arial"/>
                <a:ea typeface="Arial"/>
                <a:cs typeface="Arial"/>
              </a:defRPr>
            </a:lvl4pPr>
            <a:lvl5pPr>
              <a:defRPr sz="1950" b="0">
                <a:solidFill>
                  <a:srgbClr val="A1AFAB"/>
                </a:solidFill>
                <a:latin typeface="Arial"/>
                <a:ea typeface="Arial"/>
                <a:cs typeface="Arial"/>
              </a:defRPr>
            </a:lvl5pPr>
            <a:lvl6pPr>
              <a:defRPr sz="1950" b="0">
                <a:solidFill>
                  <a:srgbClr val="A1AFAB"/>
                </a:solidFill>
                <a:latin typeface="Arial"/>
                <a:ea typeface="Arial"/>
                <a:cs typeface="Arial"/>
              </a:defRPr>
            </a:lvl6pPr>
            <a:lvl7pPr>
              <a:defRPr sz="1950" b="0">
                <a:solidFill>
                  <a:srgbClr val="A1AFAB"/>
                </a:solidFill>
                <a:latin typeface="Arial"/>
                <a:ea typeface="Arial"/>
                <a:cs typeface="Arial"/>
              </a:defRPr>
            </a:lvl7pPr>
            <a:lvl8pPr>
              <a:defRPr sz="1950" b="0">
                <a:solidFill>
                  <a:srgbClr val="A1AFAB"/>
                </a:solidFill>
                <a:latin typeface="Arial"/>
                <a:ea typeface="Arial"/>
                <a:cs typeface="Arial"/>
              </a:defRPr>
            </a:lvl8pPr>
            <a:lvl9pPr>
              <a:defRPr sz="1950" b="0">
                <a:solidFill>
                  <a:srgbClr val="A1AFAB"/>
                </a:solidFill>
                <a:latin typeface="Arial"/>
                <a:ea typeface="Arial"/>
                <a:cs typeface="Arial"/>
              </a:defRPr>
            </a:lvl9pPr>
          </a:lstStyle>
          <a:p xmlns:a="http://schemas.openxmlformats.org/drawingml/2006/main">
            <a:pPr>
              <a:defRPr sz="1950" b="0">
                <a:solidFill>
                  <a:srgbClr val="A1AFAB"/>
                </a:solidFill>
                <a:latin typeface="Arial"/>
                <a:ea typeface="Arial"/>
                <a:cs typeface="Arial"/>
              </a:defRPr>
            </a:pPr>
            <a:r>
              <a:rPr sz="1950" b="0">
                <a:solidFill>
                  <a:srgbClr val="A1AFAB"/>
                </a:solidFill>
                <a:latin typeface="Arial"/>
                <a:ea typeface="Arial"/>
                <a:cs typeface="Arial"/>
              </a:rPr>
              <a:t>above the chosen</a:t>
            </a:r>
          </a:p>
          <a:p xmlns:a="http://schemas.openxmlformats.org/drawingml/2006/main">
            <a:pPr>
              <a:defRPr sz="1950" b="0">
                <a:solidFill>
                  <a:srgbClr val="A1AFAB"/>
                </a:solidFill>
                <a:latin typeface="Arial"/>
                <a:ea typeface="Arial"/>
                <a:cs typeface="Arial"/>
              </a:defRPr>
            </a:pPr>
            <a:r>
              <a:rPr sz="1950" b="0">
                <a:solidFill>
                  <a:srgbClr val="A1AFAB"/>
                </a:solidFill>
                <a:latin typeface="Arial"/>
                <a:ea typeface="Arial"/>
                <a:cs typeface="Arial"/>
              </a:rPr>
              <a:t>DAB threshold</a:t>
            </a:r>
          </a:p>
        </p:txBody>
      </p:sp>
    </p:spTree>
    <p:extLst>
      <p:ext uri="{BB962C8B-B14F-4D97-AF65-F5344CB8AC3E}">
        <p14:creationId xmlns:p14="http://schemas.microsoft.com/office/powerpoint/2010/main" val="442475395"/>
      </p:ext>
    </p:extLst>
  </p:cSld>
</p:sld>
</file>

<file path=ppt/slides/slide5.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4E0436-94BB-4916-B037-DCED313AC007}"/>
              </a:ext>
            </a:extLst>
          </p:cNvPr>
          <p:cNvSpPr>
            <a:spLocks xmlns:a="http://schemas.openxmlformats.org/drawingml/2006/main" noGrp="1"/>
          </p:cNvSpPr>
          <p:nvPr/>
        </p:nvSpPr>
        <p:spPr>
          <a:xfrm xmlns:a="http://schemas.openxmlformats.org/drawingml/2006/main">
            <a:off x="609600" y="5524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Researcher control</a:t>
            </a:r>
          </a:p>
        </p:txBody>
      </p:sp>
      <p:sp>
        <p:nvSpPr>
          <p:cNvPr id="2" name="">
            <a:extLst xmlns:a="http://schemas.openxmlformats.org/drawingml/2006/main">
              <a:ext uri="{FF2B5EF4-FFF2-40B4-BE49-F238E27FC236}">
                <a16:creationId xmlns:a16="http://schemas.microsoft.com/office/drawing/2014/main" id="{CCA54342-57A9-44B6-AE3F-8175961F2B5D}"/>
              </a:ext>
            </a:extLst>
          </p:cNvPr>
          <p:cNvSpPr>
            <a:spLocks xmlns:a="http://schemas.openxmlformats.org/drawingml/2006/main" noGrp="1"/>
          </p:cNvSpPr>
          <p:nvPr/>
        </p:nvSpPr>
        <p:spPr>
          <a:xfrm xmlns:a="http://schemas.openxmlformats.org/drawingml/2006/main">
            <a:off x="666750" y="18097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F4F5F4"/>
                </a:solidFill>
                <a:latin typeface="Arial"/>
                <a:ea typeface="Arial"/>
                <a:cs typeface="Arial"/>
              </a:defRPr>
            </a:defPPr>
            <a:lvl1pPr>
              <a:defRPr sz="3000" b="0">
                <a:solidFill>
                  <a:srgbClr val="F4F5F4"/>
                </a:solidFill>
                <a:latin typeface="Arial"/>
                <a:ea typeface="Arial"/>
                <a:cs typeface="Arial"/>
              </a:defRPr>
            </a:lvl1pPr>
            <a:lvl2pPr>
              <a:defRPr sz="3000" b="0">
                <a:solidFill>
                  <a:srgbClr val="F4F5F4"/>
                </a:solidFill>
                <a:latin typeface="Arial"/>
                <a:ea typeface="Arial"/>
                <a:cs typeface="Arial"/>
              </a:defRPr>
            </a:lvl2pPr>
            <a:lvl3pPr>
              <a:defRPr sz="3000" b="0">
                <a:solidFill>
                  <a:srgbClr val="F4F5F4"/>
                </a:solidFill>
                <a:latin typeface="Arial"/>
                <a:ea typeface="Arial"/>
                <a:cs typeface="Arial"/>
              </a:defRPr>
            </a:lvl3pPr>
            <a:lvl4pPr>
              <a:defRPr sz="3000" b="0">
                <a:solidFill>
                  <a:srgbClr val="F4F5F4"/>
                </a:solidFill>
                <a:latin typeface="Arial"/>
                <a:ea typeface="Arial"/>
                <a:cs typeface="Arial"/>
              </a:defRPr>
            </a:lvl4pPr>
            <a:lvl5pPr>
              <a:defRPr sz="3000" b="0">
                <a:solidFill>
                  <a:srgbClr val="F4F5F4"/>
                </a:solidFill>
                <a:latin typeface="Arial"/>
                <a:ea typeface="Arial"/>
                <a:cs typeface="Arial"/>
              </a:defRPr>
            </a:lvl5pPr>
            <a:lvl6pPr>
              <a:defRPr sz="3000" b="0">
                <a:solidFill>
                  <a:srgbClr val="F4F5F4"/>
                </a:solidFill>
                <a:latin typeface="Arial"/>
                <a:ea typeface="Arial"/>
                <a:cs typeface="Arial"/>
              </a:defRPr>
            </a:lvl6pPr>
            <a:lvl7pPr>
              <a:defRPr sz="3000" b="0">
                <a:solidFill>
                  <a:srgbClr val="F4F5F4"/>
                </a:solidFill>
                <a:latin typeface="Arial"/>
                <a:ea typeface="Arial"/>
                <a:cs typeface="Arial"/>
              </a:defRPr>
            </a:lvl7pPr>
            <a:lvl8pPr>
              <a:defRPr sz="3000" b="0">
                <a:solidFill>
                  <a:srgbClr val="F4F5F4"/>
                </a:solidFill>
                <a:latin typeface="Arial"/>
                <a:ea typeface="Arial"/>
                <a:cs typeface="Arial"/>
              </a:defRPr>
            </a:lvl8pPr>
            <a:lvl9pPr>
              <a:defRPr sz="3000" b="0">
                <a:solidFill>
                  <a:srgbClr val="F4F5F4"/>
                </a:solidFill>
                <a:latin typeface="Arial"/>
                <a:ea typeface="Arial"/>
                <a:cs typeface="Arial"/>
              </a:defRPr>
            </a:lvl9pPr>
          </a:lstStyle>
          <a:p xmlns:a="http://schemas.openxmlformats.org/drawingml/2006/main">
            <a:pPr>
              <a:defRPr sz="3000" b="0">
                <a:solidFill>
                  <a:srgbClr val="F4F5F4"/>
                </a:solidFill>
                <a:latin typeface="Arial"/>
                <a:ea typeface="Arial"/>
                <a:cs typeface="Arial"/>
              </a:defRPr>
            </a:pPr>
            <a:r>
              <a:rPr sz="3000" b="0">
                <a:solidFill>
                  <a:srgbClr val="F4F5F4"/>
                </a:solidFill>
                <a:latin typeface="Arial"/>
                <a:ea typeface="Arial"/>
                <a:cs typeface="Arial"/>
              </a:rPr>
              <a:t>Exact actions for review</a:t>
            </a:r>
          </a:p>
        </p:txBody>
      </p:sp>
      <p:sp>
        <p:nvSpPr>
          <p:cNvPr id="3" name="">
            <a:extLst xmlns:a="http://schemas.openxmlformats.org/drawingml/2006/main">
              <a:ext uri="{FF2B5EF4-FFF2-40B4-BE49-F238E27FC236}">
                <a16:creationId xmlns:a16="http://schemas.microsoft.com/office/drawing/2014/main" id="{F5124ED3-2827-4777-B5AF-140BFA0E39CE}"/>
              </a:ext>
            </a:extLst>
          </p:cNvPr>
          <p:cNvSpPr>
            <a:spLocks xmlns:a="http://schemas.openxmlformats.org/drawingml/2006/main" noGrp="1"/>
          </p:cNvSpPr>
          <p:nvPr/>
        </p:nvSpPr>
        <p:spPr>
          <a:xfrm xmlns:a="http://schemas.openxmlformats.org/drawingml/2006/main">
            <a:off x="666750" y="2600325"/>
            <a:ext cx="1019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A1AFAB"/>
                </a:solidFill>
                <a:latin typeface="Arial"/>
                <a:ea typeface="Arial"/>
                <a:cs typeface="Arial"/>
              </a:defRPr>
            </a:defPPr>
            <a:lvl1pPr>
              <a:defRPr sz="2100" b="0">
                <a:solidFill>
                  <a:srgbClr val="A1AFAB"/>
                </a:solidFill>
                <a:latin typeface="Arial"/>
                <a:ea typeface="Arial"/>
                <a:cs typeface="Arial"/>
              </a:defRPr>
            </a:lvl1pPr>
            <a:lvl2pPr>
              <a:defRPr sz="2100" b="0">
                <a:solidFill>
                  <a:srgbClr val="A1AFAB"/>
                </a:solidFill>
                <a:latin typeface="Arial"/>
                <a:ea typeface="Arial"/>
                <a:cs typeface="Arial"/>
              </a:defRPr>
            </a:lvl2pPr>
            <a:lvl3pPr>
              <a:defRPr sz="2100" b="0">
                <a:solidFill>
                  <a:srgbClr val="A1AFAB"/>
                </a:solidFill>
                <a:latin typeface="Arial"/>
                <a:ea typeface="Arial"/>
                <a:cs typeface="Arial"/>
              </a:defRPr>
            </a:lvl3pPr>
            <a:lvl4pPr>
              <a:defRPr sz="2100" b="0">
                <a:solidFill>
                  <a:srgbClr val="A1AFAB"/>
                </a:solidFill>
                <a:latin typeface="Arial"/>
                <a:ea typeface="Arial"/>
                <a:cs typeface="Arial"/>
              </a:defRPr>
            </a:lvl4pPr>
            <a:lvl5pPr>
              <a:defRPr sz="2100" b="0">
                <a:solidFill>
                  <a:srgbClr val="A1AFAB"/>
                </a:solidFill>
                <a:latin typeface="Arial"/>
                <a:ea typeface="Arial"/>
                <a:cs typeface="Arial"/>
              </a:defRPr>
            </a:lvl5pPr>
            <a:lvl6pPr>
              <a:defRPr sz="2100" b="0">
                <a:solidFill>
                  <a:srgbClr val="A1AFAB"/>
                </a:solidFill>
                <a:latin typeface="Arial"/>
                <a:ea typeface="Arial"/>
                <a:cs typeface="Arial"/>
              </a:defRPr>
            </a:lvl6pPr>
            <a:lvl7pPr>
              <a:defRPr sz="2100" b="0">
                <a:solidFill>
                  <a:srgbClr val="A1AFAB"/>
                </a:solidFill>
                <a:latin typeface="Arial"/>
                <a:ea typeface="Arial"/>
                <a:cs typeface="Arial"/>
              </a:defRPr>
            </a:lvl7pPr>
            <a:lvl8pPr>
              <a:defRPr sz="2100" b="0">
                <a:solidFill>
                  <a:srgbClr val="A1AFAB"/>
                </a:solidFill>
                <a:latin typeface="Arial"/>
                <a:ea typeface="Arial"/>
                <a:cs typeface="Arial"/>
              </a:defRPr>
            </a:lvl8pPr>
            <a:lvl9pPr>
              <a:defRPr sz="2100" b="0">
                <a:solidFill>
                  <a:srgbClr val="A1AFAB"/>
                </a:solidFill>
                <a:latin typeface="Arial"/>
                <a:ea typeface="Arial"/>
                <a:cs typeface="Arial"/>
              </a:defRPr>
            </a:lvl9pPr>
          </a:lstStyle>
          <a:p xmlns:a="http://schemas.openxmlformats.org/drawingml/2006/main">
            <a:pPr>
              <a:defRPr sz="2100" b="0">
                <a:solidFill>
                  <a:srgbClr val="A1AFAB"/>
                </a:solidFill>
                <a:latin typeface="Arial"/>
                <a:ea typeface="Arial"/>
                <a:cs typeface="Arial"/>
              </a:defRPr>
            </a:pPr>
            <a:r>
              <a:rPr sz="2100" b="0">
                <a:solidFill>
                  <a:srgbClr val="A1AFAB"/>
                </a:solidFill>
                <a:latin typeface="Arial"/>
                <a:ea typeface="Arial"/>
                <a:cs typeface="Arial"/>
              </a:rPr>
              <a:t>Changes to the image or selection invalidate stale approval.</a:t>
            </a:r>
          </a:p>
        </p:txBody>
      </p:sp>
      <p:sp>
        <p:nvSpPr>
          <p:cNvPr id="4" name="">
            <a:extLst xmlns:a="http://schemas.openxmlformats.org/drawingml/2006/main">
              <a:ext uri="{FF2B5EF4-FFF2-40B4-BE49-F238E27FC236}">
                <a16:creationId xmlns:a16="http://schemas.microsoft.com/office/drawing/2014/main" id="{63D0C34A-2D1C-4059-BE70-13E81F37A512}"/>
              </a:ext>
            </a:extLst>
          </p:cNvPr>
          <p:cNvSpPr>
            <a:spLocks xmlns:a="http://schemas.openxmlformats.org/drawingml/2006/main" noGrp="1"/>
          </p:cNvSpPr>
          <p:nvPr/>
        </p:nvSpPr>
        <p:spPr>
          <a:xfrm xmlns:a="http://schemas.openxmlformats.org/drawingml/2006/main">
            <a:off x="666750" y="38100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F4F5F4"/>
                </a:solidFill>
                <a:latin typeface="Arial"/>
                <a:ea typeface="Arial"/>
                <a:cs typeface="Arial"/>
              </a:defRPr>
            </a:defPPr>
            <a:lvl1pPr>
              <a:defRPr sz="3000" b="0">
                <a:solidFill>
                  <a:srgbClr val="F4F5F4"/>
                </a:solidFill>
                <a:latin typeface="Arial"/>
                <a:ea typeface="Arial"/>
                <a:cs typeface="Arial"/>
              </a:defRPr>
            </a:lvl1pPr>
            <a:lvl2pPr>
              <a:defRPr sz="3000" b="0">
                <a:solidFill>
                  <a:srgbClr val="F4F5F4"/>
                </a:solidFill>
                <a:latin typeface="Arial"/>
                <a:ea typeface="Arial"/>
                <a:cs typeface="Arial"/>
              </a:defRPr>
            </a:lvl2pPr>
            <a:lvl3pPr>
              <a:defRPr sz="3000" b="0">
                <a:solidFill>
                  <a:srgbClr val="F4F5F4"/>
                </a:solidFill>
                <a:latin typeface="Arial"/>
                <a:ea typeface="Arial"/>
                <a:cs typeface="Arial"/>
              </a:defRPr>
            </a:lvl3pPr>
            <a:lvl4pPr>
              <a:defRPr sz="3000" b="0">
                <a:solidFill>
                  <a:srgbClr val="F4F5F4"/>
                </a:solidFill>
                <a:latin typeface="Arial"/>
                <a:ea typeface="Arial"/>
                <a:cs typeface="Arial"/>
              </a:defRPr>
            </a:lvl4pPr>
            <a:lvl5pPr>
              <a:defRPr sz="3000" b="0">
                <a:solidFill>
                  <a:srgbClr val="F4F5F4"/>
                </a:solidFill>
                <a:latin typeface="Arial"/>
                <a:ea typeface="Arial"/>
                <a:cs typeface="Arial"/>
              </a:defRPr>
            </a:lvl5pPr>
            <a:lvl6pPr>
              <a:defRPr sz="3000" b="0">
                <a:solidFill>
                  <a:srgbClr val="F4F5F4"/>
                </a:solidFill>
                <a:latin typeface="Arial"/>
                <a:ea typeface="Arial"/>
                <a:cs typeface="Arial"/>
              </a:defRPr>
            </a:lvl6pPr>
            <a:lvl7pPr>
              <a:defRPr sz="3000" b="0">
                <a:solidFill>
                  <a:srgbClr val="F4F5F4"/>
                </a:solidFill>
                <a:latin typeface="Arial"/>
                <a:ea typeface="Arial"/>
                <a:cs typeface="Arial"/>
              </a:defRPr>
            </a:lvl7pPr>
            <a:lvl8pPr>
              <a:defRPr sz="3000" b="0">
                <a:solidFill>
                  <a:srgbClr val="F4F5F4"/>
                </a:solidFill>
                <a:latin typeface="Arial"/>
                <a:ea typeface="Arial"/>
                <a:cs typeface="Arial"/>
              </a:defRPr>
            </a:lvl8pPr>
            <a:lvl9pPr>
              <a:defRPr sz="3000" b="0">
                <a:solidFill>
                  <a:srgbClr val="F4F5F4"/>
                </a:solidFill>
                <a:latin typeface="Arial"/>
                <a:ea typeface="Arial"/>
                <a:cs typeface="Arial"/>
              </a:defRPr>
            </a:lvl9pPr>
          </a:lstStyle>
          <a:p xmlns:a="http://schemas.openxmlformats.org/drawingml/2006/main">
            <a:pPr>
              <a:defRPr sz="3000" b="0">
                <a:solidFill>
                  <a:srgbClr val="F4F5F4"/>
                </a:solidFill>
                <a:latin typeface="Arial"/>
                <a:ea typeface="Arial"/>
                <a:cs typeface="Arial"/>
              </a:defRPr>
            </a:pPr>
            <a:r>
              <a:rPr sz="3000" b="0">
                <a:solidFill>
                  <a:srgbClr val="F4F5F4"/>
                </a:solidFill>
                <a:latin typeface="Arial"/>
                <a:ea typeface="Arial"/>
                <a:cs typeface="Arial"/>
              </a:rPr>
              <a:t>Measured results and recoverable object state</a:t>
            </a:r>
          </a:p>
        </p:txBody>
      </p:sp>
      <p:sp>
        <p:nvSpPr>
          <p:cNvPr id="5" name="">
            <a:extLst xmlns:a="http://schemas.openxmlformats.org/drawingml/2006/main">
              <a:ext uri="{FF2B5EF4-FFF2-40B4-BE49-F238E27FC236}">
                <a16:creationId xmlns:a16="http://schemas.microsoft.com/office/drawing/2014/main" id="{B5437E13-7DC9-4216-BE4B-3EFC395A258A}"/>
              </a:ext>
            </a:extLst>
          </p:cNvPr>
          <p:cNvSpPr>
            <a:spLocks xmlns:a="http://schemas.openxmlformats.org/drawingml/2006/main" noGrp="1"/>
          </p:cNvSpPr>
          <p:nvPr/>
        </p:nvSpPr>
        <p:spPr>
          <a:xfrm xmlns:a="http://schemas.openxmlformats.org/drawingml/2006/main">
            <a:off x="666750" y="4600575"/>
            <a:ext cx="1038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A1AFAB"/>
                </a:solidFill>
                <a:latin typeface="Arial"/>
                <a:ea typeface="Arial"/>
                <a:cs typeface="Arial"/>
              </a:defRPr>
            </a:defPPr>
            <a:lvl1pPr>
              <a:defRPr sz="2100" b="0">
                <a:solidFill>
                  <a:srgbClr val="A1AFAB"/>
                </a:solidFill>
                <a:latin typeface="Arial"/>
                <a:ea typeface="Arial"/>
                <a:cs typeface="Arial"/>
              </a:defRPr>
            </a:lvl1pPr>
            <a:lvl2pPr>
              <a:defRPr sz="2100" b="0">
                <a:solidFill>
                  <a:srgbClr val="A1AFAB"/>
                </a:solidFill>
                <a:latin typeface="Arial"/>
                <a:ea typeface="Arial"/>
                <a:cs typeface="Arial"/>
              </a:defRPr>
            </a:lvl2pPr>
            <a:lvl3pPr>
              <a:defRPr sz="2100" b="0">
                <a:solidFill>
                  <a:srgbClr val="A1AFAB"/>
                </a:solidFill>
                <a:latin typeface="Arial"/>
                <a:ea typeface="Arial"/>
                <a:cs typeface="Arial"/>
              </a:defRPr>
            </a:lvl3pPr>
            <a:lvl4pPr>
              <a:defRPr sz="2100" b="0">
                <a:solidFill>
                  <a:srgbClr val="A1AFAB"/>
                </a:solidFill>
                <a:latin typeface="Arial"/>
                <a:ea typeface="Arial"/>
                <a:cs typeface="Arial"/>
              </a:defRPr>
            </a:lvl4pPr>
            <a:lvl5pPr>
              <a:defRPr sz="2100" b="0">
                <a:solidFill>
                  <a:srgbClr val="A1AFAB"/>
                </a:solidFill>
                <a:latin typeface="Arial"/>
                <a:ea typeface="Arial"/>
                <a:cs typeface="Arial"/>
              </a:defRPr>
            </a:lvl5pPr>
            <a:lvl6pPr>
              <a:defRPr sz="2100" b="0">
                <a:solidFill>
                  <a:srgbClr val="A1AFAB"/>
                </a:solidFill>
                <a:latin typeface="Arial"/>
                <a:ea typeface="Arial"/>
                <a:cs typeface="Arial"/>
              </a:defRPr>
            </a:lvl6pPr>
            <a:lvl7pPr>
              <a:defRPr sz="2100" b="0">
                <a:solidFill>
                  <a:srgbClr val="A1AFAB"/>
                </a:solidFill>
                <a:latin typeface="Arial"/>
                <a:ea typeface="Arial"/>
                <a:cs typeface="Arial"/>
              </a:defRPr>
            </a:lvl7pPr>
            <a:lvl8pPr>
              <a:defRPr sz="2100" b="0">
                <a:solidFill>
                  <a:srgbClr val="A1AFAB"/>
                </a:solidFill>
                <a:latin typeface="Arial"/>
                <a:ea typeface="Arial"/>
                <a:cs typeface="Arial"/>
              </a:defRPr>
            </a:lvl8pPr>
            <a:lvl9pPr>
              <a:defRPr sz="2100" b="0">
                <a:solidFill>
                  <a:srgbClr val="A1AFAB"/>
                </a:solidFill>
                <a:latin typeface="Arial"/>
                <a:ea typeface="Arial"/>
                <a:cs typeface="Arial"/>
              </a:defRPr>
            </a:lvl9pPr>
          </a:lstStyle>
          <a:p xmlns:a="http://schemas.openxmlformats.org/drawingml/2006/main">
            <a:pPr>
              <a:defRPr sz="2100" b="0">
                <a:solidFill>
                  <a:srgbClr val="A1AFAB"/>
                </a:solidFill>
                <a:latin typeface="Arial"/>
                <a:ea typeface="Arial"/>
                <a:cs typeface="Arial"/>
              </a:defRPr>
            </a:pPr>
            <a:r>
              <a:rPr sz="2100" b="0">
                <a:solidFill>
                  <a:srgbClr val="A1AFAB"/>
                </a:solidFill>
                <a:latin typeface="Arial"/>
                <a:ea typeface="Arial"/>
                <a:cs typeface="Arial"/>
              </a:rPr>
              <a:t>The test restored the original empty hierarchy.</a:t>
            </a:r>
          </a:p>
          <a:p xmlns:a="http://schemas.openxmlformats.org/drawingml/2006/main">
            <a:pPr>
              <a:defRPr sz="2100" b="0">
                <a:solidFill>
                  <a:srgbClr val="A1AFAB"/>
                </a:solidFill>
                <a:latin typeface="Arial"/>
                <a:ea typeface="Arial"/>
                <a:cs typeface="Arial"/>
              </a:defRPr>
            </a:pPr>
            <a:r>
              <a:rPr sz="2100" b="0">
                <a:solidFill>
                  <a:srgbClr val="A1AFAB"/>
                </a:solidFill>
                <a:latin typeface="Arial"/>
                <a:ea typeface="Arial"/>
                <a:cs typeface="Arial"/>
              </a:rPr>
              <a:t>File and external effects remain outside that recovery boundary.</a:t>
            </a:r>
          </a:p>
        </p:txBody>
      </p:sp>
    </p:spTree>
    <p:extLst>
      <p:ext uri="{BB962C8B-B14F-4D97-AF65-F5344CB8AC3E}">
        <p14:creationId xmlns:p14="http://schemas.microsoft.com/office/powerpoint/2010/main" val="396410846"/>
      </p:ext>
    </p:extLst>
  </p:cSld>
</p:sld>
</file>

<file path=ppt/slides/slide6.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F79823-FC11-4C11-A57F-13C65FDDD7E5}"/>
              </a:ext>
            </a:extLst>
          </p:cNvPr>
          <p:cNvSpPr>
            <a:spLocks xmlns:a="http://schemas.openxmlformats.org/drawingml/2006/main" noGrp="1"/>
          </p:cNvSpPr>
          <p:nvPr/>
        </p:nvSpPr>
        <p:spPr>
          <a:xfrm xmlns:a="http://schemas.openxmlformats.org/drawingml/2006/main">
            <a:off x="609600" y="5524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A reusable application layer</a:t>
            </a:r>
          </a:p>
        </p:txBody>
      </p:sp>
      <p:sp>
        <p:nvSpPr>
          <p:cNvPr id="2" name="">
            <a:extLst xmlns:a="http://schemas.openxmlformats.org/drawingml/2006/main">
              <a:ext uri="{FF2B5EF4-FFF2-40B4-BE49-F238E27FC236}">
                <a16:creationId xmlns:a16="http://schemas.microsoft.com/office/drawing/2014/main" id="{3E0BC4A5-111D-4419-B193-886FD4E4786B}"/>
              </a:ext>
            </a:extLst>
          </p:cNvPr>
          <p:cNvSpPr>
            <a:spLocks xmlns:a="http://schemas.openxmlformats.org/drawingml/2006/main" noGrp="1"/>
          </p:cNvSpPr>
          <p:nvPr/>
        </p:nvSpPr>
        <p:spPr>
          <a:xfrm xmlns:a="http://schemas.openxmlformats.org/drawingml/2006/main">
            <a:off x="666750" y="1857375"/>
            <a:ext cx="400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400" b="1">
                <a:solidFill>
                  <a:srgbClr val="F4F5F4"/>
                </a:solidFill>
                <a:latin typeface="Arial"/>
                <a:ea typeface="Arial"/>
                <a:cs typeface="Arial"/>
              </a:defRPr>
            </a:defPPr>
            <a:lvl1pPr>
              <a:defRPr sz="8400" b="1">
                <a:solidFill>
                  <a:srgbClr val="F4F5F4"/>
                </a:solidFill>
                <a:latin typeface="Arial"/>
                <a:ea typeface="Arial"/>
                <a:cs typeface="Arial"/>
              </a:defRPr>
            </a:lvl1pPr>
            <a:lvl2pPr>
              <a:defRPr sz="8400" b="1">
                <a:solidFill>
                  <a:srgbClr val="F4F5F4"/>
                </a:solidFill>
                <a:latin typeface="Arial"/>
                <a:ea typeface="Arial"/>
                <a:cs typeface="Arial"/>
              </a:defRPr>
            </a:lvl2pPr>
            <a:lvl3pPr>
              <a:defRPr sz="8400" b="1">
                <a:solidFill>
                  <a:srgbClr val="F4F5F4"/>
                </a:solidFill>
                <a:latin typeface="Arial"/>
                <a:ea typeface="Arial"/>
                <a:cs typeface="Arial"/>
              </a:defRPr>
            </a:lvl3pPr>
            <a:lvl4pPr>
              <a:defRPr sz="8400" b="1">
                <a:solidFill>
                  <a:srgbClr val="F4F5F4"/>
                </a:solidFill>
                <a:latin typeface="Arial"/>
                <a:ea typeface="Arial"/>
                <a:cs typeface="Arial"/>
              </a:defRPr>
            </a:lvl4pPr>
            <a:lvl5pPr>
              <a:defRPr sz="8400" b="1">
                <a:solidFill>
                  <a:srgbClr val="F4F5F4"/>
                </a:solidFill>
                <a:latin typeface="Arial"/>
                <a:ea typeface="Arial"/>
                <a:cs typeface="Arial"/>
              </a:defRPr>
            </a:lvl5pPr>
            <a:lvl6pPr>
              <a:defRPr sz="8400" b="1">
                <a:solidFill>
                  <a:srgbClr val="F4F5F4"/>
                </a:solidFill>
                <a:latin typeface="Arial"/>
                <a:ea typeface="Arial"/>
                <a:cs typeface="Arial"/>
              </a:defRPr>
            </a:lvl6pPr>
            <a:lvl7pPr>
              <a:defRPr sz="8400" b="1">
                <a:solidFill>
                  <a:srgbClr val="F4F5F4"/>
                </a:solidFill>
                <a:latin typeface="Arial"/>
                <a:ea typeface="Arial"/>
                <a:cs typeface="Arial"/>
              </a:defRPr>
            </a:lvl7pPr>
            <a:lvl8pPr>
              <a:defRPr sz="8400" b="1">
                <a:solidFill>
                  <a:srgbClr val="F4F5F4"/>
                </a:solidFill>
                <a:latin typeface="Arial"/>
                <a:ea typeface="Arial"/>
                <a:cs typeface="Arial"/>
              </a:defRPr>
            </a:lvl8pPr>
            <a:lvl9pPr>
              <a:defRPr sz="8400" b="1">
                <a:solidFill>
                  <a:srgbClr val="F4F5F4"/>
                </a:solidFill>
                <a:latin typeface="Arial"/>
                <a:ea typeface="Arial"/>
                <a:cs typeface="Arial"/>
              </a:defRPr>
            </a:lvl9pPr>
          </a:lstStyle>
          <a:p xmlns:a="http://schemas.openxmlformats.org/drawingml/2006/main">
            <a:pPr>
              <a:defRPr sz="8400" b="1">
                <a:solidFill>
                  <a:srgbClr val="F4F5F4"/>
                </a:solidFill>
                <a:latin typeface="Arial"/>
                <a:ea typeface="Arial"/>
                <a:cs typeface="Arial"/>
              </a:defRPr>
            </a:pPr>
            <a:r>
              <a:rPr sz="8400" b="1">
                <a:solidFill>
                  <a:srgbClr val="F4F5F4"/>
                </a:solidFill>
                <a:latin typeface="Arial"/>
                <a:ea typeface="Arial"/>
                <a:cs typeface="Arial"/>
              </a:rPr>
              <a:t>32</a:t>
            </a:r>
          </a:p>
        </p:txBody>
      </p:sp>
      <p:sp>
        <p:nvSpPr>
          <p:cNvPr id="3" name="">
            <a:extLst xmlns:a="http://schemas.openxmlformats.org/drawingml/2006/main">
              <a:ext uri="{FF2B5EF4-FFF2-40B4-BE49-F238E27FC236}">
                <a16:creationId xmlns:a16="http://schemas.microsoft.com/office/drawing/2014/main" id="{702A75DC-E303-478A-A824-B9FE3EE93037}"/>
              </a:ext>
            </a:extLst>
          </p:cNvPr>
          <p:cNvSpPr>
            <a:spLocks xmlns:a="http://schemas.openxmlformats.org/drawingml/2006/main" noGrp="1"/>
          </p:cNvSpPr>
          <p:nvPr/>
        </p:nvSpPr>
        <p:spPr>
          <a:xfrm xmlns:a="http://schemas.openxmlformats.org/drawingml/2006/main">
            <a:off x="742950" y="35242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4F5F4"/>
                </a:solidFill>
                <a:latin typeface="Arial"/>
                <a:ea typeface="Arial"/>
                <a:cs typeface="Arial"/>
              </a:defRPr>
            </a:defPPr>
            <a:lvl1pPr>
              <a:defRPr sz="2400" b="0">
                <a:solidFill>
                  <a:srgbClr val="F4F5F4"/>
                </a:solidFill>
                <a:latin typeface="Arial"/>
                <a:ea typeface="Arial"/>
                <a:cs typeface="Arial"/>
              </a:defRPr>
            </a:lvl1pPr>
            <a:lvl2pPr>
              <a:defRPr sz="2400" b="0">
                <a:solidFill>
                  <a:srgbClr val="F4F5F4"/>
                </a:solidFill>
                <a:latin typeface="Arial"/>
                <a:ea typeface="Arial"/>
                <a:cs typeface="Arial"/>
              </a:defRPr>
            </a:lvl2pPr>
            <a:lvl3pPr>
              <a:defRPr sz="2400" b="0">
                <a:solidFill>
                  <a:srgbClr val="F4F5F4"/>
                </a:solidFill>
                <a:latin typeface="Arial"/>
                <a:ea typeface="Arial"/>
                <a:cs typeface="Arial"/>
              </a:defRPr>
            </a:lvl3pPr>
            <a:lvl4pPr>
              <a:defRPr sz="2400" b="0">
                <a:solidFill>
                  <a:srgbClr val="F4F5F4"/>
                </a:solidFill>
                <a:latin typeface="Arial"/>
                <a:ea typeface="Arial"/>
                <a:cs typeface="Arial"/>
              </a:defRPr>
            </a:lvl4pPr>
            <a:lvl5pPr>
              <a:defRPr sz="2400" b="0">
                <a:solidFill>
                  <a:srgbClr val="F4F5F4"/>
                </a:solidFill>
                <a:latin typeface="Arial"/>
                <a:ea typeface="Arial"/>
                <a:cs typeface="Arial"/>
              </a:defRPr>
            </a:lvl5pPr>
            <a:lvl6pPr>
              <a:defRPr sz="2400" b="0">
                <a:solidFill>
                  <a:srgbClr val="F4F5F4"/>
                </a:solidFill>
                <a:latin typeface="Arial"/>
                <a:ea typeface="Arial"/>
                <a:cs typeface="Arial"/>
              </a:defRPr>
            </a:lvl6pPr>
            <a:lvl7pPr>
              <a:defRPr sz="2400" b="0">
                <a:solidFill>
                  <a:srgbClr val="F4F5F4"/>
                </a:solidFill>
                <a:latin typeface="Arial"/>
                <a:ea typeface="Arial"/>
                <a:cs typeface="Arial"/>
              </a:defRPr>
            </a:lvl7pPr>
            <a:lvl8pPr>
              <a:defRPr sz="2400" b="0">
                <a:solidFill>
                  <a:srgbClr val="F4F5F4"/>
                </a:solidFill>
                <a:latin typeface="Arial"/>
                <a:ea typeface="Arial"/>
                <a:cs typeface="Arial"/>
              </a:defRPr>
            </a:lvl8pPr>
            <a:lvl9pPr>
              <a:defRPr sz="2400" b="0">
                <a:solidFill>
                  <a:srgbClr val="F4F5F4"/>
                </a:solidFill>
                <a:latin typeface="Arial"/>
                <a:ea typeface="Arial"/>
                <a:cs typeface="Arial"/>
              </a:defRPr>
            </a:lvl9pPr>
          </a:lstStyle>
          <a:p xmlns:a="http://schemas.openxmlformats.org/drawingml/2006/main">
            <a:pPr>
              <a:defRPr sz="2400" b="0">
                <a:solidFill>
                  <a:srgbClr val="F4F5F4"/>
                </a:solidFill>
                <a:latin typeface="Arial"/>
                <a:ea typeface="Arial"/>
                <a:cs typeface="Arial"/>
              </a:defRPr>
            </a:pPr>
            <a:r>
              <a:rPr sz="2400" b="0">
                <a:solidFill>
                  <a:srgbClr val="F4F5F4"/>
                </a:solidFill>
                <a:latin typeface="Arial"/>
                <a:ea typeface="Arial"/>
                <a:cs typeface="Arial"/>
              </a:rPr>
              <a:t>MCP tools for QuPath</a:t>
            </a:r>
          </a:p>
        </p:txBody>
      </p:sp>
      <p:sp>
        <p:nvSpPr>
          <p:cNvPr id="4" name="">
            <a:extLst xmlns:a="http://schemas.openxmlformats.org/drawingml/2006/main">
              <a:ext uri="{FF2B5EF4-FFF2-40B4-BE49-F238E27FC236}">
                <a16:creationId xmlns:a16="http://schemas.microsoft.com/office/drawing/2014/main" id="{6AA43CE3-2597-430D-8B43-42A69067BBCF}"/>
              </a:ext>
            </a:extLst>
          </p:cNvPr>
          <p:cNvSpPr>
            <a:spLocks xmlns:a="http://schemas.openxmlformats.org/drawingml/2006/main" noGrp="1"/>
          </p:cNvSpPr>
          <p:nvPr/>
        </p:nvSpPr>
        <p:spPr>
          <a:xfrm xmlns:a="http://schemas.openxmlformats.org/drawingml/2006/main">
            <a:off x="742950" y="4552950"/>
            <a:ext cx="1038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A1AFAB"/>
                </a:solidFill>
                <a:latin typeface="Arial"/>
                <a:ea typeface="Arial"/>
                <a:cs typeface="Arial"/>
              </a:defRPr>
            </a:defPPr>
            <a:lvl1pPr>
              <a:defRPr sz="2250" b="0">
                <a:solidFill>
                  <a:srgbClr val="A1AFAB"/>
                </a:solidFill>
                <a:latin typeface="Arial"/>
                <a:ea typeface="Arial"/>
                <a:cs typeface="Arial"/>
              </a:defRPr>
            </a:lvl1pPr>
            <a:lvl2pPr>
              <a:defRPr sz="2250" b="0">
                <a:solidFill>
                  <a:srgbClr val="A1AFAB"/>
                </a:solidFill>
                <a:latin typeface="Arial"/>
                <a:ea typeface="Arial"/>
                <a:cs typeface="Arial"/>
              </a:defRPr>
            </a:lvl2pPr>
            <a:lvl3pPr>
              <a:defRPr sz="2250" b="0">
                <a:solidFill>
                  <a:srgbClr val="A1AFAB"/>
                </a:solidFill>
                <a:latin typeface="Arial"/>
                <a:ea typeface="Arial"/>
                <a:cs typeface="Arial"/>
              </a:defRPr>
            </a:lvl3pPr>
            <a:lvl4pPr>
              <a:defRPr sz="2250" b="0">
                <a:solidFill>
                  <a:srgbClr val="A1AFAB"/>
                </a:solidFill>
                <a:latin typeface="Arial"/>
                <a:ea typeface="Arial"/>
                <a:cs typeface="Arial"/>
              </a:defRPr>
            </a:lvl4pPr>
            <a:lvl5pPr>
              <a:defRPr sz="2250" b="0">
                <a:solidFill>
                  <a:srgbClr val="A1AFAB"/>
                </a:solidFill>
                <a:latin typeface="Arial"/>
                <a:ea typeface="Arial"/>
                <a:cs typeface="Arial"/>
              </a:defRPr>
            </a:lvl5pPr>
            <a:lvl6pPr>
              <a:defRPr sz="2250" b="0">
                <a:solidFill>
                  <a:srgbClr val="A1AFAB"/>
                </a:solidFill>
                <a:latin typeface="Arial"/>
                <a:ea typeface="Arial"/>
                <a:cs typeface="Arial"/>
              </a:defRPr>
            </a:lvl6pPr>
            <a:lvl7pPr>
              <a:defRPr sz="2250" b="0">
                <a:solidFill>
                  <a:srgbClr val="A1AFAB"/>
                </a:solidFill>
                <a:latin typeface="Arial"/>
                <a:ea typeface="Arial"/>
                <a:cs typeface="Arial"/>
              </a:defRPr>
            </a:lvl7pPr>
            <a:lvl8pPr>
              <a:defRPr sz="2250" b="0">
                <a:solidFill>
                  <a:srgbClr val="A1AFAB"/>
                </a:solidFill>
                <a:latin typeface="Arial"/>
                <a:ea typeface="Arial"/>
                <a:cs typeface="Arial"/>
              </a:defRPr>
            </a:lvl8pPr>
            <a:lvl9pPr>
              <a:defRPr sz="2250" b="0">
                <a:solidFill>
                  <a:srgbClr val="A1AFAB"/>
                </a:solidFill>
                <a:latin typeface="Arial"/>
                <a:ea typeface="Arial"/>
                <a:cs typeface="Arial"/>
              </a:defRPr>
            </a:lvl9pPr>
          </a:lstStyle>
          <a:p xmlns:a="http://schemas.openxmlformats.org/drawingml/2006/main">
            <a:pPr>
              <a:defRPr sz="2250" b="0">
                <a:solidFill>
                  <a:srgbClr val="A1AFAB"/>
                </a:solidFill>
                <a:latin typeface="Arial"/>
                <a:ea typeface="Arial"/>
                <a:cs typeface="Arial"/>
              </a:defRPr>
            </a:pPr>
            <a:r>
              <a:rPr sz="2250" b="0">
                <a:solidFill>
                  <a:srgbClr val="A1AFAB"/>
                </a:solidFill>
                <a:latin typeface="Arial"/>
                <a:ea typeface="Arial"/>
                <a:cs typeface="Arial"/>
              </a:rPr>
              <a:t>879 pinned source files and searchable task knowledge</a:t>
            </a:r>
          </a:p>
          <a:p xmlns:a="http://schemas.openxmlformats.org/drawingml/2006/main">
            <a:pPr>
              <a:defRPr sz="2250" b="0">
                <a:solidFill>
                  <a:srgbClr val="A1AFAB"/>
                </a:solidFill>
                <a:latin typeface="Arial"/>
                <a:ea typeface="Arial"/>
                <a:cs typeface="Arial"/>
              </a:defRPr>
            </a:pPr>
            <a:r>
              <a:rPr sz="2250" b="0">
                <a:solidFill>
                  <a:srgbClr val="A1AFAB"/>
                </a:solidFill>
                <a:latin typeface="Arial"/>
                <a:ea typeface="Arial"/>
                <a:cs typeface="Arial"/>
              </a:rPr>
              <a:t>help an agent verify unfamiliar operations.</a:t>
            </a:r>
          </a:p>
        </p:txBody>
      </p:sp>
    </p:spTree>
    <p:extLst>
      <p:ext uri="{BB962C8B-B14F-4D97-AF65-F5344CB8AC3E}">
        <p14:creationId xmlns:p14="http://schemas.microsoft.com/office/powerpoint/2010/main" val="1425793713"/>
      </p:ext>
    </p:extLst>
  </p:cSld>
</p:sld>
</file>

<file path=ppt/slides/slide7.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66A5D17-305E-4047-BF45-E39B142105AD}"/>
              </a:ext>
            </a:extLst>
          </p:cNvPr>
          <p:cNvSpPr>
            <a:spLocks xmlns:a="http://schemas.openxmlformats.org/drawingml/2006/main" noGrp="1"/>
          </p:cNvSpPr>
          <p:nvPr/>
        </p:nvSpPr>
        <p:spPr>
          <a:xfrm xmlns:a="http://schemas.openxmlformats.org/drawingml/2006/main">
            <a:off x="609600" y="5524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The prototype today</a:t>
            </a:r>
          </a:p>
        </p:txBody>
      </p:sp>
      <p:sp>
        <p:nvSpPr>
          <p:cNvPr id="2" name="">
            <a:extLst xmlns:a="http://schemas.openxmlformats.org/drawingml/2006/main">
              <a:ext uri="{FF2B5EF4-FFF2-40B4-BE49-F238E27FC236}">
                <a16:creationId xmlns:a16="http://schemas.microsoft.com/office/drawing/2014/main" id="{58A0A36D-D325-4C8D-893A-389225E47D31}"/>
              </a:ext>
            </a:extLst>
          </p:cNvPr>
          <p:cNvSpPr>
            <a:spLocks xmlns:a="http://schemas.openxmlformats.org/drawingml/2006/main" noGrp="1"/>
          </p:cNvSpPr>
          <p:nvPr/>
        </p:nvSpPr>
        <p:spPr>
          <a:xfrm xmlns:a="http://schemas.openxmlformats.org/drawingml/2006/main">
            <a:off x="666750" y="18097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0">
                <a:solidFill>
                  <a:srgbClr val="F4F5F4"/>
                </a:solidFill>
                <a:latin typeface="Arial"/>
                <a:ea typeface="Arial"/>
                <a:cs typeface="Arial"/>
              </a:defRPr>
            </a:defPPr>
            <a:lvl1pPr>
              <a:defRPr sz="3675" b="0">
                <a:solidFill>
                  <a:srgbClr val="F4F5F4"/>
                </a:solidFill>
                <a:latin typeface="Arial"/>
                <a:ea typeface="Arial"/>
                <a:cs typeface="Arial"/>
              </a:defRPr>
            </a:lvl1pPr>
            <a:lvl2pPr>
              <a:defRPr sz="3675" b="0">
                <a:solidFill>
                  <a:srgbClr val="F4F5F4"/>
                </a:solidFill>
                <a:latin typeface="Arial"/>
                <a:ea typeface="Arial"/>
                <a:cs typeface="Arial"/>
              </a:defRPr>
            </a:lvl2pPr>
            <a:lvl3pPr>
              <a:defRPr sz="3675" b="0">
                <a:solidFill>
                  <a:srgbClr val="F4F5F4"/>
                </a:solidFill>
                <a:latin typeface="Arial"/>
                <a:ea typeface="Arial"/>
                <a:cs typeface="Arial"/>
              </a:defRPr>
            </a:lvl3pPr>
            <a:lvl4pPr>
              <a:defRPr sz="3675" b="0">
                <a:solidFill>
                  <a:srgbClr val="F4F5F4"/>
                </a:solidFill>
                <a:latin typeface="Arial"/>
                <a:ea typeface="Arial"/>
                <a:cs typeface="Arial"/>
              </a:defRPr>
            </a:lvl4pPr>
            <a:lvl5pPr>
              <a:defRPr sz="3675" b="0">
                <a:solidFill>
                  <a:srgbClr val="F4F5F4"/>
                </a:solidFill>
                <a:latin typeface="Arial"/>
                <a:ea typeface="Arial"/>
                <a:cs typeface="Arial"/>
              </a:defRPr>
            </a:lvl5pPr>
            <a:lvl6pPr>
              <a:defRPr sz="3675" b="0">
                <a:solidFill>
                  <a:srgbClr val="F4F5F4"/>
                </a:solidFill>
                <a:latin typeface="Arial"/>
                <a:ea typeface="Arial"/>
                <a:cs typeface="Arial"/>
              </a:defRPr>
            </a:lvl6pPr>
            <a:lvl7pPr>
              <a:defRPr sz="3675" b="0">
                <a:solidFill>
                  <a:srgbClr val="F4F5F4"/>
                </a:solidFill>
                <a:latin typeface="Arial"/>
                <a:ea typeface="Arial"/>
                <a:cs typeface="Arial"/>
              </a:defRPr>
            </a:lvl7pPr>
            <a:lvl8pPr>
              <a:defRPr sz="3675" b="0">
                <a:solidFill>
                  <a:srgbClr val="F4F5F4"/>
                </a:solidFill>
                <a:latin typeface="Arial"/>
                <a:ea typeface="Arial"/>
                <a:cs typeface="Arial"/>
              </a:defRPr>
            </a:lvl8pPr>
            <a:lvl9pPr>
              <a:defRPr sz="3675" b="0">
                <a:solidFill>
                  <a:srgbClr val="F4F5F4"/>
                </a:solidFill>
                <a:latin typeface="Arial"/>
                <a:ea typeface="Arial"/>
                <a:cs typeface="Arial"/>
              </a:defRPr>
            </a:lvl9pPr>
          </a:lstStyle>
          <a:p xmlns:a="http://schemas.openxmlformats.org/drawingml/2006/main">
            <a:pPr>
              <a:defRPr sz="3675" b="0">
                <a:solidFill>
                  <a:srgbClr val="F4F5F4"/>
                </a:solidFill>
                <a:latin typeface="Arial"/>
                <a:ea typeface="Arial"/>
                <a:cs typeface="Arial"/>
              </a:defRPr>
            </a:pPr>
            <a:r>
              <a:rPr sz="3675" b="0">
                <a:solidFill>
                  <a:srgbClr val="F4F5F4"/>
                </a:solidFill>
                <a:latin typeface="Arial"/>
                <a:ea typeface="Arial"/>
                <a:cs typeface="Arial"/>
              </a:rPr>
              <a:t>OpenAI text now controls</a:t>
            </a:r>
          </a:p>
          <a:p xmlns:a="http://schemas.openxmlformats.org/drawingml/2006/main">
            <a:pPr>
              <a:defRPr sz="3675" b="0">
                <a:solidFill>
                  <a:srgbClr val="F4F5F4"/>
                </a:solidFill>
                <a:latin typeface="Arial"/>
                <a:ea typeface="Arial"/>
                <a:cs typeface="Arial"/>
              </a:defRPr>
            </a:pPr>
            <a:r>
              <a:rPr sz="3675" b="0">
                <a:solidFill>
                  <a:srgbClr val="F4F5F4"/>
                </a:solidFill>
                <a:latin typeface="Arial"/>
                <a:ea typeface="Arial"/>
                <a:cs typeface="Arial"/>
              </a:rPr>
              <a:t>the real QuPath viewer.</a:t>
            </a:r>
          </a:p>
        </p:txBody>
      </p:sp>
      <p:sp>
        <p:nvSpPr>
          <p:cNvPr id="3" name="">
            <a:extLst xmlns:a="http://schemas.openxmlformats.org/drawingml/2006/main">
              <a:ext uri="{FF2B5EF4-FFF2-40B4-BE49-F238E27FC236}">
                <a16:creationId xmlns:a16="http://schemas.microsoft.com/office/drawing/2014/main" id="{4FA27742-7A8D-4411-AA38-5E40ABBA662E}"/>
              </a:ext>
            </a:extLst>
          </p:cNvPr>
          <p:cNvSpPr>
            <a:spLocks xmlns:a="http://schemas.openxmlformats.org/drawingml/2006/main" noGrp="1"/>
          </p:cNvSpPr>
          <p:nvPr/>
        </p:nvSpPr>
        <p:spPr>
          <a:xfrm xmlns:a="http://schemas.openxmlformats.org/drawingml/2006/main">
            <a:off x="685800" y="38100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A1AFAB"/>
                </a:solidFill>
                <a:latin typeface="Arial"/>
                <a:ea typeface="Arial"/>
                <a:cs typeface="Arial"/>
              </a:defRPr>
            </a:defPPr>
            <a:lvl1pPr>
              <a:defRPr sz="2100" b="0">
                <a:solidFill>
                  <a:srgbClr val="A1AFAB"/>
                </a:solidFill>
                <a:latin typeface="Arial"/>
                <a:ea typeface="Arial"/>
                <a:cs typeface="Arial"/>
              </a:defRPr>
            </a:lvl1pPr>
            <a:lvl2pPr>
              <a:defRPr sz="2100" b="0">
                <a:solidFill>
                  <a:srgbClr val="A1AFAB"/>
                </a:solidFill>
                <a:latin typeface="Arial"/>
                <a:ea typeface="Arial"/>
                <a:cs typeface="Arial"/>
              </a:defRPr>
            </a:lvl2pPr>
            <a:lvl3pPr>
              <a:defRPr sz="2100" b="0">
                <a:solidFill>
                  <a:srgbClr val="A1AFAB"/>
                </a:solidFill>
                <a:latin typeface="Arial"/>
                <a:ea typeface="Arial"/>
                <a:cs typeface="Arial"/>
              </a:defRPr>
            </a:lvl3pPr>
            <a:lvl4pPr>
              <a:defRPr sz="2100" b="0">
                <a:solidFill>
                  <a:srgbClr val="A1AFAB"/>
                </a:solidFill>
                <a:latin typeface="Arial"/>
                <a:ea typeface="Arial"/>
                <a:cs typeface="Arial"/>
              </a:defRPr>
            </a:lvl4pPr>
            <a:lvl5pPr>
              <a:defRPr sz="2100" b="0">
                <a:solidFill>
                  <a:srgbClr val="A1AFAB"/>
                </a:solidFill>
                <a:latin typeface="Arial"/>
                <a:ea typeface="Arial"/>
                <a:cs typeface="Arial"/>
              </a:defRPr>
            </a:lvl5pPr>
            <a:lvl6pPr>
              <a:defRPr sz="2100" b="0">
                <a:solidFill>
                  <a:srgbClr val="A1AFAB"/>
                </a:solidFill>
                <a:latin typeface="Arial"/>
                <a:ea typeface="Arial"/>
                <a:cs typeface="Arial"/>
              </a:defRPr>
            </a:lvl6pPr>
            <a:lvl7pPr>
              <a:defRPr sz="2100" b="0">
                <a:solidFill>
                  <a:srgbClr val="A1AFAB"/>
                </a:solidFill>
                <a:latin typeface="Arial"/>
                <a:ea typeface="Arial"/>
                <a:cs typeface="Arial"/>
              </a:defRPr>
            </a:lvl7pPr>
            <a:lvl8pPr>
              <a:defRPr sz="2100" b="0">
                <a:solidFill>
                  <a:srgbClr val="A1AFAB"/>
                </a:solidFill>
                <a:latin typeface="Arial"/>
                <a:ea typeface="Arial"/>
                <a:cs typeface="Arial"/>
              </a:defRPr>
            </a:lvl8pPr>
            <a:lvl9pPr>
              <a:defRPr sz="2100" b="0">
                <a:solidFill>
                  <a:srgbClr val="A1AFAB"/>
                </a:solidFill>
                <a:latin typeface="Arial"/>
                <a:ea typeface="Arial"/>
                <a:cs typeface="Arial"/>
              </a:defRPr>
            </a:lvl9pPr>
          </a:lstStyle>
          <a:p xmlns:a="http://schemas.openxmlformats.org/drawingml/2006/main">
            <a:pPr>
              <a:defRPr sz="2100" b="0">
                <a:solidFill>
                  <a:srgbClr val="A1AFAB"/>
                </a:solidFill>
                <a:latin typeface="Arial"/>
                <a:ea typeface="Arial"/>
                <a:cs typeface="Arial"/>
              </a:defRPr>
            </a:pPr>
            <a:r>
              <a:rPr sz="2100" b="0">
                <a:solidFill>
                  <a:srgbClr val="A1AFAB"/>
                </a:solidFill>
                <a:latin typeface="Arial"/>
                <a:ea typeface="Arial"/>
                <a:cs typeface="Arial"/>
              </a:rPr>
              <a:t>Actual requests pass fresh AWS credit checks.</a:t>
            </a:r>
          </a:p>
          <a:p xmlns:a="http://schemas.openxmlformats.org/drawingml/2006/main">
            <a:pPr>
              <a:defRPr sz="2100" b="0">
                <a:solidFill>
                  <a:srgbClr val="A1AFAB"/>
                </a:solidFill>
                <a:latin typeface="Arial"/>
                <a:ea typeface="Arial"/>
                <a:cs typeface="Arial"/>
              </a:defRPr>
            </a:pPr>
            <a:r>
              <a:rPr sz="2100" b="0">
                <a:solidFill>
                  <a:srgbClr val="A1AFAB"/>
                </a:solidFill>
                <a:latin typeface="Arial"/>
                <a:ea typeface="Arial"/>
                <a:cs typeface="Arial"/>
              </a:rPr>
              <a:t>Live voice still needs a credit-covered endpoint.</a:t>
            </a:r>
          </a:p>
        </p:txBody>
      </p:sp>
      <p:sp>
        <p:nvSpPr>
          <p:cNvPr id="4" name="">
            <a:extLst xmlns:a="http://schemas.openxmlformats.org/drawingml/2006/main">
              <a:ext uri="{FF2B5EF4-FFF2-40B4-BE49-F238E27FC236}">
                <a16:creationId xmlns:a16="http://schemas.microsoft.com/office/drawing/2014/main" id="{9DA1529A-760D-4AB3-BC65-DC4554AB6921}"/>
              </a:ext>
            </a:extLst>
          </p:cNvPr>
          <p:cNvSpPr>
            <a:spLocks xmlns:a="http://schemas.openxmlformats.org/drawingml/2006/main" noGrp="1"/>
          </p:cNvSpPr>
          <p:nvPr/>
        </p:nvSpPr>
        <p:spPr>
          <a:xfrm xmlns:a="http://schemas.openxmlformats.org/drawingml/2006/main">
            <a:off x="685800" y="52197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A3EAC9"/>
                </a:solidFill>
                <a:latin typeface="Arial"/>
                <a:ea typeface="Arial"/>
                <a:cs typeface="Arial"/>
              </a:defRPr>
            </a:defPPr>
            <a:lvl1pPr>
              <a:defRPr sz="2625" b="0">
                <a:solidFill>
                  <a:srgbClr val="A3EAC9"/>
                </a:solidFill>
                <a:latin typeface="Arial"/>
                <a:ea typeface="Arial"/>
                <a:cs typeface="Arial"/>
              </a:defRPr>
            </a:lvl1pPr>
            <a:lvl2pPr>
              <a:defRPr sz="2625" b="0">
                <a:solidFill>
                  <a:srgbClr val="A3EAC9"/>
                </a:solidFill>
                <a:latin typeface="Arial"/>
                <a:ea typeface="Arial"/>
                <a:cs typeface="Arial"/>
              </a:defRPr>
            </a:lvl2pPr>
            <a:lvl3pPr>
              <a:defRPr sz="2625" b="0">
                <a:solidFill>
                  <a:srgbClr val="A3EAC9"/>
                </a:solidFill>
                <a:latin typeface="Arial"/>
                <a:ea typeface="Arial"/>
                <a:cs typeface="Arial"/>
              </a:defRPr>
            </a:lvl3pPr>
            <a:lvl4pPr>
              <a:defRPr sz="2625" b="0">
                <a:solidFill>
                  <a:srgbClr val="A3EAC9"/>
                </a:solidFill>
                <a:latin typeface="Arial"/>
                <a:ea typeface="Arial"/>
                <a:cs typeface="Arial"/>
              </a:defRPr>
            </a:lvl4pPr>
            <a:lvl5pPr>
              <a:defRPr sz="2625" b="0">
                <a:solidFill>
                  <a:srgbClr val="A3EAC9"/>
                </a:solidFill>
                <a:latin typeface="Arial"/>
                <a:ea typeface="Arial"/>
                <a:cs typeface="Arial"/>
              </a:defRPr>
            </a:lvl5pPr>
            <a:lvl6pPr>
              <a:defRPr sz="2625" b="0">
                <a:solidFill>
                  <a:srgbClr val="A3EAC9"/>
                </a:solidFill>
                <a:latin typeface="Arial"/>
                <a:ea typeface="Arial"/>
                <a:cs typeface="Arial"/>
              </a:defRPr>
            </a:lvl6pPr>
            <a:lvl7pPr>
              <a:defRPr sz="2625" b="0">
                <a:solidFill>
                  <a:srgbClr val="A3EAC9"/>
                </a:solidFill>
                <a:latin typeface="Arial"/>
                <a:ea typeface="Arial"/>
                <a:cs typeface="Arial"/>
              </a:defRPr>
            </a:lvl7pPr>
            <a:lvl8pPr>
              <a:defRPr sz="2625" b="0">
                <a:solidFill>
                  <a:srgbClr val="A3EAC9"/>
                </a:solidFill>
                <a:latin typeface="Arial"/>
                <a:ea typeface="Arial"/>
                <a:cs typeface="Arial"/>
              </a:defRPr>
            </a:lvl8pPr>
            <a:lvl9pPr>
              <a:defRPr sz="2625" b="0">
                <a:solidFill>
                  <a:srgbClr val="A3EAC9"/>
                </a:solidFill>
                <a:latin typeface="Arial"/>
                <a:ea typeface="Arial"/>
                <a:cs typeface="Arial"/>
              </a:defRPr>
            </a:lvl9pPr>
          </a:lstStyle>
          <a:p xmlns:a="http://schemas.openxmlformats.org/drawingml/2006/main">
            <a:pPr>
              <a:defRPr sz="2625" b="0">
                <a:solidFill>
                  <a:srgbClr val="A3EAC9"/>
                </a:solidFill>
                <a:latin typeface="Arial"/>
                <a:ea typeface="Arial"/>
                <a:cs typeface="Arial"/>
              </a:defRPr>
            </a:pPr>
            <a:r>
              <a:rPr sz="2625" b="0">
                <a:solidFill>
                  <a:srgbClr val="A3EAC9"/>
                </a:solidFill>
                <a:latin typeface="Arial"/>
                <a:ea typeface="Arial"/>
                <a:cs typeface="Arial"/>
              </a:rPr>
              <a:t>Next: try it with a researcher.</a:t>
            </a:r>
          </a:p>
        </p:txBody>
      </p:sp>
    </p:spTree>
    <p:extLst>
      <p:ext uri="{BB962C8B-B14F-4D97-AF65-F5344CB8AC3E}">
        <p14:creationId xmlns:p14="http://schemas.microsoft.com/office/powerpoint/2010/main" val="9707670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2026-10-17T03:52:28.0040000Z</dcterms:created>
  <dcterms:modified xsi:type="dcterms:W3CDTF">2026-10-17T03:52:28.0040000Z</dcterms:modified>
</coreProperties>
</file>