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4cfa7ad07e4814" /><Relationship Type="http://schemas.openxmlformats.org/officeDocument/2006/relationships/extended-properties" Target="/docProps/app.xml" Id="R2d4d89ef79df4f5e" /><Relationship Type="http://schemas.openxmlformats.org/officeDocument/2006/relationships/officeDocument" Target="/ppt/presentation.xml" Id="R2161c5ec875543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ff0faf0a594593"/>
  </p:sldMasterIdLst>
  <p:notesMasterIdLst>
    <p:notesMasterId xmlns:r="http://schemas.openxmlformats.org/officeDocument/2006/relationships" r:id="R7e42a455b8f94908"/>
  </p:notesMasterIdLst>
  <p:sldIdLst>
    <p:sldId xmlns:r="http://schemas.openxmlformats.org/officeDocument/2006/relationships" id="256" r:id="Rde8ade86e7344223"/>
    <p:sldId xmlns:r="http://schemas.openxmlformats.org/officeDocument/2006/relationships" id="257" r:id="Re9a45ed11c284d69"/>
    <p:sldId xmlns:r="http://schemas.openxmlformats.org/officeDocument/2006/relationships" id="258" r:id="R34f4d8b1a9e940d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58b1ed1317d462c" /><Relationship Type="http://schemas.openxmlformats.org/officeDocument/2006/relationships/slideMaster" Target="/ppt/slideMasters/slideMaster1.xml" Id="Rd1ff0faf0a594593" /><Relationship Type="http://schemas.openxmlformats.org/officeDocument/2006/relationships/notesMaster" Target="/ppt/notesMasters/notesMaster1.xml" Id="R7e42a455b8f94908" /><Relationship Type="http://schemas.openxmlformats.org/officeDocument/2006/relationships/presProps" Target="/ppt/presProps.xml" Id="Rc59f505596dd4a92" /><Relationship Type="http://schemas.openxmlformats.org/officeDocument/2006/relationships/tableStyles" Target="/ppt/tableStyles.xml" Id="R8ac75a2db63b4bf3" /><Relationship Type="http://schemas.openxmlformats.org/officeDocument/2006/relationships/slide" Target="/ppt/slides/slide1.xml" Id="Rde8ade86e7344223" /><Relationship Type="http://schemas.openxmlformats.org/officeDocument/2006/relationships/slide" Target="/ppt/slides/slide2.xml" Id="Re9a45ed11c284d69" /><Relationship Type="http://schemas.openxmlformats.org/officeDocument/2006/relationships/slide" Target="/ppt/slides/slide3.xml" Id="R34f4d8b1a9e940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45258b1bef49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0ef6b4eb344012" /><Relationship Type="http://schemas.openxmlformats.org/officeDocument/2006/relationships/notesMaster" Target="/ppt/notesMasters/notesMaster1.xml" Id="Rab317344e27644f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dd21fcf47fa4031" /><Relationship Type="http://schemas.openxmlformats.org/officeDocument/2006/relationships/notesMaster" Target="/ppt/notesMasters/notesMaster1.xml" Id="Re89a67029f3c4d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4bbafa0ef149af" /><Relationship Type="http://schemas.openxmlformats.org/officeDocument/2006/relationships/notesMaster" Target="/ppt/notesMasters/notesMaster1.xml" Id="Rfc2c37008a4d48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 and docs/CAPABILITIES.md. Penny is a voice companion for the real Fiji (ImageJ) and QuPath applications. Fiji is the current demonstration application.</a:t>
            </a:r>
          </a:p>
          <a:p xmlns:a="http://schemas.openxmlformats.org/drawingml/2006/main">
            <a:r>
              <a:t>Background: built-in image generation with the supplied student-collective-marketing/assets/events/Studio-Session-Green-Print.jpg as a visual style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docs/PRODUCT.md, project problem framing. Microscope-image analysis is the context of the Fiji and QuPath demonstration. The interface-learning problem is a product hypothesis, not a measured user-study finding.</a:t>
            </a:r>
          </a:p>
          <a:p xmlns:a="http://schemas.openxmlformats.org/drawingml/2006/main">
            <a:r>
              <a:t>Background: built-in image generation with the supplied student-collective-marketing/assets/events/Studio-Session-Green-Print.jpg as a visual style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>Background: built-in image generation with the supplied student-collective-marketing/assets/events/Studio-Session-Green-Print.jpg as a visual style reference.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12e1b8fbb49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74d5d0b8ef465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b406351a9641f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1963e9f08f475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1c31846ee3471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3b8bfc53754c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9953B9C-3ECD-4B61-B5B1-093FDBE138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6DA659A-4AFA-42D0-97C8-478C5CDBF6F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4A1A824-38C6-4A47-87FB-4BEF733255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A5A2DD-B158-4C95-81CD-17928BC047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560B942-2ACA-4703-AF9D-5CD5851967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5505E89-4A95-4EC5-AF59-853485BAC0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40BE9DE-C142-488B-B4C7-AC3D7303671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93E35CA-0FEE-46B8-A729-EE30EFE05F0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7B2A320-BE6D-41EC-A527-9E6D8F505D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0F66C9B-BFEC-4AD5-9BAF-65D08BFF457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c0abdb969248ee" /><Relationship Type="http://schemas.openxmlformats.org/officeDocument/2006/relationships/slideLayout" Target="/ppt/slideLayouts/slideLayout1.xml" Id="Rb4831f714e5847d3" /><Relationship Type="http://schemas.openxmlformats.org/officeDocument/2006/relationships/slideLayout" Target="/ppt/slideLayouts/slideLayout2.xml" Id="R18d82e9907f449a0" /><Relationship Type="http://schemas.openxmlformats.org/officeDocument/2006/relationships/slideLayout" Target="/ppt/slideLayouts/slideLayout3.xml" Id="Re6fb4473deb741a6" /><Relationship Type="http://schemas.openxmlformats.org/officeDocument/2006/relationships/slideLayout" Target="/ppt/slideLayouts/slideLayout4.xml" Id="R2df7f88f135c482d" /><Relationship Type="http://schemas.openxmlformats.org/officeDocument/2006/relationships/slideLayout" Target="/ppt/slideLayouts/slideLayout5.xml" Id="R2a24a51957864519" /><Relationship Type="http://schemas.openxmlformats.org/officeDocument/2006/relationships/slideLayout" Target="/ppt/slideLayouts/slideLayout6.xml" Id="Rd578e28359a84e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831f714e5847d3"/>
    <p:sldLayoutId xmlns:r="http://schemas.openxmlformats.org/officeDocument/2006/relationships" id="2147483650" r:id="R18d82e9907f449a0"/>
    <p:sldLayoutId xmlns:r="http://schemas.openxmlformats.org/officeDocument/2006/relationships" id="2147483651" r:id="Re6fb4473deb741a6"/>
    <p:sldLayoutId xmlns:r="http://schemas.openxmlformats.org/officeDocument/2006/relationships" id="2147483652" r:id="R2df7f88f135c482d"/>
    <p:sldLayoutId xmlns:r="http://schemas.openxmlformats.org/officeDocument/2006/relationships" id="2147483653" r:id="R2a24a51957864519"/>
    <p:sldLayoutId xmlns:r="http://schemas.openxmlformats.org/officeDocument/2006/relationships" id="2147483654" r:id="Rd578e28359a84e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da36ee584674f83" /><Relationship Type="http://schemas.openxmlformats.org/officeDocument/2006/relationships/image" Target="/ppt/media/image.png" Id="R2034e71bfb014279" /><Relationship Type="http://schemas.openxmlformats.org/officeDocument/2006/relationships/notesSlide" Target="/ppt/notesSlides/notesSlide1.xml" Id="R3ffae3e6f7254d3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2fe516b8d048b0" /><Relationship Type="http://schemas.openxmlformats.org/officeDocument/2006/relationships/image" Target="/ppt/media/image2.png" Id="Re9b307a385394989" /><Relationship Type="http://schemas.openxmlformats.org/officeDocument/2006/relationships/notesSlide" Target="/ppt/notesSlides/notesSlide2.xml" Id="R8bbe290fce0740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dc71fe87df4cfb" /><Relationship Type="http://schemas.openxmlformats.org/officeDocument/2006/relationships/image" Target="/ppt/media/image3.png" Id="R9bfec46bdc314213" /><Relationship Type="http://schemas.openxmlformats.org/officeDocument/2006/relationships/notesSlide" Target="/ppt/notesSlides/notesSlide3.xml" Id="R09c0f1a6133c47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E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21C8F-A40A-4ADF-8ACB-53BA1515744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34e71bfb014279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090C62-B29F-424D-903E-2BF114AC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82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defRPr sz="82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defRPr sz="82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defRPr sz="82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defRPr sz="82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defRPr sz="82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defRPr sz="82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defRPr sz="82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defRPr sz="82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defRPr sz="82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825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8250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Penny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C4C00D-6432-46D9-B0EB-3DB44CC8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103822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6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defPPr>
            <a:lvl1pPr>
              <a:defRPr sz="36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1pPr>
            <a:lvl2pPr>
              <a:defRPr sz="36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2pPr>
            <a:lvl3pPr>
              <a:defRPr sz="36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3pPr>
            <a:lvl4pPr>
              <a:defRPr sz="36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4pPr>
            <a:lvl5pPr>
              <a:defRPr sz="36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5pPr>
            <a:lvl6pPr>
              <a:defRPr sz="36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6pPr>
            <a:lvl7pPr>
              <a:defRPr sz="36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7pPr>
            <a:lvl8pPr>
              <a:defRPr sz="36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8pPr>
            <a:lvl9pPr>
              <a:defRPr sz="36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35594E"/>
                </a:solidFill>
                <a:latin typeface="Arial"/>
                <a:ea typeface="Arial"/>
                <a:cs typeface="Arial"/>
              </a:rPr>
              <a:t>Voice control for</a:t>
            </a:r>
          </a:p>
          <a:p xmlns:a="http://schemas.openxmlformats.org/drawingml/2006/main">
            <a:pPr>
              <a:defRPr sz="36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35594E"/>
                </a:solidFill>
                <a:latin typeface="Arial"/>
                <a:ea typeface="Arial"/>
                <a:cs typeface="Arial"/>
              </a:rPr>
              <a:t>scientific software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C54751-E489-4D1C-BF50-B634B590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0">
                <a:solidFill>
                  <a:srgbClr val="184F40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184F40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184F40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184F40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184F40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184F40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184F40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184F40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184F40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184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84F40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4F40"/>
                </a:solidFill>
                <a:latin typeface="Arial"/>
                <a:ea typeface="Arial"/>
                <a:cs typeface="Arial"/>
              </a:rPr>
              <a:t>Fiji (ImageJ) and QuPath</a:t>
            </a:r>
          </a:p>
        </p:txBody>
      </p:sp>
    </p:spTree>
    <p:extLst>
      <p:ext uri="{BB962C8B-B14F-4D97-AF65-F5344CB8AC3E}">
        <p14:creationId xmlns:p14="http://schemas.microsoft.com/office/powerpoint/2010/main" val="20219032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E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F1780A-5809-4CB6-9F93-C33CBFBB251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b307a385394989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6A444-6E48-497F-BB8C-82469D914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10477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51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defRPr sz="51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defRPr sz="51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defRPr sz="51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defRPr sz="51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defRPr sz="51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defRPr sz="51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defRPr sz="51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defRPr sz="51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defRPr sz="51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51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5100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The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86411D-2A09-4834-A6FC-F94DD3AA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71775"/>
            <a:ext cx="1047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5594E"/>
                </a:solidFill>
                <a:latin typeface="Arial"/>
                <a:ea typeface="Arial"/>
                <a:cs typeface="Arial"/>
              </a:rPr>
              <a:t>Researchers analyse microscope images</a:t>
            </a:r>
          </a:p>
          <a:p xmlns:a="http://schemas.openxmlformats.org/drawingml/2006/main">
            <a:pPr>
              <a:defRPr sz="285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35594E"/>
                </a:solidFill>
                <a:latin typeface="Arial"/>
                <a:ea typeface="Arial"/>
                <a:cs typeface="Arial"/>
              </a:rPr>
              <a:t>to study cells and tissue.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E610BC-A0B5-4BD4-A6E1-376780D40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5727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850" b="0">
                <a:solidFill>
                  <a:srgbClr val="164C3C"/>
                </a:solidFill>
                <a:latin typeface="Arial"/>
                <a:ea typeface="Arial"/>
                <a:cs typeface="Arial"/>
              </a:defRPr>
            </a:defPPr>
            <a:lvl1pPr>
              <a:defRPr sz="2850" b="0">
                <a:solidFill>
                  <a:srgbClr val="164C3C"/>
                </a:solidFill>
                <a:latin typeface="Arial"/>
                <a:ea typeface="Arial"/>
                <a:cs typeface="Arial"/>
              </a:defRPr>
            </a:lvl1pPr>
            <a:lvl2pPr>
              <a:defRPr sz="2850" b="0">
                <a:solidFill>
                  <a:srgbClr val="164C3C"/>
                </a:solidFill>
                <a:latin typeface="Arial"/>
                <a:ea typeface="Arial"/>
                <a:cs typeface="Arial"/>
              </a:defRPr>
            </a:lvl2pPr>
            <a:lvl3pPr>
              <a:defRPr sz="2850" b="0">
                <a:solidFill>
                  <a:srgbClr val="164C3C"/>
                </a:solidFill>
                <a:latin typeface="Arial"/>
                <a:ea typeface="Arial"/>
                <a:cs typeface="Arial"/>
              </a:defRPr>
            </a:lvl3pPr>
            <a:lvl4pPr>
              <a:defRPr sz="2850" b="0">
                <a:solidFill>
                  <a:srgbClr val="164C3C"/>
                </a:solidFill>
                <a:latin typeface="Arial"/>
                <a:ea typeface="Arial"/>
                <a:cs typeface="Arial"/>
              </a:defRPr>
            </a:lvl4pPr>
            <a:lvl5pPr>
              <a:defRPr sz="2850" b="0">
                <a:solidFill>
                  <a:srgbClr val="164C3C"/>
                </a:solidFill>
                <a:latin typeface="Arial"/>
                <a:ea typeface="Arial"/>
                <a:cs typeface="Arial"/>
              </a:defRPr>
            </a:lvl5pPr>
            <a:lvl6pPr>
              <a:defRPr sz="2850" b="0">
                <a:solidFill>
                  <a:srgbClr val="164C3C"/>
                </a:solidFill>
                <a:latin typeface="Arial"/>
                <a:ea typeface="Arial"/>
                <a:cs typeface="Arial"/>
              </a:defRPr>
            </a:lvl6pPr>
            <a:lvl7pPr>
              <a:defRPr sz="2850" b="0">
                <a:solidFill>
                  <a:srgbClr val="164C3C"/>
                </a:solidFill>
                <a:latin typeface="Arial"/>
                <a:ea typeface="Arial"/>
                <a:cs typeface="Arial"/>
              </a:defRPr>
            </a:lvl7pPr>
            <a:lvl8pPr>
              <a:defRPr sz="2850" b="0">
                <a:solidFill>
                  <a:srgbClr val="164C3C"/>
                </a:solidFill>
                <a:latin typeface="Arial"/>
                <a:ea typeface="Arial"/>
                <a:cs typeface="Arial"/>
              </a:defRPr>
            </a:lvl8pPr>
            <a:lvl9pPr>
              <a:defRPr sz="2850" b="0">
                <a:solidFill>
                  <a:srgbClr val="164C3C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850" b="0">
                <a:solidFill>
                  <a:srgbClr val="164C3C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64C3C"/>
                </a:solidFill>
                <a:latin typeface="Arial"/>
                <a:ea typeface="Arial"/>
                <a:cs typeface="Arial"/>
              </a:rPr>
              <a:t>Simple tasks can mean navigating menus,</a:t>
            </a:r>
          </a:p>
          <a:p xmlns:a="http://schemas.openxmlformats.org/drawingml/2006/main">
            <a:pPr>
              <a:defRPr sz="2850" b="0">
                <a:solidFill>
                  <a:srgbClr val="164C3C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164C3C"/>
                </a:solidFill>
                <a:latin typeface="Arial"/>
                <a:ea typeface="Arial"/>
                <a:cs typeface="Arial"/>
              </a:rPr>
              <a:t>adjusting settings or writing scripts.</a:t>
            </a:r>
          </a:p>
        </p:txBody>
      </p:sp>
    </p:spTree>
    <p:extLst>
      <p:ext uri="{BB962C8B-B14F-4D97-AF65-F5344CB8AC3E}">
        <p14:creationId xmlns:p14="http://schemas.microsoft.com/office/powerpoint/2010/main" val="18177420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EFD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0B8E5C-9826-468C-A210-EC48CF8E134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ec46bdc314213"/>
          <a:srcRect xmlns:a="http://schemas.openxmlformats.org/drawingml/2006/main" l="27" t="0" r="2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F73204-E336-408E-B90E-6327293A4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340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100" b="1">
                <a:solidFill>
                  <a:srgbClr val="184F40"/>
                </a:solidFill>
                <a:latin typeface="Arial"/>
                <a:ea typeface="Arial"/>
                <a:cs typeface="Arial"/>
              </a:defRPr>
            </a:defPPr>
            <a:lvl1pPr>
              <a:defRPr sz="2100" b="1">
                <a:solidFill>
                  <a:srgbClr val="184F40"/>
                </a:solidFill>
                <a:latin typeface="Arial"/>
                <a:ea typeface="Arial"/>
                <a:cs typeface="Arial"/>
              </a:defRPr>
            </a:lvl1pPr>
            <a:lvl2pPr>
              <a:defRPr sz="2100" b="1">
                <a:solidFill>
                  <a:srgbClr val="184F40"/>
                </a:solidFill>
                <a:latin typeface="Arial"/>
                <a:ea typeface="Arial"/>
                <a:cs typeface="Arial"/>
              </a:defRPr>
            </a:lvl2pPr>
            <a:lvl3pPr>
              <a:defRPr sz="2100" b="1">
                <a:solidFill>
                  <a:srgbClr val="184F40"/>
                </a:solidFill>
                <a:latin typeface="Arial"/>
                <a:ea typeface="Arial"/>
                <a:cs typeface="Arial"/>
              </a:defRPr>
            </a:lvl3pPr>
            <a:lvl4pPr>
              <a:defRPr sz="2100" b="1">
                <a:solidFill>
                  <a:srgbClr val="184F40"/>
                </a:solidFill>
                <a:latin typeface="Arial"/>
                <a:ea typeface="Arial"/>
                <a:cs typeface="Arial"/>
              </a:defRPr>
            </a:lvl4pPr>
            <a:lvl5pPr>
              <a:defRPr sz="2100" b="1">
                <a:solidFill>
                  <a:srgbClr val="184F40"/>
                </a:solidFill>
                <a:latin typeface="Arial"/>
                <a:ea typeface="Arial"/>
                <a:cs typeface="Arial"/>
              </a:defRPr>
            </a:lvl5pPr>
            <a:lvl6pPr>
              <a:defRPr sz="2100" b="1">
                <a:solidFill>
                  <a:srgbClr val="184F40"/>
                </a:solidFill>
                <a:latin typeface="Arial"/>
                <a:ea typeface="Arial"/>
                <a:cs typeface="Arial"/>
              </a:defRPr>
            </a:lvl6pPr>
            <a:lvl7pPr>
              <a:defRPr sz="2100" b="1">
                <a:solidFill>
                  <a:srgbClr val="184F40"/>
                </a:solidFill>
                <a:latin typeface="Arial"/>
                <a:ea typeface="Arial"/>
                <a:cs typeface="Arial"/>
              </a:defRPr>
            </a:lvl7pPr>
            <a:lvl8pPr>
              <a:defRPr sz="2100" b="1">
                <a:solidFill>
                  <a:srgbClr val="184F40"/>
                </a:solidFill>
                <a:latin typeface="Arial"/>
                <a:ea typeface="Arial"/>
                <a:cs typeface="Arial"/>
              </a:defRPr>
            </a:lvl8pPr>
            <a:lvl9pPr>
              <a:defRPr sz="2100" b="1">
                <a:solidFill>
                  <a:srgbClr val="184F4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84F4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4F40"/>
                </a:solidFill>
                <a:latin typeface="Arial"/>
                <a:ea typeface="Arial"/>
                <a:cs typeface="Arial"/>
              </a:rPr>
              <a:t>Penny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0AD768-BEF4-4CE5-ABE4-A4497DE75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76475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75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defPPr>
            <a:lvl1pPr>
              <a:defRPr sz="75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1pPr>
            <a:lvl2pPr>
              <a:defRPr sz="75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2pPr>
            <a:lvl3pPr>
              <a:defRPr sz="75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3pPr>
            <a:lvl4pPr>
              <a:defRPr sz="75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4pPr>
            <a:lvl5pPr>
              <a:defRPr sz="75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5pPr>
            <a:lvl6pPr>
              <a:defRPr sz="75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6pPr>
            <a:lvl7pPr>
              <a:defRPr sz="75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7pPr>
            <a:lvl8pPr>
              <a:defRPr sz="75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8pPr>
            <a:lvl9pPr>
              <a:defRPr sz="75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500" b="1">
                <a:solidFill>
                  <a:srgbClr val="102B25"/>
                </a:solidFill>
                <a:latin typeface="Arial"/>
                <a:ea typeface="Arial"/>
                <a:cs typeface="Arial"/>
              </a:defRPr>
            </a:pPr>
            <a:r>
              <a:rPr sz="7500" b="1">
                <a:solidFill>
                  <a:srgbClr val="102B25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EACBA7-EAB7-4865-9B11-F363D8944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102870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0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defPPr>
            <a:lvl1pPr>
              <a:defRPr sz="30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1pPr>
            <a:lvl2pPr>
              <a:defRPr sz="30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2pPr>
            <a:lvl3pPr>
              <a:defRPr sz="30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3pPr>
            <a:lvl4pPr>
              <a:defRPr sz="30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4pPr>
            <a:lvl5pPr>
              <a:defRPr sz="30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5pPr>
            <a:lvl6pPr>
              <a:defRPr sz="30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6pPr>
            <a:lvl7pPr>
              <a:defRPr sz="30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7pPr>
            <a:lvl8pPr>
              <a:defRPr sz="30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8pPr>
            <a:lvl9pPr>
              <a:defRPr sz="30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35594E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35594E"/>
                </a:solidFill>
                <a:latin typeface="Arial"/>
                <a:ea typeface="Arial"/>
                <a:cs typeface="Arial"/>
              </a:rPr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11172100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2026-10-17T19:51:30.5710000Z</dcterms:created>
  <dcterms:modified xsi:type="dcterms:W3CDTF">2026-10-17T19:51:30.5710000Z</dcterms:modified>
</coreProperties>
</file>